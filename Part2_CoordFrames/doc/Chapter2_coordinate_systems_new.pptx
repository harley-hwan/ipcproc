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41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5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레이다가 재는 것과 전시기가 보여줘야 하는 것 사이의 간극을 메우는 과정을 다룹니다. 개념 → 설계 → C 구현 검증 순서로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안테나가 아는 것은 전파 왕복 시간과 자기 정면 기준 두 각도뿐입니다. 배의 방향도 위도도 모릅니다.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표적은 하나뿐인데 언어가 여러 개입니다. 화자를 바꿀 때마다 통역이 필요하고, 그 통역이 좌표변환입니다.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그림에서 주황색 화살표의 위치는 완전히 같습니다. 달라진 것은 축뿐입니다.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문헌에 따라 부호가 반대인 회전행렬이 나옵니다. 그것은 좌표축을 돌리는 수동 표기이며 이 발표의 행렬을 전치한 것입니다. 참고한 우주물체 기술보고서의 궤도면→ECI 변환식은 이 두 표기를 섞어 회전 방향이 통째로 반대가 되어 있었습니다. 어느 표기인지 먼저 확인하는 습관이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atan(y/x)는 x가 음수인 반구에서 사분면을 잃습니다. 참고한 기술보고서 3편 모두 경도를 atan(y/x)로 적고 있는데, 동경 127°에서는 X가 음수라 −53°가 나옵니다. asin은 인자가 반올림으로 1을 넘으면 NaN이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되돌릴 때 Az = atan2(u, w), El = atan2(v, √(u²+w²))입니다 (코드와 동일, asin 은 쓰지 않음). 참고한 AESA 보고서에는 Az 분자에 u 대신 v가 들어간 오타가 있어 Az 25°가 10.16°로 계산됩니다. 기호 하나가 결과를 바꾸는 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회전은 곱셈 순서를 바꾸면 결과가 달라집니다. 그래서 3-2-1 순서를 문서로 고정해야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자세 갱신 주기보다 중요한 것은 레이다 측정 시각과 자세 시각의 차이입니다. roll 5°/s에서 20 ms 지연이면 0.1°, 20 km에서 약 35 m입니다. 자세는 측정 시각으로 보간해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 ③은 물리 설치뿐 아니라 INS 출력 데이터의 축 정의까지 포함합니다. 예를 들어 NovAtel SPAN INSPVA 메시지는 IMU 좌표계를 Y 전방·X 우측·Z 상으로 두어 roll을 Y축, pitch를 X축 회전으로 정의합니다. FRD로 매핑한 뒤 써야 합니다. 로컬 좌표계 원점이 배와 함께 움직이므로 추적 필터는 INS 속도로 원점 이동을 보상합니다.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발표의 로컬 좌표계는 참고 자료의 Vehicle-carried NED입니다. 지표 고정점을 원점으로 하는 Local NED와 구분합니다. 지심위도(z/R)를 그대로 NED 회전에 쓴 보고서 사례가 있는데 37°N에서 0.185° 차이가 납니다. 곡률표는 C 코드 실행값입니다(100 km에서 786.4 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ECEF/NED로 충분하다는 것은 이번 설계의 거리·시간 규모(수십 km, 수 분)에서의 이야기입니다. 장시간·원거리 추적에서는 지구 자전(적도에서 1 ms당 0.47 m)과 코리올리 항이 필터 모델에 들어갑니다.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ECEF→LLA는 4차 방정식으로 귀결되며 정확한 폐형식 해(Zhu 1994, Vermeille 2002)가 있습니다. Bowring 식은 1회로 mm 급이지만 코드는 안전하게 2회 다듬습니다. 41.5 m는 전파 굴절을 무시한 기하학적 값이며, 표준 대기의 4/3 지구 반경을 쓰면 곡률 효과는 약 0.75배(20 km에서 약 23.6 m)가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gcc 13 -Wall -Wextra로도 경고 0건, 31개 시험 통과를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T8 이 왜 따로 필요한가 — 전치 방향이 뒤바뀐 버그는 대칭적인 자세에서는 드러나지 않습니다. 단위행렬 테스트도 두 방향 모두 통과합니다.</a:t>
            </a:r>
            <a:endParaRPr lang="en-US" dirty="0"/>
          </a:p>
          <a:p>
            <a:r>
              <a:rPr lang="en-US" dirty="0"/>
              <a:t>실제 사례: 참고한 CIWS-II 기술보고서는 WGS-84 이심률을 e ≈ 0.818로 적었습니다(실제 0.0818). 그대로 쓰면 LLA→ECEF 위치가 약 2,477 km 어긋납니다. 코드가 e²를 f(2−f)로 유도하고 상수를 손으로 옮기지 않는 이유이며, T4 왕복 시험이 잡는 유형입니다.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실험 C의 값은 C 코드 실행값입니다: 5 km 2.0 m, 10 km 7.9 m, 20 km 31.5 m, 50 km 196.7 m, 100 km 786.4 m. 거리의 제곱에 비례합니다.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81328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8FA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56816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좌표계와 좌표변환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992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안테나가 잰 각도가 지도 위 위경도가 되기까지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041648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04164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21408" y="4041648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07F"/>
                </a:solidFill>
              </a:rPr>
              <a:t>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40864" y="4041648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40864" y="404164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4041648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07F"/>
                </a:solidFill>
              </a:rPr>
              <a:t>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58768" y="4041648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58768" y="404164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동체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4041648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07F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76672" y="4041648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76672" y="404164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041648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07F"/>
                </a:solidFill>
              </a:rPr>
              <a:t>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94576" y="4041648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94576" y="404164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193024" y="4041648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07F"/>
                </a:solidFill>
              </a:rPr>
              <a:t>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0" y="4041648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C2521C"/>
          </a:solidFill>
          <a:ln w="12700">
            <a:solidFill>
              <a:srgbClr val="C252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0" y="404164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870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9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레이다 시스템 소프트웨어 스터디  ·  Part 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표적인데,  말하는 사람이 다르다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55648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1E33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9568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레이다는 이렇게 말한다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35915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"20 km 앞,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오른쪽으로 30도"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5844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 자기 정면 기준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755648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C252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9568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D8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전시기는 이걸 보여줘야 한다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359152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"북위 36.2337도,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동경 127.3643도"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5844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6D8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지구 전체 기준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451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9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사이를 메우는 것이  좌표변환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26694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9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안테나는 배가 어느 방향을 향하는지도, 지금 위도가 몇 도인지도 모른다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다룰 것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→ 설계 → 검증, 세 단계로 진행합니다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20440" cy="4041648"/>
          </a:xfrm>
          <a:prstGeom prst="roundRect">
            <a:avLst>
              <a:gd name="adj" fmla="val 2078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847088"/>
            <a:ext cx="402336" cy="402336"/>
          </a:xfrm>
          <a:prstGeom prst="ellipse">
            <a:avLst/>
          </a:prstGeom>
          <a:solidFill>
            <a:srgbClr val="2B57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39572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 여섯 가지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889504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 · 동체 · INS · NED/ENU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ECEF/ECI · LLA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 원점이 어디이고 축이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어디를 향하는지, 왜 필요한지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572768"/>
            <a:ext cx="3520440" cy="4041648"/>
          </a:xfrm>
          <a:prstGeom prst="roundRect">
            <a:avLst>
              <a:gd name="adj" fmla="val 2078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847088"/>
            <a:ext cx="402336" cy="402336"/>
          </a:xfrm>
          <a:prstGeom prst="ellipse">
            <a:avLst/>
          </a:prstGeom>
          <a:solidFill>
            <a:srgbClr val="2B57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36008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39572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설계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889504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함선 고정형 안테나를 놓고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 변환 경로를 설계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단계에서 무엇이 회전과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이동을 공급하는가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19872" y="1572768"/>
            <a:ext cx="3520440" cy="4041648"/>
          </a:xfrm>
          <a:prstGeom prst="roundRect">
            <a:avLst>
              <a:gd name="adj" fmla="val 2078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847088"/>
            <a:ext cx="402336" cy="402336"/>
          </a:xfrm>
          <a:prstGeom prst="ellipse">
            <a:avLst/>
          </a:prstGeom>
          <a:solidFill>
            <a:srgbClr val="2B57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39572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로 확인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889504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설계한 변환을 구현하고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검증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 시험 · 단위 시험 31항목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실험 3가지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지식은 삼각함수와 행렬 곱셈 정도면 충분합니다. 그마저도 필요한 곳에서 다시 설명합니다.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좌표계는 왜 여러 개나 필요할까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다섯 줄은 전부 같은 표적 하나를 가리킵니다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1737360"/>
          <a:ext cx="10058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680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말하는 사람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표적이 어디 있냐고 물으면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안테나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정면에서 오른쪽 30°, 20 km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함선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선수 기준 오른쪽 뒤 120°, 20 km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바다 위 이 지점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남쪽으로 19 340 m, 동쪽으로 5 155 m, 위로 10 m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지구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지구 중심에서 (−3 125 893, +4 093 775, +3 749 164) m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북위 36.2337°, 동경 127.3643°, 고도 41.5 m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51560" y="4882896"/>
            <a:ext cx="10058400" cy="841248"/>
          </a:xfrm>
          <a:prstGeom prst="roundRect">
            <a:avLst>
              <a:gd name="adj" fmla="val 8696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4882896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문장 모두 맞습니다.  다른 것은 기준점(원점)과 기준 방향(축)뿐입니다.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좌표계를 읽는 세 가지 질문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좌표계를 만나면 이 셋만 확인하면 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64240" cy="1225296"/>
          </a:xfrm>
          <a:prstGeom prst="roundRect">
            <a:avLst>
              <a:gd name="adj" fmla="val 5970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47088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105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원점이 어디인가?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792224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"0, 0, 0" 이 물리적으로 어느 지점인가.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평행이동 계산의 기준이 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044952"/>
            <a:ext cx="11064240" cy="1225296"/>
          </a:xfrm>
          <a:prstGeom prst="roundRect">
            <a:avLst>
              <a:gd name="adj" fmla="val 5970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3264408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2278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축이 어디를 향하는가?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3209544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z 가 위인지 아래인지.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앞 · y 오른쪽으로 잡으면 z 는 저절로 아래가 된다.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항법 분야의 이 관습, 처음엔 거의 반드시 헷갈린다.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462272"/>
            <a:ext cx="11064240" cy="1225296"/>
          </a:xfrm>
          <a:prstGeom prst="roundRect">
            <a:avLst>
              <a:gd name="adj" fmla="val 5970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4681728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451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무엇에 붙어 있는가?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4626864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배에 붙어 있으면 배가 흔들릴 때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좌표계도 같이 흔들린다.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표적이 가만히 있어도 좌표값이 변한다.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87044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58704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발표의 약속 :  안테나·동체·NED 좌표계에서 z 는 아래.  "10 m 위" 는  z = −10 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변환은 두 동작뿐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수학처럼 들리지만 실제로 하는 일은 두 가지입니다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83664"/>
            <a:ext cx="402336" cy="402336"/>
          </a:xfrm>
          <a:prstGeom prst="ellipse">
            <a:avLst/>
          </a:prstGeom>
          <a:solidFill>
            <a:srgbClr val="2B57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88366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 (rotation)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323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방향이 다를 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1635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정면"과 "배의 정면"이 다르면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회전이 필요하다.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안테나가 우현 90도를 보고 있으니,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안테나의 "앞"은 배의 "오른쪽"이다.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36208" y="1627632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1883664"/>
            <a:ext cx="402336" cy="402336"/>
          </a:xfrm>
          <a:prstGeom prst="ellipse">
            <a:avLst/>
          </a:prstGeom>
          <a:solidFill>
            <a:srgbClr val="C252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14032" y="188366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평행이동 (translation)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323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점이 다를 때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816352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안테나가 무게중심에서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m 뒤 · 10 m 위에 있으면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그만큼 옮겨줘야 한다.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오프셋을 레버암이라 부른다.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79145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단계는 이 둘 중 하나거나, 둘 다입니다.  그게 전부입니다.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66928" y="5413248"/>
            <a:ext cx="11064240" cy="1078992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522976"/>
            <a:ext cx="107350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p_함선  =  Rz(90°) × p_안테나  +  (−30, 0, −10) m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└─ 회전 ─┘        └─ 평행이동 ─┘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Rz(90°) 는 z 축(위아래 축) 둘레로 90° 돌리는 회전행렬입니다. 생김새는 다음 두 장에서 나옵니다.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 — 표적은 가만히 있다, 움직이는 건 자(ruler)다</a:t>
            </a:r>
            <a:endParaRPr lang="en-US" sz="3000" dirty="0"/>
          </a:p>
        </p:txBody>
      </p:sp>
      <p:pic>
        <p:nvPicPr>
          <p:cNvPr id="3" name="Image 0" descr="/home/claude/gitpkg/Part2_CoordFrames/doc/figures/fig05_same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225" y="1389888"/>
            <a:ext cx="7525646" cy="3566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" y="5138928"/>
            <a:ext cx="11064240" cy="1152144"/>
          </a:xfrm>
          <a:prstGeom prst="roundRect">
            <a:avLst>
              <a:gd name="adj" fmla="val 6349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5266944"/>
            <a:ext cx="10735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안테나의 "정면"이 함선의 "우현"이라서,  같은 표적이  (+17 320, +10 000)  →  (−10 000, +17 320)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87568"/>
            <a:ext cx="10735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숫자가 자리를 바꾸고 부호 하나가 뒤집혔다.  이것이 90도 회전의 정체입니다.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회전행렬은 어디서 나오는가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외울 것이 아니라 삼각함수 덧셈정리 한 줄에서 바로 나옵니다</a:t>
            </a:r>
            <a:endParaRPr lang="en-US" sz="1400" dirty="0"/>
          </a:p>
        </p:txBody>
      </p:sp>
      <p:pic>
        <p:nvPicPr>
          <p:cNvPr id="4" name="Image 0" descr="/home/claude/gitpkg/Part2_CoordFrames/doc/figures/fig04_rot_der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66510"/>
            <a:ext cx="6858000" cy="35421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99248" y="1481328"/>
            <a:ext cx="3931920" cy="3858768"/>
          </a:xfrm>
          <a:prstGeom prst="roundRect">
            <a:avLst>
              <a:gd name="adj" fmla="val 1970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73568" y="16824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Rz(θ) 는 이렇게 생겼다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973568" y="2139696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73568" y="2139696"/>
            <a:ext cx="3383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cos θ   − sin θ    0 ]</a:t>
            </a:r>
            <a:endParaRPr lang="en-US" sz="12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sin θ     cos θ    0 ]</a:t>
            </a:r>
            <a:endParaRPr lang="en-US" sz="12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 0          0      1 ]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973568" y="34930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회전행렬이 늘 갖는 세 성질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73568" y="3877056"/>
            <a:ext cx="3383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행과 열의 길이가 1 이고 서로 직교(90°)한다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 = +1 — 크기를 안 바꾸고 거울상도 아니다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역행렬 = 전치(행·열 맞바꾸기, R⁻¹ = Rᵀ) — 되돌리기가 공짜다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543153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4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5431536"/>
            <a:ext cx="11064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행렬을 쓰는 이유 :  ① 세 축을 한 번에 처리   ② 여러 회전을 곱해서 하나로 합침   ③ 되돌아갈 땐 전치만 하면 됨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문헌에 따라 부호가 반대인 행렬이 나온다 — 좌표축을 돌리는 표기이며 이 행렬의 전치다. 어느 쪽인지 먼저 확인할 것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8FA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 여섯 가지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758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 원점이 어디이고, 축이 어디를 향하고, 무엇에 붙어 있는가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663440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6634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21408" y="4663440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07F"/>
                </a:solidFill>
              </a:rPr>
              <a:t>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40864" y="4663440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40864" y="46634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4663440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07F"/>
                </a:solidFill>
              </a:rPr>
              <a:t>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58768" y="4663440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58768" y="46634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동체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4663440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07F"/>
                </a:solidFill>
              </a:rPr>
              <a:t>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76672" y="4663440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76672" y="46634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663440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07F"/>
                </a:solidFill>
              </a:rPr>
              <a:t>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94576" y="4663440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94576" y="46634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193024" y="4663440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07F"/>
                </a:solidFill>
              </a:rPr>
              <a:t>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0" y="4663440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0" y="46634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 좌표계 ①  극좌표 (Polar)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레이다가 물리적으로 잴 수 있는 것 — 거리 하나와 각도 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226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1226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82696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65576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C2521C"/>
          </a:solidFill>
          <a:ln w="12700">
            <a:solidFill>
              <a:srgbClr val="C252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18888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18888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42632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25512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25512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95944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7882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7882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</a:t>
            </a:r>
            <a:endParaRPr lang="en-US" sz="1100" dirty="0"/>
          </a:p>
        </p:txBody>
      </p:sp>
      <p:pic>
        <p:nvPicPr>
          <p:cNvPr id="21" name="Image 0" descr="/home/claude/gitpkg/Part2_CoordFrames/doc/figures/fig02_p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59916"/>
            <a:ext cx="7680960" cy="2796535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485632" y="1810512"/>
            <a:ext cx="3145536" cy="3895344"/>
          </a:xfrm>
          <a:prstGeom prst="roundRect">
            <a:avLst>
              <a:gd name="adj" fmla="val 2326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41664" y="20482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성분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741664" y="246888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  시선거리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전파 왕복시간 × c ÷ 2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  방위각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보어사이트에서 오른쪽으로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  고각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 면 기준 수평에서 위로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8741664" y="4974336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741664" y="49743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52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km / 30° / 0°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59984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보어사이트 = 안테나가 똑바로 바라보는 방향. 손전등으로 치면 빛이 가장 센 한가운데 방향입니다.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 좌표계 ②  직교좌표 (Cartesian)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회전행렬을 곱하려면 x·y·z 세 성분으로 풀어써야 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226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1226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82696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65576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C2521C"/>
          </a:solidFill>
          <a:ln w="12700">
            <a:solidFill>
              <a:srgbClr val="C252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18888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18888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42632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25512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25512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95944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7882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7882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1883664"/>
            <a:ext cx="6858000" cy="1481328"/>
          </a:xfrm>
          <a:prstGeom prst="roundRect">
            <a:avLst>
              <a:gd name="adj" fmla="val 4938"/>
            </a:avLst>
          </a:prstGeom>
          <a:solidFill>
            <a:srgbClr val="F4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1993392"/>
            <a:ext cx="65288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R × cos(El) × cos(Az)     ← 보어사이트 방향 성분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R × cos(El) × sin(Az)     ← 오른쪽 방향 성분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− R × sin(El)             ← 아래 방향 성분 (위로 향하면 음수)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60273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값을 넣으면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6928" y="3986784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096512"/>
            <a:ext cx="65288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20000 × 1 × cos30°  =  +17 320.5081 m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20000 × 1 × sin30°  =  +10 000.0000 m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−20000 × sin0°      =         0.0000 m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99248" y="1883664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73568" y="2084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직교좌표로 바꾸나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973568" y="2542032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극좌표는 사람이 읽기 좋지만,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극좌표끼리는 회전을 합성할 수 없다.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회전행렬은 벡터에만 곱할 수 있으므로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각도로 표현된 방향을 세 성분으로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풀어쓰는 준비 단계다.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973568" y="422452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역변환에서는 asin·atan 대신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atan2 를 쓴다.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asin 은 반올림에 NaN, ±90° 근처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 붕괴, atan(y/x) 는 사분면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상실 — 동경 127° 가 −53° 로 나온다.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 :  cos(El) 로 표적을 먼저 수평면에 눕히고, 그 길이를 Az 로 앞(x)·오른쪽(y)에 나눠 담습니다.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위아래(z)는 sin(El) 몫 — z 는 아래가 양수라, 표적이 위에 있으면 z 가 음수가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 좌표계 ③  UV (방향코사인)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표적 방향을 안테나 면에 드리운 그림자로 표현합니다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226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1226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82696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65576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C2521C"/>
          </a:solidFill>
          <a:ln w="12700">
            <a:solidFill>
              <a:srgbClr val="C252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18888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18888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42632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25512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25512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95944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7882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7882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</a:t>
            </a:r>
            <a:endParaRPr lang="en-US" sz="1100" dirty="0"/>
          </a:p>
        </p:txBody>
      </p:sp>
      <p:pic>
        <p:nvPicPr>
          <p:cNvPr id="21" name="Image 0" descr="/home/claude/gitpkg/Part2_CoordFrames/doc/figures/fig03_u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07" y="1792224"/>
            <a:ext cx="6826003" cy="39319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973568" y="1810512"/>
            <a:ext cx="3657600" cy="3895344"/>
          </a:xfrm>
          <a:prstGeom prst="roundRect">
            <a:avLst>
              <a:gd name="adj" fmla="val 2000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0" y="20665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UV 를 쓰나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248716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 레이다는 대부분 위상배열이다.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수백~수천 개 소자에 위상차를 줘서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 방향을 전자적으로 바꾼다.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229600" y="37490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52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ψ = −k(m·d·u₀ + n·d·v₀)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452628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소자 번호에 u, v 를 곱하기만 하면 된다.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각도(Az, El)로는 이렇게 단순해지지 않는다.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때는 asin 대신 atan2 를 쓴다.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 = atan2(u, w)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 = atan2(v, √(u²+w²))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599846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 굵기가 조향각과 무관하게 일정하고, 격자로브 위치도 u₀ ± λ/d 로 단순하게 나옵니다.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 는 빔 조향용 표현이라 이번 변환 체인(극좌표 → 직교 → 동체 → …)에는 들어가지 않습니다.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동체(Body) 좌표계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배에 실린 모든 장비의 공통 기준 — 안테나·INS·무장이 여기로 모입니다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226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1226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82696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65576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18888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C2521C"/>
          </a:solidFill>
          <a:ln w="12700">
            <a:solidFill>
              <a:srgbClr val="C252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18888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42632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25512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25512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95944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7882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7882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</a:t>
            </a:r>
            <a:endParaRPr lang="en-US" sz="1100" dirty="0"/>
          </a:p>
        </p:txBody>
      </p:sp>
      <p:pic>
        <p:nvPicPr>
          <p:cNvPr id="21" name="Image 0" descr="/home/claude/gitpkg/Part2_CoordFrames/doc/figures/fig06_bo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0214" y="1755648"/>
            <a:ext cx="8257669" cy="352958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66928" y="5340096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5449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원점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" y="574243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배의 무게중심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364992" y="5340096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547872" y="5449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547872" y="574243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선수(앞) · y 우현(오른쪽) · z 아래  →  FRD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63056" y="5340096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45936" y="5449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자세각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345936" y="574243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roll 좌우 기울기 · pitch 앞뒤 기울기 · yaw 선수 방위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961120" y="5340096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0" y="5449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합치는 순서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144000" y="574243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3-2-1 (yaw → pitch → roll)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기술보고서 3편과 같은 규약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 좌표계  ①  INS 는 무엇을 재는가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관성항법장치 — 회전과 이동에 필요한 값을 공급합니다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226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1226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82696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65576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18888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C2521C"/>
          </a:solidFill>
          <a:ln w="12700">
            <a:solidFill>
              <a:srgbClr val="C252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18888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42632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25512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25512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95944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7882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7882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184708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20116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자이로  × 3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23957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각속도 — 초당 몇 도씩 돌고 있는가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시간에 대해 적분하면  자세 (roll·pitch·yaw)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44768" y="184708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9088" y="20116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가속도계  × 3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419088" y="23957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비력 — 센서가 느끼는 가속도 (정지 중에도 1 g 잡힘)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중력 모델을 빼고 두 번 적분하면  속도와 위치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66928" y="3401568"/>
            <a:ext cx="11064240" cy="987552"/>
          </a:xfrm>
          <a:prstGeom prst="roundRect">
            <a:avLst>
              <a:gd name="adj" fmla="val 7407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352958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:  INS 는 바깥 세상을 전혀 보지 않는다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3913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GPS 처럼 위성 신호를 받지도, 지형을 관측하지도 않는다. 출발점만 알려주면 자기가 느낀 각속도와 가속도를 계속 더해 나간다.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841248" y="45902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" y="49377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신호가 필요 없다 — 전파방해에 강하다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 속도가 매우 빠르다 (보통 100 Hz 이상)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419088" y="45902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19088" y="49377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오차가 시간이 갈수록 쌓인다 (적분하므로)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GPS 같은 외부 기준과 결합해 잡아준다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출항 전 초기 정렬 — 중력으로 수평을 잡고(leveling), 지구 자전을 감지해 북쪽을 찾는다(gyrocompassing)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 좌표계  ②  스트랩다운과 짐벌형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"플랫폼 좌표계"라는 말의 의미가 여기서 갈립니다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226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1226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82696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65576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18888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C2521C"/>
          </a:solidFill>
          <a:ln w="12700">
            <a:solidFill>
              <a:srgbClr val="C252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18888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42632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25512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25512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95944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7882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7882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</a:t>
            </a:r>
            <a:endParaRPr lang="en-US" sz="1100" dirty="0"/>
          </a:p>
        </p:txBody>
      </p:sp>
      <p:pic>
        <p:nvPicPr>
          <p:cNvPr id="21" name="Image 0" descr="/home/claude/gitpkg/Part2_CoordFrames/doc/figures/fig13_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582" y="1828800"/>
            <a:ext cx="6178933" cy="283464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791456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17720"/>
                <a:gridCol w="46177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짐벌형 (gimbaled)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스트랩다운 (strapdown)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센서가 짐벌 위에 얹혀 있고 모터가 늘 수평 유지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센서가 동체에 직접 고정, 배와 함께 기운다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수평 유지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기계가 물리적으로 한다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계산이 한다 (DCM / 쿼터니언)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"플랫폼 좌표계"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실제로 존재하는 물리적 프레임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소프트웨어 안의 상태값일 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정밀하지만 크고 무겁고 비싸다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현대 함정 INS 는 사실상 전부 이쪽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 좌표계  ③  이번 설계에서는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하나가 복잡한 이야기를 통째로 없애줍니다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226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1226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82696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65576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18888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C2521C"/>
          </a:solidFill>
          <a:ln w="12700">
            <a:solidFill>
              <a:srgbClr val="C252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18888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42632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25512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25512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95944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7882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7882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463040" y="1792224"/>
            <a:ext cx="9235440" cy="914400"/>
          </a:xfrm>
          <a:prstGeom prst="roundRect">
            <a:avLst>
              <a:gd name="adj" fmla="val 8000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63040" y="1792224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"INS 는 플랫폼 무게중심과 축이 일치한 상태로 설치되어 있음"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279806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D6EC"/>
                </a:solidFill>
              </a:rPr>
              <a:t>▼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3163824"/>
            <a:ext cx="10332720" cy="786384"/>
          </a:xfrm>
          <a:prstGeom prst="roundRect">
            <a:avLst>
              <a:gd name="adj" fmla="val 9302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88720" y="3163824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5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 좌표계  =  동체(Body) 좌표계        (설치 오차 0, 레버암 0)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1696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INS 를 독립된 변환 단계로 두지 않습니다.  좌표계가 아니라 값의 공급원으로만 쓰입니다.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4736592"/>
          <a:ext cx="77724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846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 가 주는 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쓰이는가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roll, pitch, yaw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3단계 회전행렬 C_ned←body — 제조사 축 정의를 FRD 로 매핑, 측정 시각으로 보간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위도, 경도, 고도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4단계 로컬→ECEF 회전과 평행이동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(속도)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VC-NED 원점 이동 보상 · 추적 필터 · 도플러 보정 — 이 발표 범위 밖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NED / ENU  국지수평 좌표계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배가 아무리 흔들려도 북쪽은 계속 북쪽입니다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226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1226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82696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65576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18888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18888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C2521C"/>
          </a:solidFill>
          <a:ln w="12700">
            <a:solidFill>
              <a:srgbClr val="C252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42632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25512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25512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95944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7882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7882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</a:t>
            </a:r>
            <a:endParaRPr lang="en-US" sz="1100" dirty="0"/>
          </a:p>
        </p:txBody>
      </p:sp>
      <p:pic>
        <p:nvPicPr>
          <p:cNvPr id="21" name="Image 0" descr="/home/claude/gitpkg/Part2_CoordFrames/doc/figures/fig07_ned_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251" y="1810512"/>
            <a:ext cx="6353675" cy="265176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882128" y="1847088"/>
            <a:ext cx="3749040" cy="2578608"/>
          </a:xfrm>
          <a:prstGeom prst="roundRect">
            <a:avLst>
              <a:gd name="adj" fmla="val 2837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138160" y="20299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좌표계의 존재 이유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138160" y="2432304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배와 함께 이동하지만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회전하지는 않는다.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표적이 실제로 움직인 것과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배가 흔들린 것을 구분할 수 있다.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 필터를 여기서 돌리는 이유다.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66928" y="4626864"/>
            <a:ext cx="5486400" cy="1298448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6384" y="47548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"아래"는 지구 중심 방향이 아니다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5084064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타원체 법선의 반대 방향이다. 지구 중심 방향과는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위도 45° 부근에서 최대 약 0.19° 어긋나는데,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둘을 혼동하면 지표 위치가 약 21 km 틀어진다.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144768" y="4626864"/>
            <a:ext cx="5486400" cy="1298448"/>
          </a:xfrm>
          <a:prstGeom prst="roundRect">
            <a:avLst>
              <a:gd name="adj" fmla="val 6061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64224" y="47548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평면의 한계 — 지구는 둥글다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364224" y="508406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원점에서 멀어질수록 실제 지표면이 평면 아래로 내려간다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km 2.0 m  ·  20 km 31.5 m  ·  50 km 196.7 m  ·  100 km 786.4 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 / ECI  지구 중심 좌표계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원점은 같고, 축이 도느냐 마느냐만 다릅니다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226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1226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82696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65576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18888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18888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42632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25512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C2521C"/>
          </a:solidFill>
          <a:ln w="12700">
            <a:solidFill>
              <a:srgbClr val="C252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25512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95944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7882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7882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</a:t>
            </a:r>
            <a:endParaRPr lang="en-US" sz="1100" dirty="0"/>
          </a:p>
        </p:txBody>
      </p:sp>
      <p:pic>
        <p:nvPicPr>
          <p:cNvPr id="21" name="Image 0" descr="/home/claude/gitpkg/Part2_CoordFrames/doc/figures/fig09_ecef_e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6373" y="1737360"/>
            <a:ext cx="7165351" cy="321868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66928" y="5047488"/>
            <a:ext cx="5486400" cy="1335024"/>
          </a:xfrm>
          <a:prstGeom prst="roundRect">
            <a:avLst>
              <a:gd name="adj" fmla="val 5479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51572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 는 왜 필요한가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486400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좌표계에서 위경도로 곧장 갈 수 없다.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원점(배 위치)이 지구 어디인지는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지구 기준 좌표로만 표현되기 때문이다.  →  다리 역할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144768" y="5047488"/>
            <a:ext cx="5486400" cy="1335024"/>
          </a:xfrm>
          <a:prstGeom prst="roundRect">
            <a:avLst>
              <a:gd name="adj" fmla="val 5479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0" y="51572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ECI 는 이번 설계에 필요 없다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5486400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뉴턴 법칙은 회전하지 않는 좌표계에서만 그대로 성립.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중력만 받고 날아가는 물체(위성·탄도탄)는 ECI 에서 계산.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설계의 거리·시간 규모에서는 항공기·수상함도 ECEF/NED 로 충분하다.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  측지 좌표계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아는 그 지도 좌표 — 다만 지구는 구가 아닙니다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1226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1226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82696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65576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18888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18888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42632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25512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EEF1F7"/>
          </a:solidFill>
          <a:ln w="12700">
            <a:solidFill>
              <a:srgbClr val="C9D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25512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95944" y="1316736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C"/>
                </a:solidFill>
              </a:rPr>
              <a:t>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78824" y="1316736"/>
            <a:ext cx="1170432" cy="329184"/>
          </a:xfrm>
          <a:prstGeom prst="roundRect">
            <a:avLst>
              <a:gd name="adj" fmla="val 47222"/>
            </a:avLst>
          </a:prstGeom>
          <a:solidFill>
            <a:srgbClr val="C2521C"/>
          </a:solidFill>
          <a:ln w="12700">
            <a:solidFill>
              <a:srgbClr val="C252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78824" y="131673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</a:t>
            </a:r>
            <a:endParaRPr lang="en-US" sz="1100" dirty="0"/>
          </a:p>
        </p:txBody>
      </p:sp>
      <p:pic>
        <p:nvPicPr>
          <p:cNvPr id="21" name="Image 0" descr="/home/claude/gitpkg/Part2_CoordFrames/doc/figures/fig08_ellipso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706" y="1755648"/>
            <a:ext cx="7096204" cy="367588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973568" y="1792224"/>
            <a:ext cx="3657600" cy="3657600"/>
          </a:xfrm>
          <a:prstGeom prst="roundRect">
            <a:avLst>
              <a:gd name="adj" fmla="val 2000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0" y="20299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WGS-84 타원체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243230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(장반경)  6 378 137.0 m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(단반경)  6 356 752.3 m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1/f  298.257223563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34747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적도 반지름과 극 반지름의 차이가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21 km. 지구 크기에 비하면 0.3 %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정도지만, 구로 계산하면 위치가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km 넘게 어긋난다 (위도 45° 부근).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47731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GPS 와 해도가 쓰는 것도 이것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6928" y="554126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66928" y="5632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고도의 함정 :  LLA 의 고도는 타원체고 (HAE) — 해도·고도계의 "해발" 과 다릅니다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599846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해발고도 = 타원체고 − 지오이드고.   한국 근해 지오이드고는 약 +20 ~ +25 m.   시스템 내부는 하나로 통일할 것.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좌표계 한눈에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2926080"/>
                <a:gridCol w="1691640"/>
                <a:gridCol w="3154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좌표계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붙은 곳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용도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안테나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안테나 면 중심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보어사이트 · y 오른쪽 · z 아래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표적 측정 (R, Az, El) / 빔 조향 (u, v)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 무게중심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선수 · y 우현 · z 아래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탑재 장비의 공통 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 설치 위치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자이로·가속도계 3축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 · 자세 · 속도 공급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NED / ENU (VC-NED)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배의 현재 위치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N,E,D  /  E,N,U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바다 위 지점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(회전 안 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처리 (추적 · 필터링)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ECEF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지구 중심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 북극 · X 적도∩그리니치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지구 (자전함)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지구 기준 공통 좌표, 위경도로 가는 다리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ECI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지구 중심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별자리에 고정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(회전 안 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위성 · 탄도 표적의 운동 계산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기준면: 적도·그리니치·타원체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위도 · 경도 · 고도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 표시, 외부 전달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66928" y="550468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5504688"/>
            <a:ext cx="11064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순서를 건너뛸 수 없습니다.  안테나는 배에 붙어 있고, 배의 방향은 북쪽 기준으로 알려지고, 로컬 원점의 위치는 지구 좌표로만 표현되기 때문입니다.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체인 — 무엇이 회전과 이동을 공급하는가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회전은 설치 방위와 INS(자세·위경도)가, 이동은 레버암과 INS(배 위치)가 공급합니다. 이 구분이 그대로 오차의 출처 목록이 됩니다.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4315968" cy="521208"/>
          </a:xfrm>
          <a:prstGeom prst="roundRect">
            <a:avLst>
              <a:gd name="adj" fmla="val 14035"/>
            </a:avLst>
          </a:prstGeom>
          <a:solidFill>
            <a:srgbClr val="EEF0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39903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신호처리 출력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164592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R, Az, El  (안테나 극좌표)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496312" y="18928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C"/>
                </a:solidFill>
              </a:rPr>
              <a:t>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240280"/>
            <a:ext cx="4315968" cy="521208"/>
          </a:xfrm>
          <a:prstGeom prst="roundRect">
            <a:avLst>
              <a:gd name="adj" fmla="val 14035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226771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 좌표계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51460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Polar → Cartesian → (UV)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496312" y="27614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C"/>
                </a:solidFill>
              </a:rPr>
              <a:t>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108960"/>
            <a:ext cx="4315968" cy="521208"/>
          </a:xfrm>
          <a:prstGeom prst="roundRect">
            <a:avLst>
              <a:gd name="adj" fmla="val 14035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31363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동체(Body) 좌표계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338328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x=선수  y=우현  z=아래  (FRD)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496312" y="36301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C"/>
                </a:solidFill>
              </a:rPr>
              <a:t>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977640"/>
            <a:ext cx="4315968" cy="521208"/>
          </a:xfrm>
          <a:prstGeom prst="roundRect">
            <a:avLst>
              <a:gd name="adj" fmla="val 14035"/>
            </a:avLst>
          </a:prstGeom>
          <a:solidFill>
            <a:srgbClr val="DFF0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400507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로컬(NED) 좌표계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425196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x=북  y=동  z=아래   ★ 데이터 처리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496312" y="44988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C"/>
                </a:solidFill>
              </a:rPr>
              <a:t>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846320"/>
            <a:ext cx="4315968" cy="521208"/>
          </a:xfrm>
          <a:prstGeom prst="roundRect">
            <a:avLst>
              <a:gd name="adj" fmla="val 14035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" y="487375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 좌표계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" y="512064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지구중심 지구고정 직교좌표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496312" y="5367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C"/>
                </a:solidFill>
              </a:rPr>
              <a:t>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715000"/>
            <a:ext cx="4315968" cy="521208"/>
          </a:xfrm>
          <a:prstGeom prst="roundRect">
            <a:avLst>
              <a:gd name="adj" fmla="val 14035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" y="574243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 좌표계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" y="598932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위도 · 경도 · 고도  → 전시기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230368" y="1764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극좌표를 x, y, z 세 성분으로 분해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230368" y="20574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표현만 바꿀 뿐 · 회전도 이동도 없음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230368" y="2633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C_body←ant = Rz(설치방위) · Ry(백틸트)  + 레버암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30368" y="29260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회전+이동  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도면이 공급 · 고정형이라 상수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30368" y="3502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C_ned←body = Rz(yaw) · Ry(pitch) · Rx(roll)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230368" y="37947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  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 자세가 공급 · 매 순간 변함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30368" y="43708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C_ecef←ned(위도, 경도)  + 배의 ECEF 위치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230368" y="4663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회전+이동  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 위치가 공급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30368" y="5239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Bowring 공식 (반복 2회)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230368" y="55321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WGS-84 타원체 · 직교좌표 → 위경도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230368" y="596188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 :  C_ned←body 는 동체 좌표를 NED 좌표로 바꾸는 회전행렬.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v_ned = C_ned←body × v_body — 화살표 방향이 곧 변환 방향.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거꾸로 갈 때는 전치 C_ned←bodyᵀ 를 곱한다.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8FA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설계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758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함선 고정형 안테나를 놓고 변환 경로를 설계합니다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신호처리  →  데이터 처리 (좌표변환 + 추적)  →  통제제어 전시기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주어진 조건 여섯 가지와, 그것이 설계를 어떻게 묶는가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  <a:gridCol w="5394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설계에 미치는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플랫폼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해상 함선, 고정형 안테나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안테나가 돌지 않는다 → 회전행렬이 상수 (회전형이면 엔코더 값의 시간 함수).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대신 배의 흔들림을 전부 계산으로 보상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안테나 설치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선수 기준 시계방향 90°,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무게중심에서 30 m 뒤 / 10 m 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방위 90°, 백틸트 0°,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레버암 (−30, 0, −10) 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INS 설치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무게중심과 축 일치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 좌표계 = 동체 좌표계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변환 단계 하나가 통째로 생략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안테나 기준 거리·방위각·고각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체인의 출발점이 안테나 극좌표로 확정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처리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좌표계에서 수행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체인의 중간 목적지가 NED 로 확정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 출력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위/경/고도 + 안테나 극좌표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정변환뿐 아니라 역변환도 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614416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5614416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④·⑤·⑥ 이 체인의 출발점·중간점·도착점을 이미 지정합니다.  설계자가 정할 것은 그 사이를 어떻게 이을 것인가입니다.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좌표계 선정과 그 이유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7863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좌표계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이것인가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안테나 — 극좌표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레이다가 물리적으로 잴 수 있는 것이 거리와 두 각도뿐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안테나 — 직교좌표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회전행렬은 벡터에만 곱할 수 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동체 (Body)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안테나·INS·무장이 만나는 유일한 공통 기준.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배를 거치지 않고 바깥으로 나갈 방법이 없다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(NED)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배가 흔들려도 이 좌표계는 흔들리지 않는다.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ENU 가 아닌 NED 인 이유는 동체 FRD 와 축 의미가 맞아서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ECEF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로컬에서 위경도로 곧장 갈 수 없다 — 다리 역할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전시기·통제제어가 지도 위에 표시하는 형식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5230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쓰지 않은 좌표계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66928" y="5577840"/>
            <a:ext cx="2651760" cy="786384"/>
          </a:xfrm>
          <a:prstGeom prst="roundRect">
            <a:avLst>
              <a:gd name="adj" fmla="val 9302"/>
            </a:avLst>
          </a:prstGeom>
          <a:solidFill>
            <a:srgbClr val="F4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5650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588873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에 의해 동체와 일치. 항등행렬을 곱하는 셈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64992" y="5577840"/>
            <a:ext cx="2651760" cy="786384"/>
          </a:xfrm>
          <a:prstGeom prst="roundRect">
            <a:avLst>
              <a:gd name="adj" fmla="val 9302"/>
            </a:avLst>
          </a:prstGeom>
          <a:solidFill>
            <a:srgbClr val="F4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11296" y="5650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511296" y="588873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 조향은 안테나 내부의 일 — 데이터 처리 체인 밖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63056" y="5577840"/>
            <a:ext cx="2651760" cy="786384"/>
          </a:xfrm>
          <a:prstGeom prst="roundRect">
            <a:avLst>
              <a:gd name="adj" fmla="val 9302"/>
            </a:avLst>
          </a:prstGeom>
          <a:solidFill>
            <a:srgbClr val="F4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09360" y="5650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ECI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588873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동역학 전파가 필요할 때만 (위성·탄도탄)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961120" y="5577840"/>
            <a:ext cx="2651760" cy="786384"/>
          </a:xfrm>
          <a:prstGeom prst="roundRect">
            <a:avLst>
              <a:gd name="adj" fmla="val 9302"/>
            </a:avLst>
          </a:prstGeom>
          <a:solidFill>
            <a:srgbClr val="F4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07424" y="5650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07424" y="588873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NED 와 정보량이 같다 — 하나로 통일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배가 기울지 않았다면 — 방위각은 그냥 더해진다</a:t>
            </a:r>
            <a:endParaRPr lang="en-US" sz="3000" dirty="0"/>
          </a:p>
        </p:txBody>
      </p:sp>
      <p:pic>
        <p:nvPicPr>
          <p:cNvPr id="3" name="Image 0" descr="/home/claude/deck/assets/fig10_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089" y="1188720"/>
            <a:ext cx="4647118" cy="5120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04688" y="1298448"/>
            <a:ext cx="6126480" cy="1828800"/>
          </a:xfrm>
          <a:prstGeom prst="roundRect">
            <a:avLst>
              <a:gd name="adj" fmla="val 4000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573268" y="146304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252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45°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573268" y="19751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722108" y="146304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252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90°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722108" y="19751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 설치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9870948" y="146304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252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30°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9870948" y="19751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Az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264908" y="146304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52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9413748" y="146304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52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504688" y="2304288"/>
            <a:ext cx="6126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52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 165°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5504688" y="327355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 연달아 오른쪽으로 돌았을 뿐이니, 직관적으로도 당연합니다.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504688" y="363931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계산값 165.074° — 차이 0.074° 는 레버암 30 m 때문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504688" y="4224528"/>
            <a:ext cx="6126480" cy="1828800"/>
          </a:xfrm>
          <a:prstGeom prst="roundRect">
            <a:avLst>
              <a:gd name="adj" fmla="val 4000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42432" y="4389120"/>
            <a:ext cx="5650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왜 굳이 행렬을 쓸까?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742432" y="4791456"/>
            <a:ext cx="56509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roll 이나 pitch 가 조금이라도 있으면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덧셈은 즉시 깨집니다.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축의 회전이 서로 섞이기 때문입니다.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변환  ①~③   안테나 → 동체 → 로컬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335024"/>
            <a:ext cx="11064240" cy="1335024"/>
          </a:xfrm>
          <a:prstGeom prst="roundRect">
            <a:avLst>
              <a:gd name="adj" fmla="val 5479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17904"/>
            <a:ext cx="402336" cy="402336"/>
          </a:xfrm>
          <a:prstGeom prst="ellipse">
            <a:avLst/>
          </a:prstGeom>
          <a:solidFill>
            <a:srgbClr val="2B57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17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996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 극좌표 → 직교좌표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653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변경 (회전·이동 없음)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517904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R·cos(El)·cos(Az) = +17 320.5081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R·cos(El)·sin(Az) = +10 000.0000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−R·sin(El)        =        0.0000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834640"/>
            <a:ext cx="11064240" cy="1335024"/>
          </a:xfrm>
          <a:prstGeom prst="roundRect">
            <a:avLst>
              <a:gd name="adj" fmla="val 5479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017520"/>
            <a:ext cx="402336" cy="402336"/>
          </a:xfrm>
          <a:prstGeom prst="ellipse">
            <a:avLst/>
          </a:prstGeom>
          <a:solidFill>
            <a:srgbClr val="2B57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9992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 → 동체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364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 + 평행이동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30175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C_body←ant = Rz(90°)·Ry(0°)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p_body = C × p_ant + (−30, 0, −10)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= (−10 030.0, +17 320.5, −10.0)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334256"/>
            <a:ext cx="11064240" cy="1335024"/>
          </a:xfrm>
          <a:prstGeom prst="roundRect">
            <a:avLst>
              <a:gd name="adj" fmla="val 5479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517136"/>
            <a:ext cx="402336" cy="402336"/>
          </a:xfrm>
          <a:prstGeom prst="ellipse">
            <a:avLst/>
          </a:prstGeom>
          <a:solidFill>
            <a:srgbClr val="2B57A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517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4988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동체 → 로컬 (NED)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864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회전만 (원점이 같음)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4517136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C_ned←body = Rz(45°)·Ry(0°)·Rx(0°)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p_ned = (N −19 339.73, E +5 155.17, D −10.0)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진북 기준 방위 165.074°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94360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여기가 데이터 처리 구간 — 추적·필터링은 로컬 좌표계에서 수행합니다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변환  ④~⑤   로컬 → ECEF → 위경도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5486400" cy="2139696"/>
          </a:xfrm>
          <a:prstGeom prst="roundRect">
            <a:avLst>
              <a:gd name="adj" fmla="val 3419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402336" cy="402336"/>
          </a:xfrm>
          <a:prstGeom prst="ellipse">
            <a:avLst/>
          </a:prstGeom>
          <a:solidFill>
            <a:srgbClr val="2B57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361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→ ECEF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83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 + 평행이동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배의 위치를 ECEF 로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로컬 벡터를 지구 방향으로 회전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(회전량은 배의 위도·경도가 결정)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더한다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44768" y="1371600"/>
            <a:ext cx="5486400" cy="2139696"/>
          </a:xfrm>
          <a:prstGeom prst="roundRect">
            <a:avLst>
              <a:gd name="adj" fmla="val 3419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554480"/>
            <a:ext cx="402336" cy="402336"/>
          </a:xfrm>
          <a:prstGeom prst="ellipse">
            <a:avLst/>
          </a:prstGeom>
          <a:solidFill>
            <a:srgbClr val="2B57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5361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 → LLA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1883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Bowring 공식 + 개선 반복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위도를 알아야 곡률반경 N 을 구하는데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을 알아야 위도를 구하는 순환 관계다.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폐형식 해도 있지만 식이 길어,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실무에서는 Bowring 초기값을 두 번 다듬는다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367588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67588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52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표적 LLA  =  36.233700252°N   127.364344961°E   고도 41.4952 m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" y="4791456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" y="493776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고도가 10 m 가 아니라 41.5 m 인가?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5340096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레이다는 수평(El = 0°)으로 쐈고 안테나는 10 m 높이니 "표적 고도 10 m" 일 것 같습니다.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빔은 직진하는데 바다 표면은 멀어질수록 아래로 휘어 내려갑니다. 20 km 지점에서 그 차이가 31.5 m,  10 + 31.5 = 41.5 m.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(전파 굴절을 무시한 기하학적 값. 표준 대기의 4/3 지구 반경을 쓰면 곡률 효과는 약 0.75 배가 된다.)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되돌아오기 — 역변환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⑥ 은 결과를 두 가지 형태로 요구합니다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64240" cy="1042416"/>
          </a:xfrm>
          <a:prstGeom prst="roundRect">
            <a:avLst>
              <a:gd name="adj" fmla="val 7018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8249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역변환은 새로 배울 것이 없습니다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08483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회전은 전치 (transpose)      ② 평행이동은 빼기      ③ 순서는 거꾸로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798064"/>
            <a:ext cx="11064240" cy="1773936"/>
          </a:xfrm>
          <a:prstGeom prst="roundRect">
            <a:avLst>
              <a:gd name="adj" fmla="val 4124"/>
            </a:avLst>
          </a:prstGeom>
          <a:solidFill>
            <a:srgbClr val="F4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907792"/>
            <a:ext cx="10735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표적 LLA (36.233700°N, 127.364345°E, 41.4952 m)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ECEF                                    // 정변환과 같은 공식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로컬 NED    C_ned←e × (표적 − 배)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동체        C_ned←body^T × p_ned          // 전치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안테나      C_body←ant^T × (p_body − 레버암)  // 전치 + 빼기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극좌표      R = √(x²+y²+z²),  Az = atan2(y, x),  El = atan2(−z, √(x²+y²))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4791456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4791456"/>
            <a:ext cx="11064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252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 :  R = 20 000.000000 m     Az = 30.000000°     El = 0.000000°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70585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입력값과 정확히 같은 값이 돌아왔습니다.  왕복오차 ΔR &lt; 1e−9 m — 컴퓨터 반올림 수준입니다.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07161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 하나, 전치 방향 하나만 틀려도 이 왕복 시험은 즉시 실패합니다 — 그래서 가장 강력한 검증 수단이 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8FA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로 짜서 확인하기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758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좌표변환은 "적당히 그럴듯한 값"이 나오기 때문에 눈으로는 검증되지 않습니다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 Studio 2022 / gcc 13  ·  C17  ·  경고 0건  ·  단위 시험 31항목 전부 통과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— 애초에 실수하기 어렵게 만들기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좌표변환 버그의 특징은 컴파일도 되고 값도 그럴듯해 보인다는 것입니다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08176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5544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72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이름에 방향을 박는다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5544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f_CfDcmNedFromBody()   ← 이름이 곧  v_ned = C × v_body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f_CfNedFromBody()  /  f_CfBodyFromNed()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5603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706624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724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표현이 다르면 타입도 다르게 쓴다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2706624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ST_CfPolar  /  ST_CfDirCos  /  ST_CfGeodetic  /  ST_CfVec3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double[3] 로 다니면 극좌표를 직교 함수에 넣어도 컴파일러가 못 잡는다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직교 프레임끼리는 같은 ST_CfVec3 — 그래서 ① 의 함수 이름이 방향을 지킨다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712464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85876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8770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이름에 단위를 붙인다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85876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dRange_m  /  dAz_rad  /  dAlt_m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주석은 읽히지 않지만 이름은 읽힌다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8280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시험 9종 31항목 — 각 시험이 특정 유형의 버그를 겨냥합니다</a:t>
            </a:r>
            <a:endParaRPr lang="en-US" sz="15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52120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480560"/>
                <a:gridCol w="3840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 행렬 성질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 = +1, A^T·A = I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회전행렬 구성 오류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T4 LLA↔ECEF 왕복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20만 개 무작위 지점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(1−e²) 누락, 상수 오타 — e=0.818 사례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T8 비대칭 자세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roll·pitch·yaw 를 전부 다른 값으로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전치 방향 뒤바뀜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T9 부호 민감도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부호를 뒤집으면 결과가 달라지는가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항이 실제로 안 쓰이는 실수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출력값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05256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⑥ 이 요구한 두 가지 형태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755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 위 / 경 / 고도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3113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22311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36.233700252 °N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8346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28346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127.364344961 °E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43814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34381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41.4952 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WGS-84 타원체고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44768" y="155448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73952" y="1755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[2]  안테나 극좌표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22311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시선거리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22311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20 000.0000 m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22311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1e−9 m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28346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방위각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28346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30.000000 °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0" y="28346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1.5e−12 °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343814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고각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343814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0.000000 °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343814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9.4e−13 °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오른쪽은 입력값과의 차이 (왕복오차, 빌드마다 자릿수 변동)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517136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4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451713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역변환이 입력값과 컴퓨터 반올림 수준까지 일치 — 변환 체인 전체가 서로 정확히 역관계임을 보여줍니다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6928" y="5541264"/>
            <a:ext cx="3520440" cy="859536"/>
          </a:xfrm>
          <a:prstGeom prst="roundRect">
            <a:avLst>
              <a:gd name="adj" fmla="val 8511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563270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5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31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6035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시험 통과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43400" y="5541264"/>
            <a:ext cx="3520440" cy="859536"/>
          </a:xfrm>
          <a:prstGeom prst="roundRect">
            <a:avLst>
              <a:gd name="adj" fmla="val 8511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26280" y="563270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5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건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4526280" y="6035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 경고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19872" y="5541264"/>
            <a:ext cx="3520440" cy="859536"/>
          </a:xfrm>
          <a:prstGeom prst="roundRect">
            <a:avLst>
              <a:gd name="adj" fmla="val 8511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02752" y="5632704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5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1e−9 m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302752" y="6035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 오차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실험 — 설계 판단이 실제로 근거가 있는가</a:t>
            </a:r>
            <a:endParaRPr lang="en-US" sz="3000" dirty="0"/>
          </a:p>
        </p:txBody>
      </p:sp>
      <p:pic>
        <p:nvPicPr>
          <p:cNvPr id="3" name="Image 0" descr="/home/claude/deck/assets/fig12_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22687"/>
            <a:ext cx="6949440" cy="25873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99248" y="1335024"/>
            <a:ext cx="3931920" cy="3099816"/>
          </a:xfrm>
          <a:prstGeom prst="roundRect">
            <a:avLst>
              <a:gd name="adj" fmla="val 2360"/>
            </a:avLst>
          </a:prstGeom>
          <a:solidFill>
            <a:srgbClr val="FBEA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14813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B  배가 기울면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1847088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측정값 (Az 30°, El 0°) 에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자세만 바꿔 넣은 결과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2432304"/>
          <a:ext cx="3474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roll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2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고각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52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−8.61°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−17.19°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955280" y="36758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레이다는 여전히 "고각 0도" 라고 보고합니다.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그건 안테나 기준일 뿐입니다.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roll 20° 면 20 km 앞 고도가 5.9 km 어긋난다.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66928" y="47548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6384" y="4882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938528" y="4882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레버암을 빼먹으면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86384" y="521208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수평으로 정확히 30 m, 고도로 10 m 어긋난다.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거리가 멀어져도 이 오차는 줄지 않는다.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44768" y="47548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64224" y="4882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C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516368" y="4882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지구 곡률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364224" y="521208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km 2.0 m · 20 km 31.5 m · 100 km 786.4 m.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거리의 제곱에 비례해 커진다.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66928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52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각도를 더하는 방식으로는 이 효과를 만들 수 없습니다 — 해상 플랫폼에서 회전행렬은 선택이 아니라 필수입니다.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517904"/>
            <a:ext cx="347472" cy="347472"/>
          </a:xfrm>
          <a:prstGeom prst="ellipse">
            <a:avLst/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148132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F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좌표계는 "누구 입장에서 말하는가" 이고, 좌표변환은 그 통역이다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85416"/>
            <a:ext cx="347472" cy="347472"/>
          </a:xfrm>
          <a:prstGeom prst="ellipse">
            <a:avLst/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14884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F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변환의 재료는 회전과 평행이동 둘뿐이다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852928"/>
            <a:ext cx="347472" cy="347472"/>
          </a:xfrm>
          <a:prstGeom prst="ellipse">
            <a:avLst/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2816352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F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순서는 안테나 → 동체 → 로컬 → ECEF → 위경도. 건너뛸 수 없다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520440"/>
            <a:ext cx="347472" cy="347472"/>
          </a:xfrm>
          <a:prstGeom prst="ellipse">
            <a:avLst/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348386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F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회전은 설치 방위와 INS 자세·위경도가, 평행이동은 레버암과 배의 위치가 공급한다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187952"/>
            <a:ext cx="347472" cy="347472"/>
          </a:xfrm>
          <a:prstGeom prst="ellipse">
            <a:avLst/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4151376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F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돌아올 때는 전치하고, 빼고, 순서를 뒤집는다. 왕복이 맞으면 구현이 맞은 것이다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855464"/>
            <a:ext cx="347472" cy="347472"/>
          </a:xfrm>
          <a:prstGeom prst="ellipse">
            <a:avLst/>
          </a:prstGeom>
          <a:solidFill>
            <a:srgbClr val="C2521C"/>
          </a:solidFill>
          <a:ln w="12700">
            <a:solidFill>
              <a:srgbClr val="C252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855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53312" y="481888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배가 기울면 각도 덧셈은 깨진다 — 회전행렬은 필수다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5522976"/>
            <a:ext cx="347472" cy="347472"/>
          </a:xfrm>
          <a:prstGeom prst="ellipse">
            <a:avLst/>
          </a:prstGeom>
          <a:solidFill>
            <a:srgbClr val="C2521C"/>
          </a:solidFill>
          <a:ln w="12700">
            <a:solidFill>
              <a:srgbClr val="C252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522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53312" y="548640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평면 좌표를 고도로 그대로 쓰면 안 된다. 지구는 둥글다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 참고 기술보고서와의 규약 대응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2926080"/>
                <a:gridCol w="1691640"/>
                <a:gridCol w="3154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발표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CIWS-II 보고서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AESA 보고서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A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안테나 x축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보어사이트 (정면)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안테나 왼쪽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안테나 왼쪽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p_발표 = M · p_보고서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안테나 y축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오른쪽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= [ 0 0 1 ; −1 0 0 ; 0 −1 0 ]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안테나 z축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 법선 (정면)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 법선 (정면)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CIWS-II 의 R_Ant.Temp 와 같은 행렬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방위각 (+)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오른쪽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반시계 (왼쪽)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오른쪽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부호가 문서마다 다르다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회전행렬 표기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벡터 회전 [c −s ; s c]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좌표축 회전 [c s ; −s c]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좌표축 회전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서로 전치 — 혼동하면 회전 방향이 뒤집힌다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좌표계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로컬(NED), 원점 = 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Vehicle-carried NED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Vehicle-carried NED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 NED (지표 고정점) 와 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오일러각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3-2-1, 우현↓ 선수↑ 시계 +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52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3편 모두 같은 규약 (수치 검증)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66928" y="550468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EEF1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5504688"/>
            <a:ext cx="11064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자료의 행렬을 옮겨 쓸 때는 축 정의와 회전 표기부터 확인합니다.  부호가 반대인 행렬은 오타가 아니라 좌표축을 돌리는 표기이며, 이 발표 행렬의 전치입니다.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9D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환영합니다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636776" y="4389120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36776" y="43891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935224" y="4389120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07F"/>
                </a:solidFill>
              </a:rPr>
              <a:t>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4389120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54680" y="43891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안테나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453128" y="4389120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07F"/>
                </a:solidFill>
              </a:rPr>
              <a:t>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72584" y="4389120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72584" y="43891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동체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71032" y="4389120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07F"/>
                </a:solidFill>
              </a:rPr>
              <a:t>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0488" y="4389120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0488" y="43891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488936" y="4389120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07F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08392" y="4389120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1E3357"/>
          </a:solidFill>
          <a:ln w="12700">
            <a:solidFill>
              <a:srgbClr val="34507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08392" y="43891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ECEF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4389120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507F"/>
                </a:solidFill>
              </a:rPr>
              <a:t>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26296" y="4389120"/>
            <a:ext cx="1298448" cy="402336"/>
          </a:xfrm>
          <a:prstGeom prst="roundRect">
            <a:avLst>
              <a:gd name="adj" fmla="val 45455"/>
            </a:avLst>
          </a:prstGeom>
          <a:solidFill>
            <a:srgbClr val="C2521C"/>
          </a:solidFill>
          <a:ln w="12700">
            <a:solidFill>
              <a:srgbClr val="C252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26296" y="43891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9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 · 문서 :  radar-sw-study / Part2_CoordFrames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2. 좌표계와 좌표변환</dc:title>
  <dc:subject>PptxGenJS Presentation</dc:subject>
  <dc:creator>radar-sw-study</dc:creator>
  <cp:lastModifiedBy>radar-sw-study</cp:lastModifiedBy>
  <cp:revision>1</cp:revision>
  <dcterms:created xsi:type="dcterms:W3CDTF">2026-09-01T09:24:56Z</dcterms:created>
  <dcterms:modified xsi:type="dcterms:W3CDTF">2026-09-01T09:24:56Z</dcterms:modified>
</cp:coreProperties>
</file>