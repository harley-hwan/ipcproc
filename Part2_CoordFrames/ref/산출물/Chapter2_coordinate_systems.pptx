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표적 하나를 두고 레이다는 "20 km 앞, 오른쪽으로 30도" 라고 말합니다. 안테나 자기 정면 기준입니다. 전시기는 "북위 36.2337도, 동경 127.3643도" 로 보여줘야 합니다.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시험 12항목, 확인 실험 세 가지로 숫자로 검증합니다.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슬라이드의 다섯 줄은 전부 같은 표적 하나입니다.</a:t>
            </a:r>
          </a:p>
          <a:p/>
          <a:p>
            <a:r>
              <a:t>안테나는 "정면에서 오른쪽 30도, 20 km", 함선은 "선수 기준 오른쪽 뒤 120도, 20 km", 바다 위 이 지점 기준으로는 "남쪽으로 19,340 m, 동쪽으로 5,155 m, 위로 10 m", 지구 기준으로는 지구 중심에서 (−3,125,892, +4,093,775, +3,749,164) m, 지도 기준으로는 "북위 36.2337도, 동경 127.3643도, 고도 41.5 m" 입니다.</a:t>
            </a:r>
          </a:p>
          <a:p/>
          <a:p>
            <a:r>
              <a:t>다섯 문장 모두 맞습니다. 다른 것은 기준점, 즉 원점과 기준 방향, 즉 축뿐입니다. 표적은 하나인데 언어가 여러 개이고, 화자를 바꿀 때마다 통역이 필요합니다. 그 통역이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항법 분야는 z 를 아래로 두는 관습이 있어서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모든 좌표계에서 z 는 아래입니다. "10 m 위" 는 z = −10 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주황색 화살표, 즉 표적의 위치는 완전히 같습니다. 달라진 것은 축뿐입니다.</a:t>
            </a:r>
          </a:p>
          <a:p/>
          <a:p>
            <a:r>
              <a:t>안테나의 정면이 함선의 우현이라서, 같은 표적이 (+17,320, +10,000) 에서 (−10,000, +17,320) 이 됩니다. 두 숫자가 자리를 바꾸고 부호 하나가 뒤집혔습니다. 이것이 90도 회전의 정체입니다. 표적을 돌리는 것이 아니라 자를 돌리는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직교한다, 행렬식이 +1 이라서 늘이거나 뒤집지 않는다, 그리고 역행렬이 전치와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개가 중력을 뺀 비력을 재고,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두 방향의 차이는 위도 45도 부근에서 최대 약 0.19도인데, 지표에서 21 km 에 해당합니다.</a:t>
            </a:r>
          </a:p>
          <a:p/>
          <a:p>
            <a:r>
              <a:t>둘째, 로컬 평면의 한계입니다. 지구는 둥글어서 원점에서 멀어질수록 실제 지표면이 평면 아래로 내려갑니다. 5 km 에서 2 m, 20 km 에서 31 m, 50 km 에서 196 m, 100 km 에서 783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위치 오차가 수십 km 까지 벌어집니다.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도면과 INS 자세가, 이동은 레버암과 INS 위치가 공급합니다. 이 구분이 그대로 오차 예산의 항목이 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시험 12항목을 전부 통과했습니다.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시험은 12항목이고 원리는 하나입니다. 갔다가 돌아오면 원래 값이 나와야 합니다. 극좌표와 직교, 안테나와 동체, 동체와 NED, NED 와 ECEF 를 단계별로 왕복해서 부호와 전치 방향 실수를 잡고, LLA 와 ECEF 는 위도 · 경도 · 고도 격자 189개 지점을 왕복해서 (1−e²) 누락이나 공식 오타를 잡습니다. 비대칭 자세 시험은 roll, pitch, yaw 를 전부 다른 값으로 둡니다. 전치 방향이 뒤바뀐 버그는 대칭적인 자세에서는 드러나지 않고 단위행렬 테스트도 두 방향 모두 통과하기 때문에 따로 둔 것입니다. 마지막으로 예제값은 손으로 계산한 동체 좌표, 표적 LLA, 왕복 R/Az/El 을 확인해서 체인 전체의 순서와 방향을 잡습니다.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시험 12항목 전부 통과, 컴파일 경고 0건, 왕복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20 km 거리에서 고도로 약 5.9 km 차이입니다.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"누구 입장에서 말하는가" 이고 좌표변환은 그 통역입니다. 둘, 변환의 재료는 회전과 평행이동 둘뿐입니다. 셋, 순서는 안테나, 동체, 로컬, ECEF, 위경도이고 건너뛸 수 없습니다. 넷, 회전은 INS 의 자세와 위치가, 평행이동은 설치 도면과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값을 찍고, test 인자를 주면 시험 12항목을 돌립니다.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58368"/>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같은 표적인데,  말하는 사람이 다르다</a:t>
            </a:r>
            <a:endParaRPr lang="en-US" sz="3000" dirty="0"/>
          </a:p>
        </p:txBody>
      </p:sp>
      <p:sp>
        <p:nvSpPr>
          <p:cNvPr id="3" name="Shape 1"/>
          <p:cNvSpPr/>
          <p:nvPr/>
        </p:nvSpPr>
        <p:spPr>
          <a:xfrm>
            <a:off x="822960" y="1755648"/>
            <a:ext cx="5029200" cy="2286000"/>
          </a:xfrm>
          <a:prstGeom prst="roundRect">
            <a:avLst>
              <a:gd name="adj" fmla="val 4800"/>
            </a:avLst>
          </a:prstGeom>
          <a:solidFill>
            <a:srgbClr val="1E3357"/>
          </a:solidFill>
          <a:ln/>
        </p:spPr>
        <p:txBody>
          <a:bodyPr/>
          <a:p/>
        </p:txBody>
      </p:sp>
      <p:sp>
        <p:nvSpPr>
          <p:cNvPr id="4" name="Text 2"/>
          <p:cNvSpPr txBox="1"/>
          <p:nvPr/>
        </p:nvSpPr>
        <p:spPr>
          <a:xfrm>
            <a:off x="1097280" y="195681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레이다는 이렇게 말한다</a:t>
            </a:r>
            <a:endParaRPr lang="en-US" sz="1300" dirty="0"/>
          </a:p>
        </p:txBody>
      </p:sp>
      <p:sp>
        <p:nvSpPr>
          <p:cNvPr id="5" name="Text 3"/>
          <p:cNvSpPr txBox="1"/>
          <p:nvPr/>
        </p:nvSpPr>
        <p:spPr>
          <a:xfrm>
            <a:off x="10972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358444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1755648"/>
            <a:ext cx="5029200" cy="2286000"/>
          </a:xfrm>
          <a:prstGeom prst="roundRect">
            <a:avLst>
              <a:gd name="adj" fmla="val 4800"/>
            </a:avLst>
          </a:prstGeom>
          <a:solidFill>
            <a:srgbClr val="C2521C"/>
          </a:solidFill>
          <a:ln/>
        </p:spPr>
        <p:txBody>
          <a:bodyPr/>
          <a:p/>
        </p:txBody>
      </p:sp>
      <p:sp>
        <p:nvSpPr>
          <p:cNvPr id="8" name="Text 6"/>
          <p:cNvSpPr txBox="1"/>
          <p:nvPr/>
        </p:nvSpPr>
        <p:spPr>
          <a:xfrm>
            <a:off x="6583680" y="195681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전시기는 이걸 보여줘야 한다</a:t>
            </a:r>
            <a:endParaRPr lang="en-US" sz="1300" dirty="0"/>
          </a:p>
        </p:txBody>
      </p:sp>
      <p:sp>
        <p:nvSpPr>
          <p:cNvPr id="9" name="Text 7"/>
          <p:cNvSpPr txBox="1"/>
          <p:nvPr/>
        </p:nvSpPr>
        <p:spPr>
          <a:xfrm>
            <a:off x="65836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358444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4645152"/>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5266944"/>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시험 12항목</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확인 실험 3가지</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아래 다섯 줄은 전부 같은 표적 하나를 가리킵니다</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051560" y="1737360"/>
          <a:ext cx="10058400" cy="914400"/>
        </p:xfrm>
        <a:graphic>
          <a:graphicData uri="http://schemas.openxmlformats.org/drawingml/2006/table">
            <a:tbl>
              <a:tblPr/>
              <a:tblGrid>
                <a:gridCol w="2377440"/>
                <a:gridCol w="7680960"/>
              </a:tblGrid>
              <a:tr h="475488">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말하는 사람</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표적이 어디 있냐고 물으면</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안테나</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내 정면에서 오른쪽 30°, 20 km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함선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선수 기준 오른쪽 뒤 120°, 20 km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바다 위 이 지점</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남쪽으로 19 340 m, 동쪽으로 5 155 m, 위로 10 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지구</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지구 중심에서 (−3 125 892, +4 093 775, +3 749 164) 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지도</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북위 36.2337°, 동경 127.3643°, 고도 41.5 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1051560" y="4882896"/>
            <a:ext cx="10058400" cy="841248"/>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1051560" y="4882896"/>
            <a:ext cx="10058400" cy="841248"/>
          </a:xfrm>
          <a:prstGeom prst="rect">
            <a:avLst/>
          </a:prstGeom>
          <a:noFill/>
          <a:ln/>
        </p:spPr>
        <p:txBody>
          <a:bodyPr wrap="square" lIns="0" tIns="0" rIns="0" bIns="0" rtlCol="0" anchor="ctr"/>
          <a:lstStyle/>
          <a:p>
            <a:pPr algn="ctr" indent="0" marL="0">
              <a:buNone/>
            </a:pPr>
            <a:r>
              <a:rPr lang="en-US" sz="1700" b="1" dirty="0">
                <a:solidFill>
                  <a:srgbClr val="C2521C"/>
                </a:solidFill>
                <a:latin typeface="Malgun Gothic" pitchFamily="34" charset="0"/>
                <a:ea typeface="Malgun Gothic" pitchFamily="34" charset="-122"/>
                <a:cs typeface="Malgun Gothic" pitchFamily="34" charset="-120"/>
              </a:rPr>
              <a:t>다섯 문장 모두 맞습니다.  다른 것은 기준점(원점)과 기준 방향(축)뿐입니다.</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분야는 z 를 아래로 두는 관습이 있어</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모든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841248"/>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621792"/>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표적은 가만히 있다, 움직이는 건 자(ruler)다</a:t>
            </a:r>
            <a:endParaRPr lang="en-US" sz="3000" dirty="0"/>
          </a:p>
        </p:txBody>
      </p:sp>
      <p:pic>
        <p:nvPicPr>
          <p:cNvPr id="3" name="Image 0" descr="/home/claude/gitpkg/Part2_CoordFrames/doc/figures/fig05_same_target.png">    </p:cNvPr>
          <p:cNvPicPr>
            <a:picLocks noChangeAspect="1"/>
          </p:cNvPicPr>
          <p:nvPr/>
        </p:nvPicPr>
        <p:blipFill>
          <a:blip r:embed="rId1"/>
          <a:stretch>
            <a:fillRect/>
          </a:stretch>
        </p:blipFill>
        <p:spPr>
          <a:xfrm>
            <a:off x="2336225" y="1389888"/>
            <a:ext cx="7525646" cy="3566160"/>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(+17 320, +10 000)  →  (−10 000, +17 320)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712464"/>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18872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각 행과 열의 길이가 1 이고 서로 직교한다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늘이거나 뒤집지 않는다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 (R⁻¹ = R^T)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359916"/>
            <a:ext cx="7680960" cy="2796535"/>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손전등으로 치면 빛이 가장 센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회전행렬을 곱하려면 x·y·z 세 성분으로 풀어써야 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+17 320.5081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+10 000.0000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z 축은 아래가 양수입니다.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안테나 면에 드리운 그림자로 표현합니다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3_uv.png">    </p:cNvPr>
          <p:cNvPicPr>
            <a:picLocks noChangeAspect="1"/>
          </p:cNvPicPr>
          <p:nvPr/>
        </p:nvPicPr>
        <p:blipFill>
          <a:blip r:embed="rId1"/>
          <a:stretch>
            <a:fillRect/>
          </a:stretch>
        </p:blipFill>
        <p:spPr>
          <a:xfrm>
            <a:off x="765807" y="1792224"/>
            <a:ext cx="6826003" cy="3931920"/>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626864"/>
            <a:ext cx="3200400" cy="73152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p:txBody>
      </p:sp>
      <p:sp>
        <p:nvSpPr>
          <p:cNvPr id="28" name="Text 25"/>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안테나·INS·무장이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중력을 뺀 나머지 가속도</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0700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두 방향의 차이는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 지표에서 21 km 에 해당</a:t>
            </a:r>
            <a:endParaRPr lang="en-US" sz="1200" dirty="0"/>
          </a:p>
        </p:txBody>
      </p:sp>
      <p:sp>
        <p:nvSpPr>
          <p:cNvPr id="28" name="Shape 25"/>
          <p:cNvSpPr/>
          <p:nvPr/>
        </p:nvSpPr>
        <p:spPr>
          <a:xfrm>
            <a:off x="6144768" y="4626864"/>
            <a:ext cx="5486400" cy="120700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783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6 378 137.0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6 356 752.3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 오차가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수십 km 까지 벌어진다.</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GPS 와 해도가 쓰는 것도 이것</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도면과 INS 자세가, 이동은 레버암과 INS 위치가 공급합니다. 이 구분이 그대로 오차 예산의 항목이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3" name="Image 0" descr="/home/claude/deck/assets/fig10_deck.png">    </p:cNvPr>
          <p:cNvPicPr>
            <a:picLocks noChangeAspect="1"/>
          </p:cNvPicPr>
          <p:nvPr/>
        </p:nvPicPr>
        <p:blipFill>
          <a:blip r:embed="rId1"/>
          <a:stretch>
            <a:fillRect/>
          </a:stretch>
        </p:blipFill>
        <p:spPr>
          <a:xfrm>
            <a:off x="575089" y="1188720"/>
            <a:ext cx="4647118" cy="5120640"/>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함수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+17 320.5081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+10 000.0000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(−10 030.0, +17 320.5,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−19 339.73, E +5 155.17,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20 000.000000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시험 12항목 전부 통과</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시험 12항목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91440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단계별 왕복</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극좌표↔직교 · 안테나↔동체 · 동체↔NED · NED↔ECEF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LLA↔ECEF 왕복</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위도·경도·고도 격자 189개 지점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(1−e²) 누락, 공식 오타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비대칭 자세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roll·pitch·yaw 를 전부 다른 값으로</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전치 방향 뒤바뀜</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예제값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동체 좌표 손계산 · 표적 LLA · 왕복 R/Az/El</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체인 순서 · 방향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20 000.0000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12 / 12</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시험 통과</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64008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20 km 거리에서 고도로 약 5.9 km 차이.</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radar_coord test 로 시험 12항목</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다이얼로그. 오른쪽 화면</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"누구 입장에서 말하는가" 이고, 좌표변환은 그 통역이다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INS 의 자세와 위치가, 평행이동은 설치 도면과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