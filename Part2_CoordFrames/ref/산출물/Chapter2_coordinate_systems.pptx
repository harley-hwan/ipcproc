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4"/>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 그림에서 왼쪽이 레이다 화면, 오른쪽이 전시기 지도입니다. 표적은 하나인데 한쪽은 부채꼴 위 한 점으로, 다른 쪽은 위경도 격자 위 한 점으로 찍힙니다.</a:t>
            </a:r>
          </a:p>
          <a:p/>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기준이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p>
            <a:r>
              <a:t>그래서 같은 표적이 안테나에서는 "정면에서 오른쪽 30도, 20,000 m", 함선에서는 "선수에서 오른쪽 120도, 20,015 m", 로컬에서는 "진북에서 165도, 남쪽으로 19,340 m 동쪽으로 5,155 m", 지도에서는 "북위 36.2337도, 동경 127.3643도" 가 됩니다. 각도가 30, 120, 165 로 달라진 것은 기준 방향, 즉 축이 다르기 때문이고, 거리가 20,000 m 와 20,015 m 로 조금 다른 것은 기준점, 즉 원점이 다르기 때문입니다.</a:t>
            </a:r>
          </a:p>
          <a:p/>
          <a:p>
            <a:r>
              <a:t>네 줄 모두 같은 점입니다. 숫자를 바꾸는 것은 원점과 축뿐이고, 그 둘을 맞춰 주는 계산이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x 를 앞, y 를 오른쪽으로 잡으면 오른손 좌표계에서 z 는 저절로 아래가 됩니다. 항법 분야의 이 관습이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안테나, 동체, NED 좌표계에서 z 는 아래입니다. "10 m 위" 는 z = −10 입니다. 지구 중심 좌표계 ECEF 만 Z 가 북극을 향합니다.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배도 표적도 같은 자리에 있습니다. 달라진 것은 축뿐입니다.</a:t>
            </a:r>
          </a:p>
          <a:p/>
          <a:p>
            <a:r>
              <a:t>왼쪽은 안테나의 축에서, 오른쪽은 함선의 축에서 같은 화살표를 읽은 값입니다. 안테나의 정면이 함선의 우현이라서, 같은 표적이 (+17,320, +10,000) 에서 (−10,000, +17,320) 이 됩니다. 두 숫자가 자리를 바꾸고 부호 하나가 뒤집혔습니다. 이것이 90도 회전의 정체입니다. 표적을 돌린 것이 아니라 90도 어긋난 축에서 다시 읽은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 즉 90도를 이룬다. 행렬식이 +1 이라서 크기를 바꾸지도 거울상으로 뒤집지도 않는다. 그리고 역행렬이 전치, 즉 행과 열을 맞바꾼 것과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식을 읽는 법은 이렇습니다. cos(El) 로 표적을 먼저 수평면에 눕히고, 그 길이를 Az 로 앞과 오른쪽에 나눠 담습니다. 위아래는 sin(El) 몫이고,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개는 비력, 즉 센서가 느끼는 가속도를 잽니다. 가만히 있어도 중력 1 g 가 잡히기 때문에 중력 모델을 뺀 뒤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지구 중심 방향과는 위도 45도 부근에서 최대 약 0.19도 어긋나는데, 이 둘을 혼동하면 지표 위치가 약 21 km 틀어집니다.</a:t>
            </a:r>
          </a:p>
          <a:p/>
          <a:p>
            <a:r>
              <a:t>둘째, 로컬 평면의 한계입니다. 지구는 둥글어서 원점에서 멀어질수록 실제 지표면이 평면 아래로 내려갑니다. 5 km 에서 2 m, 20 km 에서 31 m, 50 km 에서 196 m, 100 km 에서 786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되돌린 값이 입력과 반올림 수준까지 맞는 것을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왕복 각도 오차 1e−12도, 컴파일 경고 0건, 왕복 거리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값과 왕복오차를 찍습니다.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2011680" cy="914400"/>
          </a:xfrm>
          <a:prstGeom prst="rect">
            <a:avLst/>
          </a:prstGeom>
          <a:noFill/>
        </p:spPr>
        <p:txBody>
          <a:bodyPr wrap="none" anchor="ctr" lIns="0" rIns="0" tIns="0" bIns="0">
            <a:spAutoFit/>
          </a:bodyPr>
          <a:lstStyle/>
          <a:p>
            <a:pPr algn="l"/>
            <a:r>
              <a:rPr sz="5400" b="1">
                <a:solidFill>
                  <a:srgbClr val="FFFFFF"/>
                </a:solidFill>
                <a:latin typeface="Arial"/>
              </a:rPr>
              <a:t>LIG</a:t>
            </a:r>
          </a:p>
        </p:txBody>
      </p:sp>
      <p:sp>
        <p:nvSpPr>
          <p:cNvPr id="3" name="TextBox 2"/>
          <p:cNvSpPr txBox="1"/>
          <p:nvPr/>
        </p:nvSpPr>
        <p:spPr>
          <a:xfrm>
            <a:off x="9418320" y="502920"/>
            <a:ext cx="2286000" cy="320040"/>
          </a:xfrm>
          <a:prstGeom prst="rect">
            <a:avLst/>
          </a:prstGeom>
          <a:noFill/>
        </p:spPr>
        <p:txBody>
          <a:bodyPr wrap="none" anchor="t" lIns="0" rIns="0" tIns="0" bIns="0">
            <a:spAutoFit/>
          </a:bodyPr>
          <a:lstStyle/>
          <a:p>
            <a:pPr algn="r"/>
            <a:r>
              <a:rPr sz="1100" b="1">
                <a:solidFill>
                  <a:srgbClr val="FFFFFF"/>
                </a:solidFill>
                <a:latin typeface="Arial"/>
              </a:rPr>
              <a:t>Chapter 2</a:t>
            </a:r>
          </a:p>
        </p:txBody>
      </p:sp>
      <p:sp>
        <p:nvSpPr>
          <p:cNvPr id="4" name="TextBox 3"/>
          <p:cNvSpPr txBox="1"/>
          <p:nvPr/>
        </p:nvSpPr>
        <p:spPr>
          <a:xfrm>
            <a:off x="3931920" y="2468880"/>
            <a:ext cx="7772400" cy="914400"/>
          </a:xfrm>
          <a:prstGeom prst="rect">
            <a:avLst/>
          </a:prstGeom>
          <a:noFill/>
        </p:spPr>
        <p:txBody>
          <a:bodyPr wrap="square" anchor="ctr" lIns="0" rIns="0" tIns="0" bIns="0">
            <a:spAutoFit/>
          </a:bodyPr>
          <a:lstStyle/>
          <a:p>
            <a:pPr algn="r"/>
            <a:r>
              <a:rPr sz="4000" b="1">
                <a:solidFill>
                  <a:srgbClr val="FFFFFF"/>
                </a:solidFill>
                <a:latin typeface="맑은 고딕"/>
              </a:rPr>
              <a:t>좌표계와 좌표변환</a:t>
            </a:r>
          </a:p>
        </p:txBody>
      </p:sp>
      <p:sp>
        <p:nvSpPr>
          <p:cNvPr id="5" name="TextBox 4"/>
          <p:cNvSpPr txBox="1"/>
          <p:nvPr/>
        </p:nvSpPr>
        <p:spPr>
          <a:xfrm>
            <a:off x="3931920" y="3401568"/>
            <a:ext cx="7772400" cy="384048"/>
          </a:xfrm>
          <a:prstGeom prst="rect">
            <a:avLst/>
          </a:prstGeom>
          <a:noFill/>
        </p:spPr>
        <p:txBody>
          <a:bodyPr wrap="square" anchor="t" lIns="0" rIns="0" tIns="0" bIns="0">
            <a:spAutoFit/>
          </a:bodyPr>
          <a:lstStyle/>
          <a:p>
            <a:pPr algn="r"/>
            <a:r>
              <a:rPr sz="1600" b="0">
                <a:solidFill>
                  <a:srgbClr val="C9D6EC"/>
                </a:solidFill>
                <a:latin typeface="맑은 고딕"/>
              </a:rPr>
              <a:t>안테나가 잰 각도가 지도 위 위경도가 되기까지</a:t>
            </a:r>
          </a:p>
        </p:txBody>
      </p:sp>
      <p:sp>
        <p:nvSpPr>
          <p:cNvPr id="6" name="TextBox 5"/>
          <p:cNvSpPr txBox="1"/>
          <p:nvPr/>
        </p:nvSpPr>
        <p:spPr>
          <a:xfrm>
            <a:off x="6217920" y="3977639"/>
            <a:ext cx="5486400" cy="365760"/>
          </a:xfrm>
          <a:prstGeom prst="rect">
            <a:avLst/>
          </a:prstGeom>
          <a:noFill/>
        </p:spPr>
        <p:txBody>
          <a:bodyPr wrap="none" anchor="t" lIns="0" rIns="0" tIns="0" bIns="0">
            <a:spAutoFit/>
          </a:bodyPr>
          <a:lstStyle/>
          <a:p>
            <a:pPr algn="r"/>
            <a:r>
              <a:rPr sz="1600" b="1">
                <a:solidFill>
                  <a:srgbClr val="FFFFFF"/>
                </a:solidFill>
                <a:latin typeface="Arial"/>
              </a:rPr>
              <a:t>LIG Defense&amp;Aerospace</a:t>
            </a:r>
          </a:p>
        </p:txBody>
      </p:sp>
      <p:sp>
        <p:nvSpPr>
          <p:cNvPr id="7" name="TextBox 6"/>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레이다 시스템 소프트웨어 스터디  ·  Part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1551208" y="3347631"/>
            <a:ext cx="4334607" cy="1970276"/>
          </a:xfrm>
          <a:prstGeom prst="roundRect">
            <a:avLst>
              <a:gd name="adj" fmla="val 4800"/>
            </a:avLst>
          </a:prstGeom>
          <a:solidFill>
            <a:srgbClr val="1E3357"/>
          </a:solidFill>
          <a:ln/>
        </p:spPr>
        <p:txBody>
          <a:bodyPr/>
          <a:p/>
        </p:txBody>
      </p:sp>
      <p:sp>
        <p:nvSpPr>
          <p:cNvPr id="4" name="Text 2"/>
          <p:cNvSpPr txBox="1"/>
          <p:nvPr/>
        </p:nvSpPr>
        <p:spPr>
          <a:xfrm>
            <a:off x="1787641" y="3521015"/>
            <a:ext cx="3861741" cy="267957"/>
          </a:xfrm>
          <a:prstGeom prst="rect">
            <a:avLst/>
          </a:prstGeom>
          <a:noFill/>
          <a:ln/>
        </p:spPr>
        <p:txBody>
          <a:bodyPr wrap="square" lIns="0" tIns="0" rIns="0" bIns="0" rtlCol="0" anchor="ctr"/>
          <a:lstStyle/>
          <a:p>
            <a:pPr indent="0" marL="0">
              <a:buNone/>
            </a:pPr>
            <a:r>
              <a:rPr lang="en-US" sz="1120" dirty="0">
                <a:solidFill>
                  <a:srgbClr val="8FA6CC"/>
                </a:solidFill>
                <a:latin typeface="맑은 고딕" pitchFamily="34" charset="0"/>
                <a:ea typeface="맑은 고딕" pitchFamily="34" charset="-122"/>
                <a:cs typeface="맑은 고딕" pitchFamily="34" charset="-120"/>
              </a:rPr>
              <a:t>레이다(신호처리)가 주는 값</a:t>
            </a:r>
            <a:endParaRPr lang="en-US" sz="1300" dirty="0"/>
          </a:p>
        </p:txBody>
      </p:sp>
      <p:sp>
        <p:nvSpPr>
          <p:cNvPr id="5" name="Text 3"/>
          <p:cNvSpPr txBox="1"/>
          <p:nvPr/>
        </p:nvSpPr>
        <p:spPr>
          <a:xfrm>
            <a:off x="1787641" y="3867784"/>
            <a:ext cx="3861741" cy="1024543"/>
          </a:xfrm>
          <a:prstGeom prst="rect">
            <a:avLst/>
          </a:prstGeom>
          <a:noFill/>
          <a:ln/>
        </p:spPr>
        <p:txBody>
          <a:bodyPr wrap="square" lIns="0" tIns="0" rIns="0" bIns="0" rtlCol="0" anchor="ctr"/>
          <a:lstStyle/>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"20 km 앞,</a:t>
            </a:r>
            <a:endParaRPr lang="en-US" sz="2600" dirty="0"/>
          </a:p>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오른쪽으로 30도"</a:t>
            </a:r>
            <a:endParaRPr lang="en-US" sz="2600" dirty="0"/>
          </a:p>
        </p:txBody>
      </p:sp>
      <p:sp>
        <p:nvSpPr>
          <p:cNvPr id="6" name="Text 4"/>
          <p:cNvSpPr txBox="1"/>
          <p:nvPr/>
        </p:nvSpPr>
        <p:spPr>
          <a:xfrm>
            <a:off x="1787641" y="4923852"/>
            <a:ext cx="3861741" cy="252195"/>
          </a:xfrm>
          <a:prstGeom prst="rect">
            <a:avLst/>
          </a:prstGeom>
          <a:noFill/>
          <a:ln/>
        </p:spPr>
        <p:txBody>
          <a:bodyPr wrap="square" lIns="0" tIns="0" rIns="0" bIns="0" rtlCol="0" anchor="ctr"/>
          <a:lstStyle/>
          <a:p>
            <a:pPr indent="0" marL="0">
              <a:buNone/>
            </a:pPr>
            <a:r>
              <a:rPr lang="en-US" sz="1030" i="1" dirty="0">
                <a:solidFill>
                  <a:srgbClr val="8FA6CC"/>
                </a:solidFill>
                <a:latin typeface="맑은 고딕" pitchFamily="34" charset="0"/>
                <a:ea typeface="맑은 고딕" pitchFamily="34" charset="-122"/>
                <a:cs typeface="맑은 고딕" pitchFamily="34" charset="-120"/>
              </a:rPr>
              <a:t>안테나 자기 정면 기준</a:t>
            </a:r>
            <a:endParaRPr lang="en-US" sz="1200" dirty="0"/>
          </a:p>
        </p:txBody>
      </p:sp>
      <p:sp>
        <p:nvSpPr>
          <p:cNvPr id="7" name="Shape 5"/>
          <p:cNvSpPr/>
          <p:nvPr/>
        </p:nvSpPr>
        <p:spPr>
          <a:xfrm>
            <a:off x="6279871" y="3347631"/>
            <a:ext cx="4334607" cy="1970276"/>
          </a:xfrm>
          <a:prstGeom prst="roundRect">
            <a:avLst>
              <a:gd name="adj" fmla="val 4800"/>
            </a:avLst>
          </a:prstGeom>
          <a:solidFill>
            <a:srgbClr val="C2521C"/>
          </a:solidFill>
          <a:ln/>
        </p:spPr>
        <p:txBody>
          <a:bodyPr/>
          <a:p/>
        </p:txBody>
      </p:sp>
      <p:sp>
        <p:nvSpPr>
          <p:cNvPr id="8" name="Text 6"/>
          <p:cNvSpPr txBox="1"/>
          <p:nvPr/>
        </p:nvSpPr>
        <p:spPr>
          <a:xfrm>
            <a:off x="6516304" y="3521015"/>
            <a:ext cx="3861741" cy="267957"/>
          </a:xfrm>
          <a:prstGeom prst="rect">
            <a:avLst/>
          </a:prstGeom>
          <a:noFill/>
          <a:ln/>
        </p:spPr>
        <p:txBody>
          <a:bodyPr wrap="square" lIns="0" tIns="0" rIns="0" bIns="0" rtlCol="0" anchor="ctr"/>
          <a:lstStyle/>
          <a:p>
            <a:pPr indent="0" marL="0">
              <a:buNone/>
            </a:pPr>
            <a:r>
              <a:rPr lang="en-US" sz="1120" dirty="0">
                <a:solidFill>
                  <a:srgbClr val="F6D8C6"/>
                </a:solidFill>
                <a:latin typeface="맑은 고딕" pitchFamily="34" charset="0"/>
                <a:ea typeface="맑은 고딕" pitchFamily="34" charset="-122"/>
                <a:cs typeface="맑은 고딕" pitchFamily="34" charset="-120"/>
              </a:rPr>
              <a:t>전시기에 보여야 하는 값</a:t>
            </a:r>
            <a:endParaRPr lang="en-US" sz="1300" dirty="0"/>
          </a:p>
        </p:txBody>
      </p:sp>
      <p:sp>
        <p:nvSpPr>
          <p:cNvPr id="9" name="Text 7"/>
          <p:cNvSpPr txBox="1"/>
          <p:nvPr/>
        </p:nvSpPr>
        <p:spPr>
          <a:xfrm>
            <a:off x="6516304" y="3867784"/>
            <a:ext cx="3861741" cy="1024543"/>
          </a:xfrm>
          <a:prstGeom prst="rect">
            <a:avLst/>
          </a:prstGeom>
          <a:noFill/>
          <a:ln/>
        </p:spPr>
        <p:txBody>
          <a:bodyPr wrap="square" lIns="0" tIns="0" rIns="0" bIns="0" rtlCol="0" anchor="ctr"/>
          <a:lstStyle/>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"북위 36.2337도,</a:t>
            </a:r>
            <a:endParaRPr lang="en-US" sz="2600" dirty="0"/>
          </a:p>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동경 127.3643도"</a:t>
            </a:r>
            <a:endParaRPr lang="en-US" sz="2600" dirty="0"/>
          </a:p>
        </p:txBody>
      </p:sp>
      <p:sp>
        <p:nvSpPr>
          <p:cNvPr id="10" name="Text 8"/>
          <p:cNvSpPr txBox="1"/>
          <p:nvPr/>
        </p:nvSpPr>
        <p:spPr>
          <a:xfrm>
            <a:off x="6516304" y="4923852"/>
            <a:ext cx="3861741" cy="252195"/>
          </a:xfrm>
          <a:prstGeom prst="rect">
            <a:avLst/>
          </a:prstGeom>
          <a:noFill/>
          <a:ln/>
        </p:spPr>
        <p:txBody>
          <a:bodyPr wrap="square" lIns="0" tIns="0" rIns="0" bIns="0" rtlCol="0" anchor="ctr"/>
          <a:lstStyle/>
          <a:p>
            <a:pPr indent="0" marL="0">
              <a:buNone/>
            </a:pPr>
            <a:r>
              <a:rPr lang="en-US" sz="1030" i="1" dirty="0">
                <a:solidFill>
                  <a:srgbClr val="F6D8C6"/>
                </a:solidFill>
                <a:latin typeface="맑은 고딕" pitchFamily="34" charset="0"/>
                <a:ea typeface="맑은 고딕" pitchFamily="34" charset="-122"/>
                <a:cs typeface="맑은 고딕" pitchFamily="34" charset="-120"/>
              </a:rPr>
              <a:t>지구 전체 기준</a:t>
            </a:r>
            <a:endParaRPr lang="en-US" sz="1200" dirty="0"/>
          </a:p>
        </p:txBody>
      </p:sp>
      <p:sp>
        <p:nvSpPr>
          <p:cNvPr id="11" name="Text 9"/>
          <p:cNvSpPr txBox="1"/>
          <p:nvPr/>
        </p:nvSpPr>
        <p:spPr>
          <a:xfrm>
            <a:off x="1551208" y="5412480"/>
            <a:ext cx="9063270" cy="472866"/>
          </a:xfrm>
          <a:prstGeom prst="rect">
            <a:avLst/>
          </a:prstGeom>
          <a:noFill/>
          <a:ln/>
        </p:spPr>
        <p:txBody>
          <a:bodyPr wrap="square" lIns="0" tIns="0" rIns="0" bIns="0" rtlCol="0" anchor="ctr"/>
          <a:lstStyle/>
          <a:p>
            <a:pPr algn="ctr" indent="0" marL="0">
              <a:buNone/>
            </a:pPr>
            <a:r>
              <a:rPr lang="en-US" sz="2330" b="1" dirty="0">
                <a:solidFill>
                  <a:srgbClr val="C9D6EC"/>
                </a:solidFill>
                <a:latin typeface="맑은 고딕" pitchFamily="34" charset="0"/>
                <a:ea typeface="맑은 고딕" pitchFamily="34" charset="-122"/>
                <a:cs typeface="맑은 고딕" pitchFamily="34" charset="-120"/>
              </a:rPr>
              <a:t>그 사이를 메우는 것이  좌표변환</a:t>
            </a:r>
            <a:endParaRPr lang="en-US" sz="2700" dirty="0"/>
          </a:p>
        </p:txBody>
      </p:sp>
      <p:sp>
        <p:nvSpPr>
          <p:cNvPr id="12" name="Text 10"/>
          <p:cNvSpPr txBox="1"/>
          <p:nvPr/>
        </p:nvSpPr>
        <p:spPr>
          <a:xfrm>
            <a:off x="1551208" y="5948395"/>
            <a:ext cx="9063270" cy="315244"/>
          </a:xfrm>
          <a:prstGeom prst="rect">
            <a:avLst/>
          </a:prstGeom>
          <a:noFill/>
          <a:ln/>
        </p:spPr>
        <p:txBody>
          <a:bodyPr wrap="square" lIns="0" tIns="0" rIns="0" bIns="0" rtlCol="0" anchor="ctr"/>
          <a:lstStyle/>
          <a:p>
            <a:pPr algn="ctr" indent="0" marL="0">
              <a:buNone/>
            </a:pPr>
            <a:r>
              <a:rPr lang="en-US" sz="1210" dirty="0">
                <a:solidFill>
                  <a:srgbClr val="7189B5"/>
                </a:solidFill>
                <a:latin typeface="맑은 고딕" pitchFamily="34" charset="0"/>
                <a:ea typeface="맑은 고딕" pitchFamily="34" charset="-122"/>
                <a:cs typeface="맑은 고딕" pitchFamily="34" charset="-120"/>
              </a:rPr>
              <a:t>안테나는 배가 어느 방향을 향하는지도, 지금 위도가 몇 도인지도 모른다</a:t>
            </a:r>
            <a:endParaRPr lang="en-US" sz="1400" dirty="0"/>
          </a:p>
        </p:txBody>
      </p:sp>
      <p:pic>
        <p:nvPicPr>
          <p:cNvPr id="20" name="Image 2" descr="fig15_scope_vs_chart.png"/>
          <p:cNvPicPr>
            <a:picLocks noChangeAspect="1"/>
          </p:cNvPicPr>
          <p:nvPr/>
        </p:nvPicPr>
        <p:blipFill>
          <a:blip r:embed="rId3"/>
          <a:stretch>
            <a:fillRect/>
          </a:stretch>
        </p:blipFill>
        <p:spPr>
          <a:xfrm>
            <a:off x="1551208" y="1755648"/>
            <a:ext cx="9063270" cy="1483502"/>
          </a:xfrm>
          <a:prstGeom prst="rect">
            <a:avLst/>
          </a:prstGeom>
        </p:spPr>
      </p:pic>
      <p:sp>
        <p:nvSpPr>
          <p:cNvPr id="21" name="TextBox 20"/>
          <p:cNvSpPr txBox="1"/>
          <p:nvPr/>
        </p:nvSpPr>
        <p:spPr>
          <a:xfrm>
            <a:off x="502920" y="384048"/>
            <a:ext cx="1463040" cy="640080"/>
          </a:xfrm>
          <a:prstGeom prst="rect">
            <a:avLst/>
          </a:prstGeom>
          <a:noFill/>
        </p:spPr>
        <p:txBody>
          <a:bodyPr wrap="none" anchor="ctr" lIns="0" rIns="0" tIns="0" bIns="0">
            <a:spAutoFit/>
          </a:bodyPr>
          <a:lstStyle/>
          <a:p>
            <a:pPr algn="l"/>
            <a:r>
              <a:rPr sz="3400" b="1">
                <a:solidFill>
                  <a:srgbClr val="FFFFFF"/>
                </a:solidFill>
                <a:latin typeface="Arial"/>
              </a:rPr>
              <a:t>LIG</a:t>
            </a:r>
          </a:p>
        </p:txBody>
      </p:sp>
      <p:cxnSp>
        <p:nvCxnSpPr>
          <p:cNvPr id="22" name="Connector 21"/>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144000" y="640080"/>
            <a:ext cx="2194560" cy="292608"/>
          </a:xfrm>
          <a:prstGeom prst="rect">
            <a:avLst/>
          </a:prstGeom>
          <a:solidFill>
            <a:srgbClr val="13233F"/>
          </a:solidFill>
        </p:spPr>
        <p:txBody>
          <a:bodyPr wrap="none" anchor="ctr" lIns="0" rIns="0" tIns="0" bIns="0">
            <a:spAutoFit/>
          </a:bodyPr>
          <a:lstStyle/>
          <a:p>
            <a:pPr algn="ctr"/>
            <a:r>
              <a:rPr sz="1100" b="1">
                <a:solidFill>
                  <a:srgbClr val="FFFFFF"/>
                </a:solidFill>
                <a:latin typeface="Arial"/>
              </a:rPr>
              <a:t>LIG Defense&amp;Aerospace</a:t>
            </a:r>
          </a:p>
        </p:txBody>
      </p:sp>
      <p:sp>
        <p:nvSpPr>
          <p:cNvPr id="24" name="TextBox 23"/>
          <p:cNvSpPr txBox="1"/>
          <p:nvPr/>
        </p:nvSpPr>
        <p:spPr>
          <a:xfrm>
            <a:off x="868680" y="1078992"/>
            <a:ext cx="10515600" cy="530352"/>
          </a:xfrm>
          <a:prstGeom prst="rect">
            <a:avLst/>
          </a:prstGeom>
          <a:noFill/>
        </p:spPr>
        <p:txBody>
          <a:bodyPr wrap="square" anchor="ctr" lIns="0" rIns="0" tIns="0" bIns="0">
            <a:spAutoFit/>
          </a:bodyPr>
          <a:lstStyle/>
          <a:p>
            <a:pPr algn="l"/>
            <a:r>
              <a:rPr sz="2700" b="1">
                <a:solidFill>
                  <a:srgbClr val="FFFFFF"/>
                </a:solidFill>
                <a:latin typeface="맑은 고딕"/>
              </a:rPr>
              <a:t>레이다가 잰 값과  전시기에 보일 값은 다르다</a:t>
            </a:r>
          </a:p>
        </p:txBody>
      </p:sp>
      <p:cxnSp>
        <p:nvCxnSpPr>
          <p:cNvPr id="25" name="Connector 2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FFFFFF"/>
                </a:solidFill>
                <a:latin typeface="Arial"/>
              </a:rPr>
              <a:t>LIG Defense&amp;Aerospace</a:t>
            </a:r>
          </a:p>
        </p:txBody>
      </p: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INDEX</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24160" y="365760"/>
            <a:ext cx="1280160" cy="548640"/>
          </a:xfrm>
          <a:prstGeom prst="rect">
            <a:avLst/>
          </a:prstGeom>
          <a:noFill/>
        </p:spPr>
        <p:txBody>
          <a:bodyPr wrap="none" anchor="ctr" lIns="0" rIns="0" tIns="0" bIns="0">
            <a:spAutoFit/>
          </a:bodyPr>
          <a:lstStyle/>
          <a:p>
            <a:pPr algn="r"/>
            <a:r>
              <a:rPr sz="3000" b="1">
                <a:solidFill>
                  <a:srgbClr val="13233F"/>
                </a:solidFill>
                <a:latin typeface="Arial"/>
              </a:rPr>
              <a:t>LIG</a:t>
            </a:r>
          </a:p>
        </p:txBody>
      </p:sp>
      <p:sp>
        <p:nvSpPr>
          <p:cNvPr id="6" name="TextBox 5"/>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목차</a:t>
            </a:r>
          </a:p>
        </p:txBody>
      </p:sp>
      <p:sp>
        <p:nvSpPr>
          <p:cNvPr id="7" name="TextBox 6"/>
          <p:cNvSpPr txBox="1"/>
          <p:nvPr/>
        </p:nvSpPr>
        <p:spPr>
          <a:xfrm>
            <a:off x="411480" y="6400800"/>
            <a:ext cx="3200400" cy="274320"/>
          </a:xfrm>
          <a:prstGeom prst="rect">
            <a:avLst/>
          </a:prstGeom>
          <a:noFill/>
        </p:spPr>
        <p:txBody>
          <a:bodyPr wrap="none" anchor="t" lIns="0" rIns="0" tIns="0" bIns="0">
            <a:spAutoFit/>
          </a:bodyPr>
          <a:lstStyle/>
          <a:p>
            <a:pPr algn="l"/>
            <a:r>
              <a:rPr sz="1000" b="1">
                <a:solidFill>
                  <a:srgbClr val="FFFFFF"/>
                </a:solidFill>
                <a:latin typeface="Arial"/>
              </a:rPr>
              <a:t>LIG Defense&amp;Aerospace</a:t>
            </a:r>
          </a:p>
        </p:txBody>
      </p:sp>
      <p:sp>
        <p:nvSpPr>
          <p:cNvPr id="8" name="TextBox 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9" name="TextBox 8"/>
          <p:cNvSpPr txBox="1"/>
          <p:nvPr/>
        </p:nvSpPr>
        <p:spPr>
          <a:xfrm>
            <a:off x="5074920" y="1481328"/>
            <a:ext cx="1005840" cy="566928"/>
          </a:xfrm>
          <a:prstGeom prst="rect">
            <a:avLst/>
          </a:prstGeom>
          <a:noFill/>
        </p:spPr>
        <p:txBody>
          <a:bodyPr wrap="none" anchor="ctr" lIns="0" rIns="0" tIns="0" bIns="0">
            <a:spAutoFit/>
          </a:bodyPr>
          <a:lstStyle/>
          <a:p>
            <a:pPr algn="l"/>
            <a:r>
              <a:rPr sz="3400" b="1">
                <a:solidFill>
                  <a:srgbClr val="13233F"/>
                </a:solidFill>
                <a:latin typeface="Arial"/>
              </a:rPr>
              <a:t>00</a:t>
            </a:r>
          </a:p>
        </p:txBody>
      </p:sp>
      <p:sp>
        <p:nvSpPr>
          <p:cNvPr id="10" name="TextBox 9"/>
          <p:cNvSpPr txBox="1"/>
          <p:nvPr/>
        </p:nvSpPr>
        <p:spPr>
          <a:xfrm>
            <a:off x="6217920" y="1481328"/>
            <a:ext cx="2468880" cy="566928"/>
          </a:xfrm>
          <a:prstGeom prst="rect">
            <a:avLst/>
          </a:prstGeom>
          <a:noFill/>
        </p:spPr>
        <p:txBody>
          <a:bodyPr wrap="none" anchor="ctr" lIns="0" rIns="0" tIns="0" bIns="0">
            <a:spAutoFit/>
          </a:bodyPr>
          <a:lstStyle/>
          <a:p>
            <a:pPr algn="l"/>
            <a:r>
              <a:rPr sz="1900" b="0">
                <a:solidFill>
                  <a:srgbClr val="1A2233"/>
                </a:solidFill>
                <a:latin typeface="맑은 고딕"/>
              </a:rPr>
              <a:t>들어가며</a:t>
            </a:r>
          </a:p>
        </p:txBody>
      </p:sp>
      <p:sp>
        <p:nvSpPr>
          <p:cNvPr id="11" name="TextBox 10"/>
          <p:cNvSpPr txBox="1"/>
          <p:nvPr/>
        </p:nvSpPr>
        <p:spPr>
          <a:xfrm>
            <a:off x="8641080" y="1481328"/>
            <a:ext cx="3108960" cy="566928"/>
          </a:xfrm>
          <a:prstGeom prst="rect">
            <a:avLst/>
          </a:prstGeom>
          <a:noFill/>
        </p:spPr>
        <p:txBody>
          <a:bodyPr wrap="none" anchor="ctr" lIns="0" rIns="0" tIns="0" bIns="0">
            <a:spAutoFit/>
          </a:bodyPr>
          <a:lstStyle/>
          <a:p>
            <a:pPr algn="l"/>
            <a:r>
              <a:rPr sz="1150" b="0">
                <a:solidFill>
                  <a:srgbClr val="5A6478"/>
                </a:solidFill>
                <a:latin typeface="맑은 고딕"/>
              </a:rPr>
              <a:t>좌표계가 왜 여럿인가 · 변환의 두 동작</a:t>
            </a:r>
          </a:p>
        </p:txBody>
      </p:sp>
      <p:cxnSp>
        <p:nvCxnSpPr>
          <p:cNvPr id="12" name="Connector 11"/>
          <p:cNvCxnSpPr/>
          <p:nvPr/>
        </p:nvCxnSpPr>
        <p:spPr>
          <a:xfrm>
            <a:off x="5074920" y="232257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596896"/>
            <a:ext cx="1005840" cy="566928"/>
          </a:xfrm>
          <a:prstGeom prst="rect">
            <a:avLst/>
          </a:prstGeom>
          <a:noFill/>
        </p:spPr>
        <p:txBody>
          <a:bodyPr wrap="none" anchor="ctr" lIns="0" rIns="0" tIns="0" bIns="0">
            <a:spAutoFit/>
          </a:bodyPr>
          <a:lstStyle/>
          <a:p>
            <a:pPr algn="l"/>
            <a:r>
              <a:rPr sz="3400" b="1">
                <a:solidFill>
                  <a:srgbClr val="13233F"/>
                </a:solidFill>
                <a:latin typeface="Arial"/>
              </a:rPr>
              <a:t>01</a:t>
            </a:r>
          </a:p>
        </p:txBody>
      </p:sp>
      <p:sp>
        <p:nvSpPr>
          <p:cNvPr id="14" name="TextBox 13"/>
          <p:cNvSpPr txBox="1"/>
          <p:nvPr/>
        </p:nvSpPr>
        <p:spPr>
          <a:xfrm>
            <a:off x="6217920" y="2596896"/>
            <a:ext cx="2468880" cy="566928"/>
          </a:xfrm>
          <a:prstGeom prst="rect">
            <a:avLst/>
          </a:prstGeom>
          <a:noFill/>
        </p:spPr>
        <p:txBody>
          <a:bodyPr wrap="none" anchor="ctr" lIns="0" rIns="0" tIns="0" bIns="0">
            <a:spAutoFit/>
          </a:bodyPr>
          <a:lstStyle/>
          <a:p>
            <a:pPr algn="l"/>
            <a:r>
              <a:rPr sz="1900" b="0">
                <a:solidFill>
                  <a:srgbClr val="1A2233"/>
                </a:solidFill>
                <a:latin typeface="맑은 고딕"/>
              </a:rPr>
              <a:t>좌표계 여섯 가지</a:t>
            </a:r>
          </a:p>
        </p:txBody>
      </p:sp>
      <p:sp>
        <p:nvSpPr>
          <p:cNvPr id="15" name="TextBox 14"/>
          <p:cNvSpPr txBox="1"/>
          <p:nvPr/>
        </p:nvSpPr>
        <p:spPr>
          <a:xfrm>
            <a:off x="8641080" y="2596896"/>
            <a:ext cx="3108960" cy="566928"/>
          </a:xfrm>
          <a:prstGeom prst="rect">
            <a:avLst/>
          </a:prstGeom>
          <a:noFill/>
        </p:spPr>
        <p:txBody>
          <a:bodyPr wrap="none" anchor="ctr" lIns="0" rIns="0" tIns="0" bIns="0">
            <a:spAutoFit/>
          </a:bodyPr>
          <a:lstStyle/>
          <a:p>
            <a:pPr algn="l"/>
            <a:r>
              <a:rPr sz="1150" b="0">
                <a:solidFill>
                  <a:srgbClr val="5A6478"/>
                </a:solidFill>
                <a:latin typeface="맑은 고딕"/>
              </a:rPr>
              <a:t>안테나 · 동체 · INS
NED/ENU · ECEF/ECI · LLA</a:t>
            </a:r>
          </a:p>
        </p:txBody>
      </p:sp>
      <p:cxnSp>
        <p:nvCxnSpPr>
          <p:cNvPr id="16" name="Connector 15"/>
          <p:cNvCxnSpPr/>
          <p:nvPr/>
        </p:nvCxnSpPr>
        <p:spPr>
          <a:xfrm>
            <a:off x="5074920" y="343814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74920" y="3712464"/>
            <a:ext cx="1005840" cy="566928"/>
          </a:xfrm>
          <a:prstGeom prst="rect">
            <a:avLst/>
          </a:prstGeom>
          <a:noFill/>
        </p:spPr>
        <p:txBody>
          <a:bodyPr wrap="none" anchor="ctr" lIns="0" rIns="0" tIns="0" bIns="0">
            <a:spAutoFit/>
          </a:bodyPr>
          <a:lstStyle/>
          <a:p>
            <a:pPr algn="l"/>
            <a:r>
              <a:rPr sz="3400" b="1">
                <a:solidFill>
                  <a:srgbClr val="13233F"/>
                </a:solidFill>
                <a:latin typeface="Arial"/>
              </a:rPr>
              <a:t>02</a:t>
            </a:r>
          </a:p>
        </p:txBody>
      </p:sp>
      <p:sp>
        <p:nvSpPr>
          <p:cNvPr id="18" name="TextBox 17"/>
          <p:cNvSpPr txBox="1"/>
          <p:nvPr/>
        </p:nvSpPr>
        <p:spPr>
          <a:xfrm>
            <a:off x="6217920" y="3712464"/>
            <a:ext cx="2468880" cy="566928"/>
          </a:xfrm>
          <a:prstGeom prst="rect">
            <a:avLst/>
          </a:prstGeom>
          <a:noFill/>
        </p:spPr>
        <p:txBody>
          <a:bodyPr wrap="none" anchor="ctr" lIns="0" rIns="0" tIns="0" bIns="0">
            <a:spAutoFit/>
          </a:bodyPr>
          <a:lstStyle/>
          <a:p>
            <a:pPr algn="l"/>
            <a:r>
              <a:rPr sz="1900" b="0">
                <a:solidFill>
                  <a:srgbClr val="1A2233"/>
                </a:solidFill>
                <a:latin typeface="맑은 고딕"/>
              </a:rPr>
              <a:t>실전 설계</a:t>
            </a:r>
          </a:p>
        </p:txBody>
      </p:sp>
      <p:sp>
        <p:nvSpPr>
          <p:cNvPr id="19" name="TextBox 18"/>
          <p:cNvSpPr txBox="1"/>
          <p:nvPr/>
        </p:nvSpPr>
        <p:spPr>
          <a:xfrm>
            <a:off x="8641080" y="3712464"/>
            <a:ext cx="3108960" cy="566928"/>
          </a:xfrm>
          <a:prstGeom prst="rect">
            <a:avLst/>
          </a:prstGeom>
          <a:noFill/>
        </p:spPr>
        <p:txBody>
          <a:bodyPr wrap="none" anchor="ctr" lIns="0" rIns="0" tIns="0" bIns="0">
            <a:spAutoFit/>
          </a:bodyPr>
          <a:lstStyle/>
          <a:p>
            <a:pPr algn="l"/>
            <a:r>
              <a:rPr sz="1150" b="0">
                <a:solidFill>
                  <a:srgbClr val="5A6478"/>
                </a:solidFill>
                <a:latin typeface="맑은 고딕"/>
              </a:rPr>
              <a:t>함선 고정형 안테나의 5단계 변환 경로</a:t>
            </a:r>
          </a:p>
        </p:txBody>
      </p:sp>
      <p:cxnSp>
        <p:nvCxnSpPr>
          <p:cNvPr id="20" name="Connector 19"/>
          <p:cNvCxnSpPr/>
          <p:nvPr/>
        </p:nvCxnSpPr>
        <p:spPr>
          <a:xfrm>
            <a:off x="5074920" y="4553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74920" y="4828032"/>
            <a:ext cx="1005840" cy="566928"/>
          </a:xfrm>
          <a:prstGeom prst="rect">
            <a:avLst/>
          </a:prstGeom>
          <a:noFill/>
        </p:spPr>
        <p:txBody>
          <a:bodyPr wrap="none" anchor="ctr" lIns="0" rIns="0" tIns="0" bIns="0">
            <a:spAutoFit/>
          </a:bodyPr>
          <a:lstStyle/>
          <a:p>
            <a:pPr algn="l"/>
            <a:r>
              <a:rPr sz="3400" b="1">
                <a:solidFill>
                  <a:srgbClr val="13233F"/>
                </a:solidFill>
                <a:latin typeface="Arial"/>
              </a:rPr>
              <a:t>03</a:t>
            </a:r>
          </a:p>
        </p:txBody>
      </p:sp>
      <p:sp>
        <p:nvSpPr>
          <p:cNvPr id="22" name="TextBox 21"/>
          <p:cNvSpPr txBox="1"/>
          <p:nvPr/>
        </p:nvSpPr>
        <p:spPr>
          <a:xfrm>
            <a:off x="6217920" y="4828032"/>
            <a:ext cx="2468880" cy="566928"/>
          </a:xfrm>
          <a:prstGeom prst="rect">
            <a:avLst/>
          </a:prstGeom>
          <a:noFill/>
        </p:spPr>
        <p:txBody>
          <a:bodyPr wrap="none" anchor="ctr" lIns="0" rIns="0" tIns="0" bIns="0">
            <a:spAutoFit/>
          </a:bodyPr>
          <a:lstStyle/>
          <a:p>
            <a:pPr algn="l"/>
            <a:r>
              <a:rPr sz="1900" b="0">
                <a:solidFill>
                  <a:srgbClr val="1A2233"/>
                </a:solidFill>
                <a:latin typeface="맑은 고딕"/>
              </a:rPr>
              <a:t>C 로 확인</a:t>
            </a:r>
          </a:p>
        </p:txBody>
      </p:sp>
      <p:sp>
        <p:nvSpPr>
          <p:cNvPr id="23" name="TextBox 22"/>
          <p:cNvSpPr txBox="1"/>
          <p:nvPr/>
        </p:nvSpPr>
        <p:spPr>
          <a:xfrm>
            <a:off x="8641080" y="4828032"/>
            <a:ext cx="3108960" cy="566928"/>
          </a:xfrm>
          <a:prstGeom prst="rect">
            <a:avLst/>
          </a:prstGeom>
          <a:noFill/>
        </p:spPr>
        <p:txBody>
          <a:bodyPr wrap="none" anchor="ctr" lIns="0" rIns="0" tIns="0" bIns="0">
            <a:spAutoFit/>
          </a:bodyPr>
          <a:lstStyle/>
          <a:p>
            <a:pPr algn="l"/>
            <a:r>
              <a:rPr sz="1150" b="0">
                <a:solidFill>
                  <a:srgbClr val="5A6478"/>
                </a:solidFill>
                <a:latin typeface="맑은 고딕"/>
              </a:rPr>
              <a:t>구현 · 왕복 시험 · 확인 실험 · UI</a:t>
            </a:r>
          </a:p>
        </p:txBody>
      </p:sp>
      <p:sp>
        <p:nvSpPr>
          <p:cNvPr id="24" name="TextBox 23"/>
          <p:cNvSpPr txBox="1"/>
          <p:nvPr/>
        </p:nvSpPr>
        <p:spPr>
          <a:xfrm>
            <a:off x="5074920" y="5870448"/>
            <a:ext cx="6675120" cy="292608"/>
          </a:xfrm>
          <a:prstGeom prst="rect">
            <a:avLst/>
          </a:prstGeom>
          <a:noFill/>
        </p:spPr>
        <p:txBody>
          <a:bodyPr wrap="square" anchor="t" lIns="0" rIns="0" tIns="0" bIns="0">
            <a:spAutoFit/>
          </a:bodyPr>
          <a:lstStyle/>
          <a:p>
            <a:pPr algn="l"/>
            <a:r>
              <a:rPr sz="1150" b="0">
                <a:solidFill>
                  <a:srgbClr val="5A6478"/>
                </a:solidFill>
                <a:latin typeface="맑은 고딕"/>
              </a:rPr>
              <a:t>사전 지식은 삼각함수와 행렬 곱셈 정도면 충분합니다.  그마저도 필요한 곳에서 다시 설명합니다.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DF5"/>
        </a:solidFill>
        <a:effectLst/>
      </p:bgPr>
    </p:bg>
    <p:spTree>
      <p:nvGrpSpPr>
        <p:cNvPr id="1" name=""/>
        <p:cNvGrpSpPr/>
        <p:nvPr/>
      </p:nvGrpSpPr>
      <p:grpSpPr>
        <a:xfrm>
          <a:off x="0" y="0"/>
          <a:ext cx="0" cy="0"/>
          <a:chOff x="0" y="0"/>
          <a:chExt cx="0" cy="0"/>
        </a:xfrm>
      </p:grpSpPr>
      <p:sp>
        <p:nvSpPr>
          <p:cNvPr id="16" name="Rectangle 1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Shape 2"/>
          <p:cNvSpPr/>
          <p:nvPr/>
        </p:nvSpPr>
        <p:spPr>
          <a:xfrm>
            <a:off x="566928" y="5532467"/>
            <a:ext cx="11064240" cy="70374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532467"/>
            <a:ext cx="11064240" cy="703740"/>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네 줄 모두 같은 점입니다.  숫자를 바꾸는 것은 원점과 축뿐이고, 그 둘을 맞춰 주는 계산이 좌표변환입니다.</a:t>
            </a:r>
            <a:endParaRPr lang="en-US" sz="1500" dirty="0"/>
          </a:p>
        </p:txBody>
      </p:sp>
      <p:pic>
        <p:nvPicPr>
          <p:cNvPr id="7" name="Picture 6" descr="fig14_one_target.png"/>
          <p:cNvPicPr>
            <a:picLocks noChangeAspect="1"/>
          </p:cNvPicPr>
          <p:nvPr/>
        </p:nvPicPr>
        <p:blipFill>
          <a:blip r:embed="rId3"/>
          <a:stretch>
            <a:fillRect/>
          </a:stretch>
        </p:blipFill>
        <p:spPr>
          <a:xfrm>
            <a:off x="704087" y="1371600"/>
            <a:ext cx="6949440" cy="4002525"/>
          </a:xfrm>
          <a:prstGeom prst="rect">
            <a:avLst/>
          </a:prstGeom>
        </p:spPr>
      </p:pic>
      <p:sp>
        <p:nvSpPr>
          <p:cNvPr id="8" name="Card 0"/>
          <p:cNvSpPr/>
          <p:nvPr/>
        </p:nvSpPr>
        <p:spPr>
          <a:xfrm>
            <a:off x="8001000" y="1371600"/>
            <a:ext cx="3630168" cy="897269"/>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459567"/>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C2521C"/>
                </a:solidFill>
                <a:latin typeface="맑은 고딕" pitchFamily="34" charset="0"/>
                <a:ea typeface="맑은 고딕" pitchFamily="34" charset="-122"/>
                <a:cs typeface="맑은 고딕" pitchFamily="34" charset="-120"/>
              </a:rPr>
              <a:t>안테나 좌표계</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안테나 · 기준 방향 보어사이트</a:t>
            </a:r>
            <a:endParaRPr lang="en-US" sz="1050" dirty="0"/>
          </a:p>
          <a:p>
            <a:pPr indent="0" marL="0">
              <a:lnSpc>
                <a:spcPts val="1635"/>
              </a:lnSpc>
              <a:buNone/>
            </a:pPr>
            <a:r>
              <a:rPr lang="en-US" sz="1150" dirty="0" b="1">
                <a:solidFill>
                  <a:srgbClr val="C2521C"/>
                </a:solidFill>
                <a:latin typeface="맑은 고딕" pitchFamily="34" charset="0"/>
                <a:ea typeface="맑은 고딕" pitchFamily="34" charset="-122"/>
                <a:cs typeface="맑은 고딕" pitchFamily="34" charset="-120"/>
              </a:rPr>
              <a:t>정면에서 오른쪽 30°,  20,000 m</a:t>
            </a:r>
            <a:endParaRPr lang="en-US" sz="1200" dirty="0"/>
          </a:p>
        </p:txBody>
      </p:sp>
      <p:sp>
        <p:nvSpPr>
          <p:cNvPr id="10" name="Card 1"/>
          <p:cNvSpPr/>
          <p:nvPr/>
        </p:nvSpPr>
        <p:spPr>
          <a:xfrm>
            <a:off x="8001000" y="2374430"/>
            <a:ext cx="3630168" cy="897269"/>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62398"/>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2B57A6"/>
                </a:solidFill>
                <a:latin typeface="맑은 고딕" pitchFamily="34" charset="0"/>
                <a:ea typeface="맑은 고딕" pitchFamily="34" charset="-122"/>
                <a:cs typeface="맑은 고딕" pitchFamily="34" charset="-120"/>
              </a:rPr>
              <a:t>동체 좌표계</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무게중심 · 기준 방향 선수</a:t>
            </a:r>
            <a:endParaRPr lang="en-US" sz="1050" dirty="0"/>
          </a:p>
          <a:p>
            <a:pPr indent="0" marL="0">
              <a:lnSpc>
                <a:spcPts val="1635"/>
              </a:lnSpc>
              <a:buNone/>
            </a:pPr>
            <a:r>
              <a:rPr lang="en-US" sz="1150" dirty="0" b="1">
                <a:solidFill>
                  <a:srgbClr val="2B57A6"/>
                </a:solidFill>
                <a:latin typeface="맑은 고딕" pitchFamily="34" charset="0"/>
                <a:ea typeface="맑은 고딕" pitchFamily="34" charset="-122"/>
                <a:cs typeface="맑은 고딕" pitchFamily="34" charset="-120"/>
              </a:rPr>
              <a:t>선수에서 오른쪽 120°,  20,015 m</a:t>
            </a:r>
            <a:endParaRPr lang="en-US" sz="1200" dirty="0"/>
          </a:p>
        </p:txBody>
      </p:sp>
      <p:sp>
        <p:nvSpPr>
          <p:cNvPr id="12" name="Card 2"/>
          <p:cNvSpPr/>
          <p:nvPr/>
        </p:nvSpPr>
        <p:spPr>
          <a:xfrm>
            <a:off x="8001000" y="3377261"/>
            <a:ext cx="3630168" cy="897269"/>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65228"/>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2F855A"/>
                </a:solidFill>
                <a:latin typeface="맑은 고딕" pitchFamily="34" charset="0"/>
                <a:ea typeface="맑은 고딕" pitchFamily="34" charset="-122"/>
                <a:cs typeface="맑은 고딕" pitchFamily="34" charset="-120"/>
              </a:rPr>
              <a:t>NED 좌표계 (로컬)</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배 위치 · 기준 방향 진북</a:t>
            </a:r>
            <a:endParaRPr lang="en-US" sz="1050" dirty="0"/>
          </a:p>
          <a:p>
            <a:pPr indent="0" marL="0">
              <a:lnSpc>
                <a:spcPts val="1635"/>
              </a:lnSpc>
              <a:buNone/>
            </a:pPr>
            <a:r>
              <a:rPr lang="en-US" sz="1150" dirty="0" b="1">
                <a:solidFill>
                  <a:srgbClr val="2F855A"/>
                </a:solidFill>
                <a:latin typeface="맑은 고딕" pitchFamily="34" charset="0"/>
                <a:ea typeface="맑은 고딕" pitchFamily="34" charset="-122"/>
                <a:cs typeface="맑은 고딕" pitchFamily="34" charset="-120"/>
              </a:rPr>
              <a:t>진북에서 165° → 남 19,340 m · 동 5,155 m</a:t>
            </a:r>
            <a:endParaRPr lang="en-US" sz="1200" dirty="0"/>
          </a:p>
        </p:txBody>
      </p:sp>
      <p:sp>
        <p:nvSpPr>
          <p:cNvPr id="14" name="Card 3"/>
          <p:cNvSpPr/>
          <p:nvPr/>
        </p:nvSpPr>
        <p:spPr>
          <a:xfrm>
            <a:off x="8001000" y="4380091"/>
            <a:ext cx="3630168" cy="897269"/>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468059"/>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1A2233"/>
                </a:solidFill>
                <a:latin typeface="맑은 고딕" pitchFamily="34" charset="0"/>
                <a:ea typeface="맑은 고딕" pitchFamily="34" charset="-122"/>
                <a:cs typeface="맑은 고딕" pitchFamily="34" charset="-120"/>
              </a:rPr>
              <a:t>ECEF · LLA (지구)</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지구 중심 · 기준 적도면과 그리니치</a:t>
            </a:r>
            <a:endParaRPr lang="en-US" sz="1050" dirty="0"/>
          </a:p>
          <a:p>
            <a:pPr indent="0" marL="0">
              <a:lnSpc>
                <a:spcPts val="1635"/>
              </a:lnSpc>
              <a:buNone/>
            </a:pPr>
            <a:r>
              <a:rPr lang="en-US" sz="1150" dirty="0" b="1">
                <a:solidFill>
                  <a:srgbClr val="1A2233"/>
                </a:solidFill>
                <a:latin typeface="맑은 고딕" pitchFamily="34" charset="0"/>
                <a:ea typeface="맑은 고딕" pitchFamily="34" charset="-122"/>
                <a:cs typeface="맑은 고딕" pitchFamily="34" charset="-120"/>
              </a:rPr>
              <a:t>북위 36.2337°,  동경 127.3643°</a:t>
            </a:r>
            <a:endParaRPr lang="en-US" sz="1200" dirty="0"/>
          </a:p>
        </p:txBody>
      </p:sp>
      <p:sp>
        <p:nvSpPr>
          <p:cNvPr id="17" name="Rectangle 1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좌표계는 왜 여러 개나 필요할까</a:t>
            </a:r>
          </a:p>
          <a:p>
            <a:pPr algn="l">
              <a:lnSpc>
                <a:spcPts val="1400"/>
              </a:lnSpc>
            </a:pPr>
            <a:r>
              <a:rPr sz="1100" b="0">
                <a:solidFill>
                  <a:srgbClr val="C9D6EC"/>
                </a:solidFill>
                <a:latin typeface="맑은 고딕"/>
              </a:rPr>
              <a:t>표적은 하나입니다. 어디에서(원점) 어느 방향을 기준으로(축) 재느냐에 따라 숫자만 달라집니다</a:t>
            </a:r>
          </a:p>
        </p:txBody>
      </p:sp>
      <p:sp>
        <p:nvSpPr>
          <p:cNvPr id="19" name="TextBox 18"/>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0" name="Connector 1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22" name="TextBox 2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DF5"/>
        </a:solidFill>
        <a:effectLst/>
      </p:bgPr>
    </p:bg>
    <p:spTree>
      <p:nvGrpSpPr>
        <p:cNvPr id="1" name=""/>
        <p:cNvGrpSpPr/>
        <p:nvPr/>
      </p:nvGrpSpPr>
      <p:grpSpPr>
        <a:xfrm>
          <a:off x="0" y="0"/>
          <a:ext cx="0" cy="0"/>
          <a:chOff x="0" y="0"/>
          <a:chExt cx="0" cy="0"/>
        </a:xfrm>
      </p:grpSpPr>
      <p:sp>
        <p:nvSpPr>
          <p:cNvPr id="18" name="Rectangle 1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591056"/>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맑은 고딕" pitchFamily="34" charset="0"/>
                <a:ea typeface="맑은 고딕" pitchFamily="34" charset="-122"/>
                <a:cs typeface="맑은 고딕" pitchFamily="34" charset="-120"/>
              </a:rPr>
              <a:t>①</a:t>
            </a:r>
            <a:endParaRPr lang="en-US" sz="3400" dirty="0"/>
          </a:p>
        </p:txBody>
      </p:sp>
      <p:sp>
        <p:nvSpPr>
          <p:cNvPr id="6" name="Text 4"/>
          <p:cNvSpPr txBox="1"/>
          <p:nvPr/>
        </p:nvSpPr>
        <p:spPr>
          <a:xfrm>
            <a:off x="1554480" y="1554480"/>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맑은 고딕" pitchFamily="34" charset="0"/>
                <a:ea typeface="맑은 고딕" pitchFamily="34" charset="-122"/>
                <a:cs typeface="맑은 고딕" pitchFamily="34" charset="-120"/>
              </a:rPr>
              <a:t>원점이 어디인가?</a:t>
            </a:r>
            <a:endParaRPr lang="en-US" sz="1800" dirty="0"/>
          </a:p>
        </p:txBody>
      </p:sp>
      <p:sp>
        <p:nvSpPr>
          <p:cNvPr id="7" name="Text 5"/>
          <p:cNvSpPr txBox="1"/>
          <p:nvPr/>
        </p:nvSpPr>
        <p:spPr>
          <a:xfrm>
            <a:off x="5303520" y="1536192"/>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"0, 0, 0" 이 물리적으로 어느 지점인가.</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평행이동 계산의 기준이 된다.</a:t>
            </a:r>
            <a:endParaRPr lang="en-US" sz="1300" dirty="0"/>
          </a:p>
        </p:txBody>
      </p:sp>
      <p:sp>
        <p:nvSpPr>
          <p:cNvPr id="8" name="Shape 6"/>
          <p:cNvSpPr/>
          <p:nvPr/>
        </p:nvSpPr>
        <p:spPr>
          <a:xfrm>
            <a:off x="566928" y="2788920"/>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008375"/>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맑은 고딕" pitchFamily="34" charset="0"/>
                <a:ea typeface="맑은 고딕" pitchFamily="34" charset="-122"/>
                <a:cs typeface="맑은 고딕" pitchFamily="34" charset="-120"/>
              </a:rPr>
              <a:t>②</a:t>
            </a:r>
            <a:endParaRPr lang="en-US" sz="3400" dirty="0"/>
          </a:p>
        </p:txBody>
      </p:sp>
      <p:sp>
        <p:nvSpPr>
          <p:cNvPr id="10" name="Text 8"/>
          <p:cNvSpPr txBox="1"/>
          <p:nvPr/>
        </p:nvSpPr>
        <p:spPr>
          <a:xfrm>
            <a:off x="1554480" y="2971799"/>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맑은 고딕" pitchFamily="34" charset="0"/>
                <a:ea typeface="맑은 고딕" pitchFamily="34" charset="-122"/>
                <a:cs typeface="맑은 고딕" pitchFamily="34" charset="-120"/>
              </a:rPr>
              <a:t>축이 어디를 향하는가?</a:t>
            </a:r>
            <a:endParaRPr lang="en-US" sz="1800" dirty="0"/>
          </a:p>
        </p:txBody>
      </p:sp>
      <p:sp>
        <p:nvSpPr>
          <p:cNvPr id="11" name="Text 9"/>
          <p:cNvSpPr txBox="1"/>
          <p:nvPr/>
        </p:nvSpPr>
        <p:spPr>
          <a:xfrm>
            <a:off x="5303520" y="2953511"/>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특히 z 가 위인지 아래인지.</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x 앞 · y 오른쪽으로 잡으면 z 는 저절로 아래가 된다.</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항법 분야의 이 관습, 처음엔 거의 반드시 헷갈린다.</a:t>
            </a:r>
            <a:endParaRPr lang="en-US" sz="1300" dirty="0"/>
          </a:p>
        </p:txBody>
      </p:sp>
      <p:sp>
        <p:nvSpPr>
          <p:cNvPr id="12" name="Shape 10"/>
          <p:cNvSpPr/>
          <p:nvPr/>
        </p:nvSpPr>
        <p:spPr>
          <a:xfrm>
            <a:off x="566928" y="4206240"/>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425696"/>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맑은 고딕" pitchFamily="34" charset="0"/>
                <a:ea typeface="맑은 고딕" pitchFamily="34" charset="-122"/>
                <a:cs typeface="맑은 고딕" pitchFamily="34" charset="-120"/>
              </a:rPr>
              <a:t>③</a:t>
            </a:r>
            <a:endParaRPr lang="en-US" sz="3400" dirty="0"/>
          </a:p>
        </p:txBody>
      </p:sp>
      <p:sp>
        <p:nvSpPr>
          <p:cNvPr id="14" name="Text 12"/>
          <p:cNvSpPr txBox="1"/>
          <p:nvPr/>
        </p:nvSpPr>
        <p:spPr>
          <a:xfrm>
            <a:off x="1554480" y="4389120"/>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맑은 고딕" pitchFamily="34" charset="0"/>
                <a:ea typeface="맑은 고딕" pitchFamily="34" charset="-122"/>
                <a:cs typeface="맑은 고딕" pitchFamily="34" charset="-120"/>
              </a:rPr>
              <a:t>무엇에 붙어 있는가?</a:t>
            </a:r>
            <a:endParaRPr lang="en-US" sz="1800" dirty="0"/>
          </a:p>
        </p:txBody>
      </p:sp>
      <p:sp>
        <p:nvSpPr>
          <p:cNvPr id="15" name="Text 13"/>
          <p:cNvSpPr txBox="1"/>
          <p:nvPr/>
        </p:nvSpPr>
        <p:spPr>
          <a:xfrm>
            <a:off x="5303520" y="4370831"/>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배에 붙어 있으면 배가 흔들릴 때</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좌표계도 같이 흔들린다.</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표적이 가만히 있어도 좌표값이 변한다.</a:t>
            </a:r>
            <a:endParaRPr lang="en-US" sz="1300" dirty="0"/>
          </a:p>
        </p:txBody>
      </p:sp>
      <p:sp>
        <p:nvSpPr>
          <p:cNvPr id="16" name="Shape 14"/>
          <p:cNvSpPr/>
          <p:nvPr/>
        </p:nvSpPr>
        <p:spPr>
          <a:xfrm>
            <a:off x="566928" y="5614416"/>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614416"/>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맑은 고딕" pitchFamily="34" charset="0"/>
                <a:ea typeface="맑은 고딕" pitchFamily="34" charset="-122"/>
                <a:cs typeface="맑은 고딕" pitchFamily="34" charset="-120"/>
              </a:rPr>
              <a:t>이 발표의 약속 :  안테나·동체·NED 좌표계에서 z 는 아래.  "10 m 위" 는  z = −10 입니다.</a:t>
            </a:r>
            <a:endParaRPr lang="en-US" sz="1500" dirty="0"/>
          </a:p>
        </p:txBody>
      </p:sp>
      <p:sp>
        <p:nvSpPr>
          <p:cNvPr id="19" name="Rectangle 1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좌표계를 읽는 세 가지 질문</a:t>
            </a:r>
          </a:p>
          <a:p>
            <a:pPr algn="l">
              <a:lnSpc>
                <a:spcPts val="1400"/>
              </a:lnSpc>
            </a:pPr>
            <a:r>
              <a:rPr sz="1100" b="0">
                <a:solidFill>
                  <a:srgbClr val="C9D6EC"/>
                </a:solidFill>
                <a:latin typeface="맑은 고딕"/>
              </a:rPr>
              <a:t>새 좌표계를 만나면 이 셋만 확인하면 됩니다</a:t>
            </a:r>
          </a:p>
        </p:txBody>
      </p:sp>
      <p:sp>
        <p:nvSpPr>
          <p:cNvPr id="21" name="TextBox 20"/>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2" name="Connector 2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24" name="TextBox 2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DF5"/>
        </a:solidFill>
        <a:effectLst/>
      </p:bgPr>
    </p:bg>
    <p:spTree>
      <p:nvGrpSpPr>
        <p:cNvPr id="1" name=""/>
        <p:cNvGrpSpPr/>
        <p:nvPr/>
      </p:nvGrpSpPr>
      <p:grpSpPr>
        <a:xfrm>
          <a:off x="0" y="0"/>
          <a:ext cx="0" cy="0"/>
          <a:chOff x="0" y="0"/>
          <a:chExt cx="0" cy="0"/>
        </a:xfrm>
      </p:grpSpPr>
      <p:sp>
        <p:nvSpPr>
          <p:cNvPr id="19" name="Rectangle 18"/>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627632"/>
            <a:ext cx="402336" cy="402336"/>
          </a:xfrm>
          <a:prstGeom prst="ellipse">
            <a:avLst/>
          </a:prstGeom>
          <a:solidFill>
            <a:srgbClr val="2B57A6"/>
          </a:solidFill>
          <a:ln/>
        </p:spPr>
        <p:txBody>
          <a:bodyPr/>
          <a:p/>
        </p:txBody>
      </p:sp>
      <p:sp>
        <p:nvSpPr>
          <p:cNvPr id="6" name="Text 4"/>
          <p:cNvSpPr txBox="1"/>
          <p:nvPr/>
        </p:nvSpPr>
        <p:spPr>
          <a:xfrm>
            <a:off x="868680"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7" name="Text 5"/>
          <p:cNvSpPr txBox="1"/>
          <p:nvPr/>
        </p:nvSpPr>
        <p:spPr>
          <a:xfrm>
            <a:off x="1444752" y="1627632"/>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맑은 고딕" pitchFamily="34" charset="0"/>
                <a:ea typeface="맑은 고딕" pitchFamily="34" charset="-122"/>
                <a:cs typeface="맑은 고딕" pitchFamily="34" charset="-120"/>
              </a:rPr>
              <a:t>회전 (rotation)</a:t>
            </a:r>
            <a:endParaRPr lang="en-US" sz="2100" dirty="0"/>
          </a:p>
        </p:txBody>
      </p:sp>
      <p:sp>
        <p:nvSpPr>
          <p:cNvPr id="8" name="Text 6"/>
          <p:cNvSpPr txBox="1"/>
          <p:nvPr/>
        </p:nvSpPr>
        <p:spPr>
          <a:xfrm>
            <a:off x="868680" y="2176272"/>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맑은 고딕" pitchFamily="34" charset="0"/>
                <a:ea typeface="맑은 고딕" pitchFamily="34" charset="-122"/>
                <a:cs typeface="맑은 고딕" pitchFamily="34" charset="-120"/>
              </a:rPr>
              <a:t>기준 방향이 다를 때</a:t>
            </a:r>
            <a:endParaRPr lang="en-US" sz="1500" dirty="0"/>
          </a:p>
        </p:txBody>
      </p:sp>
      <p:sp>
        <p:nvSpPr>
          <p:cNvPr id="9" name="Text 7"/>
          <p:cNvSpPr txBox="1"/>
          <p:nvPr/>
        </p:nvSpPr>
        <p:spPr>
          <a:xfrm>
            <a:off x="868680" y="2560320"/>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"내 정면"과 "배의 정면"이 다르면</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안테나가 우현 90도를 보고 있으니,</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안테나의 "앞"은 배의 "오른쪽"이다.</a:t>
            </a:r>
            <a:endParaRPr lang="en-US" sz="1350" dirty="0"/>
          </a:p>
        </p:txBody>
      </p:sp>
      <p:sp>
        <p:nvSpPr>
          <p:cNvPr id="10" name="Shape 8"/>
          <p:cNvSpPr/>
          <p:nvPr/>
        </p:nvSpPr>
        <p:spPr>
          <a:xfrm>
            <a:off x="6236208" y="1371600"/>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627632"/>
            <a:ext cx="402336" cy="402336"/>
          </a:xfrm>
          <a:prstGeom prst="ellipse">
            <a:avLst/>
          </a:prstGeom>
          <a:solidFill>
            <a:srgbClr val="C2521C"/>
          </a:solidFill>
          <a:ln/>
        </p:spPr>
        <p:txBody>
          <a:bodyPr/>
          <a:p/>
        </p:txBody>
      </p:sp>
      <p:sp>
        <p:nvSpPr>
          <p:cNvPr id="12" name="Text 10"/>
          <p:cNvSpPr txBox="1"/>
          <p:nvPr/>
        </p:nvSpPr>
        <p:spPr>
          <a:xfrm>
            <a:off x="6537960"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3" name="Text 11"/>
          <p:cNvSpPr txBox="1"/>
          <p:nvPr/>
        </p:nvSpPr>
        <p:spPr>
          <a:xfrm>
            <a:off x="7114032" y="1627632"/>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맑은 고딕" pitchFamily="34" charset="0"/>
                <a:ea typeface="맑은 고딕" pitchFamily="34" charset="-122"/>
                <a:cs typeface="맑은 고딕" pitchFamily="34" charset="-120"/>
              </a:rPr>
              <a:t>평행이동 (translation)</a:t>
            </a:r>
            <a:endParaRPr lang="en-US" sz="2100" dirty="0"/>
          </a:p>
        </p:txBody>
      </p:sp>
      <p:sp>
        <p:nvSpPr>
          <p:cNvPr id="14" name="Text 12"/>
          <p:cNvSpPr txBox="1"/>
          <p:nvPr/>
        </p:nvSpPr>
        <p:spPr>
          <a:xfrm>
            <a:off x="6537960" y="2176272"/>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맑은 고딕" pitchFamily="34" charset="0"/>
                <a:ea typeface="맑은 고딕" pitchFamily="34" charset="-122"/>
                <a:cs typeface="맑은 고딕" pitchFamily="34" charset="-120"/>
              </a:rPr>
              <a:t>기준 점이 다를 때</a:t>
            </a:r>
            <a:endParaRPr lang="en-US" sz="1500" dirty="0"/>
          </a:p>
        </p:txBody>
      </p:sp>
      <p:sp>
        <p:nvSpPr>
          <p:cNvPr id="15" name="Text 13"/>
          <p:cNvSpPr txBox="1"/>
          <p:nvPr/>
        </p:nvSpPr>
        <p:spPr>
          <a:xfrm>
            <a:off x="6537960" y="2560320"/>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안테나가 무게중심에서</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30 m 뒤 · 10 m 위에 있으면</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이 오프셋을 레버암이라 부른다.</a:t>
            </a:r>
            <a:endParaRPr lang="en-US" sz="1350" dirty="0"/>
          </a:p>
        </p:txBody>
      </p:sp>
      <p:sp>
        <p:nvSpPr>
          <p:cNvPr id="16" name="Text 14"/>
          <p:cNvSpPr txBox="1"/>
          <p:nvPr/>
        </p:nvSpPr>
        <p:spPr>
          <a:xfrm>
            <a:off x="566928" y="4535424"/>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맑은 고딕" pitchFamily="34" charset="0"/>
                <a:ea typeface="맑은 고딕" pitchFamily="34" charset="-122"/>
                <a:cs typeface="맑은 고딕" pitchFamily="34" charset="-120"/>
              </a:rPr>
              <a:t>모든 단계는 이 둘 중 하나거나, 둘 다입니다.  그게 전부입니다.</a:t>
            </a:r>
            <a:endParaRPr lang="en-US" sz="1900" dirty="0"/>
          </a:p>
        </p:txBody>
      </p:sp>
      <p:sp>
        <p:nvSpPr>
          <p:cNvPr id="17" name="Shape 15"/>
          <p:cNvSpPr/>
          <p:nvPr/>
        </p:nvSpPr>
        <p:spPr>
          <a:xfrm>
            <a:off x="566928" y="5157216"/>
            <a:ext cx="11064240" cy="1078992"/>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266944"/>
            <a:ext cx="10735056" cy="859536"/>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Rz(90°) 는 z 축(위아래 축) 둘레로 90° 돌리는 회전행렬입니다. 생김새는 다음 두 장에서 나옵니다.</a:t>
            </a:r>
            <a:endParaRPr lang="en-US" sz="1200" dirty="0"/>
          </a:p>
        </p:txBody>
      </p:sp>
      <p:sp>
        <p:nvSpPr>
          <p:cNvPr id="20" name="Rectangle 19"/>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변환은 두 동작뿐</a:t>
            </a:r>
          </a:p>
          <a:p>
            <a:pPr algn="l">
              <a:lnSpc>
                <a:spcPts val="1400"/>
              </a:lnSpc>
            </a:pPr>
            <a:r>
              <a:rPr sz="1100" b="0">
                <a:solidFill>
                  <a:srgbClr val="C9D6EC"/>
                </a:solidFill>
                <a:latin typeface="맑은 고딕"/>
              </a:rPr>
              <a:t>복잡한 수학처럼 들리지만 실제로 하는 일은 두 가지입니다</a:t>
            </a:r>
          </a:p>
        </p:txBody>
      </p:sp>
      <p:sp>
        <p:nvSpPr>
          <p:cNvPr id="22" name="TextBox 21"/>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3" name="Connector 22"/>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25" name="TextBox 2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DF5"/>
        </a:solidFill>
        <a:effectLst/>
      </p:bgPr>
    </p:bg>
    <p:spTree>
      <p:nvGrpSpPr>
        <p:cNvPr id="1" name=""/>
        <p:cNvGrpSpPr/>
        <p:nvPr/>
      </p:nvGrpSpPr>
      <p:grpSpPr>
        <a:xfrm>
          <a:off x="0" y="0"/>
          <a:ext cx="0" cy="0"/>
          <a:chOff x="0" y="0"/>
          <a:chExt cx="0" cy="0"/>
        </a:xfrm>
      </p:grpSpPr>
      <p:sp>
        <p:nvSpPr>
          <p:cNvPr id="8" name="Rectangle 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fig05_same_target.png"/>
          <p:cNvPicPr>
            <a:picLocks noChangeAspect="1"/>
          </p:cNvPicPr>
          <p:nvPr/>
        </p:nvPicPr>
        <p:blipFill>
          <a:blip r:embed="rId4"/>
          <a:stretch>
            <a:fillRect/>
          </a:stretch>
        </p:blipFill>
        <p:spPr>
          <a:xfrm>
            <a:off x="2503807" y="1371600"/>
            <a:ext cx="7184385" cy="3649821"/>
          </a:xfrm>
          <a:prstGeom prst="rect">
            <a:avLst/>
          </a:prstGeom>
        </p:spPr>
      </p:pic>
      <p:sp>
        <p:nvSpPr>
          <p:cNvPr id="4" name="Shape 1"/>
          <p:cNvSpPr/>
          <p:nvPr/>
        </p:nvSpPr>
        <p:spPr>
          <a:xfrm>
            <a:off x="566928" y="5145566"/>
            <a:ext cx="11064240" cy="1090641"/>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748"/>
            <a:ext cx="10735056" cy="363547"/>
          </a:xfrm>
          <a:prstGeom prst="rect">
            <a:avLst/>
          </a:prstGeom>
          <a:noFill/>
          <a:ln/>
        </p:spPr>
        <p:txBody>
          <a:bodyPr wrap="square" lIns="0" tIns="0" rIns="0" bIns="0" rtlCol="0" anchor="ctr"/>
          <a:lstStyle/>
          <a:p>
            <a:pPr algn="ctr" indent="0" marL="0">
              <a:buNone/>
            </a:pPr>
            <a:r>
              <a:rPr lang="en-US" sz="1510" b="1" dirty="0">
                <a:solidFill>
                  <a:srgbClr val="C2521C"/>
                </a:solidFill>
                <a:latin typeface="맑은 고딕" pitchFamily="34" charset="0"/>
                <a:ea typeface="맑은 고딕" pitchFamily="34" charset="-122"/>
                <a:cs typeface="맑은 고딕" pitchFamily="34" charset="-120"/>
              </a:rPr>
              <a:t>안테나의 "정면"이 함선의 "우현"이라서,  같은 표적이  (+17,320, +10,000)  →  (−10,000, +17,320)</a:t>
            </a:r>
            <a:endParaRPr lang="en-US" sz="1600" dirty="0"/>
          </a:p>
        </p:txBody>
      </p:sp>
      <p:sp>
        <p:nvSpPr>
          <p:cNvPr id="6" name="Text 3"/>
          <p:cNvSpPr txBox="1"/>
          <p:nvPr/>
        </p:nvSpPr>
        <p:spPr>
          <a:xfrm>
            <a:off x="731520" y="5664919"/>
            <a:ext cx="10735056" cy="363547"/>
          </a:xfrm>
          <a:prstGeom prst="rect">
            <a:avLst/>
          </a:prstGeom>
          <a:noFill/>
          <a:ln/>
        </p:spPr>
        <p:txBody>
          <a:bodyPr wrap="square" lIns="0" tIns="0" rIns="0" bIns="0" rtlCol="0" anchor="ctr"/>
          <a:lstStyle/>
          <a:p>
            <a:pPr algn="ctr" indent="0" marL="0">
              <a:buNone/>
            </a:pPr>
            <a:r>
              <a:rPr lang="en-US" sz="1330" dirty="0">
                <a:solidFill>
                  <a:srgbClr val="1A2233"/>
                </a:solidFill>
                <a:latin typeface="맑은 고딕" pitchFamily="34" charset="0"/>
                <a:ea typeface="맑은 고딕" pitchFamily="34" charset="-122"/>
                <a:cs typeface="맑은 고딕" pitchFamily="34" charset="-120"/>
              </a:rPr>
              <a:t>두 숫자가 자리를 바꾸고 부호 하나가 뒤집혔다.  이것이 90도 회전의 정체입니다.</a:t>
            </a:r>
            <a:endParaRPr lang="en-US" sz="1400" dirty="0"/>
          </a:p>
        </p:txBody>
      </p:sp>
      <p:sp>
        <p:nvSpPr>
          <p:cNvPr id="9" name="Rectangle 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00. 회전 — 표적이 아니라 축이 돌아간다</a:t>
            </a:r>
          </a:p>
        </p:txBody>
      </p:sp>
      <p:sp>
        <p:nvSpPr>
          <p:cNvPr id="11" name="TextBox 10"/>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12" name="Connector 1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14" name="TextBox 1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456782"/>
            <a:ext cx="6858000" cy="3542100"/>
          </a:xfrm>
          <a:prstGeom prst="rect">
            <a:avLst/>
          </a:prstGeom>
        </p:spPr>
      </p:pic>
      <p:sp>
        <p:nvSpPr>
          <p:cNvPr id="5" name="Shape 2"/>
          <p:cNvSpPr/>
          <p:nvPr/>
        </p:nvSpPr>
        <p:spPr>
          <a:xfrm>
            <a:off x="7699248" y="1371600"/>
            <a:ext cx="3931920" cy="38587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572768"/>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그래서 Rz(θ) 는 이렇게 생겼다</a:t>
            </a:r>
            <a:endParaRPr lang="en-US" sz="1500" dirty="0"/>
          </a:p>
        </p:txBody>
      </p:sp>
      <p:sp>
        <p:nvSpPr>
          <p:cNvPr id="7" name="Shape 4"/>
          <p:cNvSpPr/>
          <p:nvPr/>
        </p:nvSpPr>
        <p:spPr>
          <a:xfrm>
            <a:off x="7973568" y="2029967"/>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029967"/>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383279"/>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맑은 고딕" pitchFamily="34" charset="0"/>
                <a:ea typeface="맑은 고딕" pitchFamily="34" charset="-122"/>
                <a:cs typeface="맑은 고딕" pitchFamily="34" charset="-120"/>
              </a:rPr>
              <a:t>회전행렬이 늘 갖는 세 성질</a:t>
            </a:r>
            <a:endParaRPr lang="en-US" sz="1400" dirty="0"/>
          </a:p>
        </p:txBody>
      </p:sp>
      <p:sp>
        <p:nvSpPr>
          <p:cNvPr id="10" name="Text 7"/>
          <p:cNvSpPr txBox="1"/>
          <p:nvPr/>
        </p:nvSpPr>
        <p:spPr>
          <a:xfrm>
            <a:off x="7973568" y="3767328"/>
            <a:ext cx="3383280" cy="1335024"/>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맑은 고딕" pitchFamily="34" charset="0"/>
                <a:ea typeface="맑은 고딕" pitchFamily="34" charset="-122"/>
                <a:cs typeface="맑은 고딕" pitchFamily="34" charset="-120"/>
              </a:rPr>
              <a:t>행과 열의 길이가 1 이고 서로 직교(90°)한다</a:t>
            </a:r>
            <a:endParaRPr lang="en-US" sz="1200" dirty="0"/>
          </a:p>
          <a:p>
            <a:pPr marL="342900" indent="-342900">
              <a:lnSpc>
                <a:spcPts val="1700"/>
              </a:lnSpc>
              <a:spcAft>
                <a:spcPts val="600"/>
              </a:spcAft>
              <a:buSzPct val="100000"/>
              <a:buChar char="•"/>
            </a:pPr>
            <a:r>
              <a:rPr lang="en-US" sz="1200" dirty="0">
                <a:solidFill>
                  <a:srgbClr val="1A2233"/>
                </a:solidFill>
                <a:latin typeface="맑은 고딕" pitchFamily="34" charset="0"/>
                <a:ea typeface="맑은 고딕" pitchFamily="34" charset="-122"/>
                <a:cs typeface="맑은 고딕" pitchFamily="34" charset="-120"/>
              </a:rPr>
              <a:t>det = +1 — 크기를 안 바꾸고 거울상도 아니다</a:t>
            </a:r>
            <a:endParaRPr lang="en-US" sz="1200" dirty="0"/>
          </a:p>
          <a:p>
            <a:pPr marL="342900" indent="-342900">
              <a:lnSpc>
                <a:spcPts val="1700"/>
              </a:lnSpc>
              <a:spcAft>
                <a:spcPts val="600"/>
              </a:spcAft>
              <a:buSzPct val="100000"/>
              <a:buChar char="•"/>
            </a:pPr>
            <a:r>
              <a:rPr lang="en-US" sz="1200" dirty="0">
                <a:solidFill>
                  <a:srgbClr val="C2521C"/>
                </a:solidFill>
                <a:latin typeface="맑은 고딕" pitchFamily="34" charset="0"/>
                <a:ea typeface="맑은 고딕" pitchFamily="34" charset="-122"/>
                <a:cs typeface="맑은 고딕" pitchFamily="34" charset="-120"/>
              </a:rPr>
              <a:t>역행렬 = 전치(행·열 맞바꾸기, R⁻¹ = Rᵀ) — 되돌리기가 공짜다</a:t>
            </a:r>
            <a:endParaRPr lang="en-US" sz="1200" dirty="0"/>
          </a:p>
        </p:txBody>
      </p:sp>
      <p:sp>
        <p:nvSpPr>
          <p:cNvPr id="11" name="Shape 8"/>
          <p:cNvSpPr/>
          <p:nvPr/>
        </p:nvSpPr>
        <p:spPr>
          <a:xfrm>
            <a:off x="566928" y="5321808"/>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321808"/>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맑은 고딕" pitchFamily="34" charset="0"/>
                <a:ea typeface="맑은 고딕" pitchFamily="34" charset="-122"/>
                <a:cs typeface="맑은 고딕" pitchFamily="34" charset="-120"/>
              </a:rPr>
              <a:t>행렬을 쓰는 이유 :  ① 세 축을 한 번에 처리   ② 여러 회전을 곱해서 하나로 합침   ③ 되돌아갈 땐 전치만 하면 됨</a:t>
            </a:r>
            <a:endParaRPr lang="en-US" sz="150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회전행렬은 어디서 나오는가</a:t>
            </a:r>
          </a:p>
          <a:p>
            <a:pPr algn="l">
              <a:lnSpc>
                <a:spcPts val="1400"/>
              </a:lnSpc>
            </a:pPr>
            <a:r>
              <a:rPr sz="1100" b="0">
                <a:solidFill>
                  <a:srgbClr val="C9D6EC"/>
                </a:solidFill>
                <a:latin typeface="맑은 고딕"/>
              </a:rPr>
              <a:t>외울 것이 아니라 삼각함수 덧셈정리 한 줄에서 바로 나옵니다</a:t>
            </a:r>
          </a:p>
        </p:txBody>
      </p:sp>
      <p:sp>
        <p:nvSpPr>
          <p:cNvPr id="16" name="TextBox 15"/>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a:effectLst/>
      </p:bgPr>
    </p:bg>
    <p:spTree>
      <p:nvGrpSpPr>
        <p:cNvPr id="1" name=""/>
        <p:cNvGrpSpPr/>
        <p:nvPr/>
      </p:nvGrpSpPr>
      <p:grpSpPr>
        <a:xfrm>
          <a:off x="0" y="0"/>
          <a:ext cx="0" cy="0"/>
          <a:chOff x="0" y="0"/>
          <a:chExt cx="0" cy="0"/>
        </a:xfrm>
      </p:grpSpPr>
      <p:sp>
        <p:nvSpPr>
          <p:cNvPr id="5" name="Shape 3"/>
          <p:cNvSpPr/>
          <p:nvPr/>
        </p:nvSpPr>
        <p:spPr>
          <a:xfrm>
            <a:off x="868680"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68680"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측정</a:t>
            </a:r>
            <a:endParaRPr lang="en-US" sz="1200" dirty="0"/>
          </a:p>
        </p:txBody>
      </p:sp>
      <p:sp>
        <p:nvSpPr>
          <p:cNvPr id="7" name="Text 5"/>
          <p:cNvSpPr txBox="1"/>
          <p:nvPr/>
        </p:nvSpPr>
        <p:spPr>
          <a:xfrm>
            <a:off x="2167128"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86584"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86584"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안테나</a:t>
            </a:r>
            <a:endParaRPr lang="en-US" sz="1200" dirty="0"/>
          </a:p>
        </p:txBody>
      </p:sp>
      <p:sp>
        <p:nvSpPr>
          <p:cNvPr id="10" name="Text 8"/>
          <p:cNvSpPr txBox="1"/>
          <p:nvPr/>
        </p:nvSpPr>
        <p:spPr>
          <a:xfrm>
            <a:off x="3685032"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904488"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904488"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동체</a:t>
            </a:r>
            <a:endParaRPr lang="en-US" sz="1200" dirty="0"/>
          </a:p>
        </p:txBody>
      </p:sp>
      <p:sp>
        <p:nvSpPr>
          <p:cNvPr id="13" name="Text 11"/>
          <p:cNvSpPr txBox="1"/>
          <p:nvPr/>
        </p:nvSpPr>
        <p:spPr>
          <a:xfrm>
            <a:off x="5202936"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422392"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422392"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NED</a:t>
            </a:r>
            <a:endParaRPr lang="en-US" sz="1200" dirty="0"/>
          </a:p>
        </p:txBody>
      </p:sp>
      <p:sp>
        <p:nvSpPr>
          <p:cNvPr id="16" name="Text 14"/>
          <p:cNvSpPr txBox="1"/>
          <p:nvPr/>
        </p:nvSpPr>
        <p:spPr>
          <a:xfrm>
            <a:off x="6720840"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940296"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940296"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ECEF</a:t>
            </a:r>
            <a:endParaRPr lang="en-US" sz="1200" dirty="0"/>
          </a:p>
        </p:txBody>
      </p:sp>
      <p:sp>
        <p:nvSpPr>
          <p:cNvPr id="19" name="Text 17"/>
          <p:cNvSpPr txBox="1"/>
          <p:nvPr/>
        </p:nvSpPr>
        <p:spPr>
          <a:xfrm>
            <a:off x="8238744"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58200"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58200"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LLA</a:t>
            </a:r>
            <a:endParaRPr lang="en-US" sz="1200" dirty="0"/>
          </a:p>
        </p:txBody>
      </p:sp>
      <p:sp>
        <p:nvSpPr>
          <p:cNvPr id="22" name="TextBox 21"/>
          <p:cNvSpPr txBox="1"/>
          <p:nvPr/>
        </p:nvSpPr>
        <p:spPr>
          <a:xfrm>
            <a:off x="502920" y="384048"/>
            <a:ext cx="1463040" cy="640080"/>
          </a:xfrm>
          <a:prstGeom prst="rect">
            <a:avLst/>
          </a:prstGeom>
          <a:noFill/>
        </p:spPr>
        <p:txBody>
          <a:bodyPr wrap="none" anchor="ctr" lIns="0" rIns="0" tIns="0" bIns="0">
            <a:spAutoFit/>
          </a:bodyPr>
          <a:lstStyle/>
          <a:p>
            <a:pPr algn="l"/>
            <a:r>
              <a:rPr sz="3400" b="1">
                <a:solidFill>
                  <a:srgbClr val="FFFFFF"/>
                </a:solidFill>
                <a:latin typeface="Arial"/>
              </a:rPr>
              <a:t>LIG</a:t>
            </a:r>
          </a:p>
        </p:txBody>
      </p:sp>
      <p:cxnSp>
        <p:nvCxnSpPr>
          <p:cNvPr id="23" name="Connector 22"/>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144000" y="640080"/>
            <a:ext cx="2194560" cy="292608"/>
          </a:xfrm>
          <a:prstGeom prst="rect">
            <a:avLst/>
          </a:prstGeom>
          <a:solidFill>
            <a:srgbClr val="13233F"/>
          </a:solidFill>
        </p:spPr>
        <p:txBody>
          <a:bodyPr wrap="none" anchor="ctr" lIns="0" rIns="0" tIns="0" bIns="0">
            <a:spAutoFit/>
          </a:bodyPr>
          <a:lstStyle/>
          <a:p>
            <a:pPr algn="ctr"/>
            <a:r>
              <a:rPr sz="1100" b="1">
                <a:solidFill>
                  <a:srgbClr val="FFFFFF"/>
                </a:solidFill>
                <a:latin typeface="Arial"/>
              </a:rPr>
              <a:t>LIG Defense&amp;Aerospace</a:t>
            </a:r>
          </a:p>
        </p:txBody>
      </p:sp>
      <p:sp>
        <p:nvSpPr>
          <p:cNvPr id="25" name="TextBox 24"/>
          <p:cNvSpPr txBox="1"/>
          <p:nvPr/>
        </p:nvSpPr>
        <p:spPr>
          <a:xfrm>
            <a:off x="868680" y="2011680"/>
            <a:ext cx="5486400" cy="384048"/>
          </a:xfrm>
          <a:prstGeom prst="rect">
            <a:avLst/>
          </a:prstGeom>
          <a:noFill/>
        </p:spPr>
        <p:txBody>
          <a:bodyPr wrap="none" anchor="t" lIns="0" rIns="0" tIns="0" bIns="0">
            <a:spAutoFit/>
          </a:bodyPr>
          <a:lstStyle/>
          <a:p>
            <a:pPr algn="l"/>
            <a:r>
              <a:rPr sz="1900" b="1">
                <a:solidFill>
                  <a:srgbClr val="8FA6CC"/>
                </a:solidFill>
                <a:latin typeface="Arial"/>
              </a:rPr>
              <a:t>Part 1</a:t>
            </a:r>
          </a:p>
        </p:txBody>
      </p:sp>
      <p:sp>
        <p:nvSpPr>
          <p:cNvPr id="26" name="TextBox 25"/>
          <p:cNvSpPr txBox="1"/>
          <p:nvPr/>
        </p:nvSpPr>
        <p:spPr>
          <a:xfrm>
            <a:off x="868680" y="2487168"/>
            <a:ext cx="10515600" cy="868680"/>
          </a:xfrm>
          <a:prstGeom prst="rect">
            <a:avLst/>
          </a:prstGeom>
          <a:noFill/>
        </p:spPr>
        <p:txBody>
          <a:bodyPr wrap="square" anchor="ctr" lIns="0" rIns="0" tIns="0" bIns="0">
            <a:spAutoFit/>
          </a:bodyPr>
          <a:lstStyle/>
          <a:p>
            <a:pPr algn="l"/>
            <a:r>
              <a:rPr sz="4000" b="1">
                <a:solidFill>
                  <a:srgbClr val="FFFFFF"/>
                </a:solidFill>
                <a:latin typeface="맑은 고딕"/>
              </a:rPr>
              <a:t>좌표계 여섯 가지</a:t>
            </a:r>
          </a:p>
        </p:txBody>
      </p:sp>
      <p:sp>
        <p:nvSpPr>
          <p:cNvPr id="27" name="TextBox 26"/>
          <p:cNvSpPr txBox="1"/>
          <p:nvPr/>
        </p:nvSpPr>
        <p:spPr>
          <a:xfrm>
            <a:off x="868680" y="3493008"/>
            <a:ext cx="10515600" cy="411480"/>
          </a:xfrm>
          <a:prstGeom prst="rect">
            <a:avLst/>
          </a:prstGeom>
          <a:noFill/>
        </p:spPr>
        <p:txBody>
          <a:bodyPr wrap="square" anchor="t" lIns="0" rIns="0" tIns="0" bIns="0">
            <a:spAutoFit/>
          </a:bodyPr>
          <a:lstStyle/>
          <a:p>
            <a:pPr algn="l"/>
            <a:r>
              <a:rPr sz="1600" b="0">
                <a:solidFill>
                  <a:srgbClr val="C9D6EC"/>
                </a:solidFill>
                <a:latin typeface="맑은 고딕"/>
              </a:rPr>
              <a:t>각각 원점이 어디이고, 축이 어디를 향하고, 무엇에 붙어 있는가</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FFFFFF"/>
                </a:solidFill>
                <a:latin typeface="Arial"/>
              </a:rPr>
              <a:t>LIG Defense&amp;Aerospace</a:t>
            </a:r>
          </a:p>
        </p:txBody>
      </p:sp>
      <p:sp>
        <p:nvSpPr>
          <p:cNvPr id="30" name="TextBox 2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03882"/>
            <a:ext cx="7680960" cy="3614576"/>
          </a:xfrm>
          <a:prstGeom prst="rect">
            <a:avLst/>
          </a:prstGeom>
        </p:spPr>
      </p:pic>
      <p:sp>
        <p:nvSpPr>
          <p:cNvPr id="22" name="Shape 19"/>
          <p:cNvSpPr/>
          <p:nvPr/>
        </p:nvSpPr>
        <p:spPr>
          <a:xfrm>
            <a:off x="8485632" y="1799539"/>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37283"/>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세 성분</a:t>
            </a:r>
            <a:endParaRPr lang="en-US" sz="1500" dirty="0"/>
          </a:p>
        </p:txBody>
      </p:sp>
      <p:sp>
        <p:nvSpPr>
          <p:cNvPr id="24" name="Text 21"/>
          <p:cNvSpPr txBox="1"/>
          <p:nvPr/>
        </p:nvSpPr>
        <p:spPr>
          <a:xfrm>
            <a:off x="8741664" y="2457907"/>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R  시선거리</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Range · 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Az  방위각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Azimuth · 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El  고각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Elevation · 수평면에서 위로</a:t>
            </a:r>
            <a:endParaRPr lang="en-US" sz="1350" dirty="0"/>
          </a:p>
        </p:txBody>
      </p:sp>
      <p:sp>
        <p:nvSpPr>
          <p:cNvPr id="25" name="Shape 22"/>
          <p:cNvSpPr/>
          <p:nvPr/>
        </p:nvSpPr>
        <p:spPr>
          <a:xfrm>
            <a:off x="8741664" y="4963363"/>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63363"/>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보어사이트 = 안테나가 똑바로 바라보는 방향. 안테나 신호가 가장 세게 나가고 들어오는 한가운데 방향입니다.</a:t>
            </a:r>
            <a:endParaRPr lang="en-US" sz="130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①  극좌표 (Polar)</a:t>
            </a:r>
          </a:p>
          <a:p>
            <a:pPr algn="l">
              <a:lnSpc>
                <a:spcPts val="1400"/>
              </a:lnSpc>
            </a:pPr>
            <a:r>
              <a:rPr sz="1100" b="0">
                <a:solidFill>
                  <a:srgbClr val="C9D6EC"/>
                </a:solidFill>
                <a:latin typeface="맑은 고딕"/>
              </a:rPr>
              <a:t>레이다가 물리적으로 잴 수 있는 것 — 거리 하나와 각도 둘</a:t>
            </a:r>
          </a:p>
        </p:txBody>
      </p:sp>
      <p:sp>
        <p:nvSpPr>
          <p:cNvPr id="31" name="TextBox 30"/>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1" name="Shape 19"/>
          <p:cNvSpPr/>
          <p:nvPr/>
        </p:nvSpPr>
        <p:spPr>
          <a:xfrm>
            <a:off x="566928" y="1919508"/>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2029236"/>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38580"/>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예제 값을 넣으면</a:t>
            </a:r>
            <a:endParaRPr lang="en-US" sz="1500" dirty="0"/>
          </a:p>
        </p:txBody>
      </p:sp>
      <p:sp>
        <p:nvSpPr>
          <p:cNvPr id="24" name="Shape 22"/>
          <p:cNvSpPr/>
          <p:nvPr/>
        </p:nvSpPr>
        <p:spPr>
          <a:xfrm>
            <a:off x="566928" y="4022628"/>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132356"/>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919508"/>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120676"/>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왜 직교좌표로 바꾸나</a:t>
            </a:r>
            <a:endParaRPr lang="en-US" sz="1600" dirty="0"/>
          </a:p>
        </p:txBody>
      </p:sp>
      <p:sp>
        <p:nvSpPr>
          <p:cNvPr id="28" name="Text 26"/>
          <p:cNvSpPr txBox="1"/>
          <p:nvPr/>
        </p:nvSpPr>
        <p:spPr>
          <a:xfrm>
            <a:off x="7973568" y="2577876"/>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극좌표는 사람이 읽기 좋지만,</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각도로 표현된 방향을 세 성분으로</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풀어쓰는 준비 단계다.</a:t>
            </a:r>
            <a:endParaRPr lang="en-US" sz="1350" dirty="0"/>
          </a:p>
        </p:txBody>
      </p:sp>
      <p:sp>
        <p:nvSpPr>
          <p:cNvPr id="29" name="Text 27"/>
          <p:cNvSpPr txBox="1"/>
          <p:nvPr/>
        </p:nvSpPr>
        <p:spPr>
          <a:xfrm>
            <a:off x="7973568" y="4260372"/>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역변환에서는 asin 대신</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atan2 를 쓴다.</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반올림으로 NaN 이 나거나</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±90° 근처에서 정밀도가</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무너지는 걸 막기 위해서다.</a:t>
            </a:r>
            <a:endParaRPr lang="en-US" sz="1200" dirty="0"/>
          </a:p>
        </p:txBody>
      </p:sp>
      <p:sp>
        <p:nvSpPr>
          <p:cNvPr id="30" name="Text 28"/>
          <p:cNvSpPr txBox="1"/>
          <p:nvPr/>
        </p:nvSpPr>
        <p:spPr>
          <a:xfrm>
            <a:off x="566928" y="5596127"/>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읽는 법 :  cos(El) 로 표적을 먼저 수평면에 눕히고, 그 길이를 Az 로 앞(x)·오른쪽(y)에 나눠 담습니다.</a:t>
            </a:r>
            <a:endParaRPr lang="en-US" sz="1300" dirty="0"/>
          </a:p>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위아래(z)는 sin(El) 몫 — z 는 아래가 양수라, 표적이 위에 있으면 z 가 음수가 됩니다.</a:t>
            </a:r>
            <a:endParaRPr lang="en-US" sz="1300" dirty="0"/>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②  직교좌표 (Cartesian)</a:t>
            </a:r>
          </a:p>
          <a:p>
            <a:pPr algn="l">
              <a:lnSpc>
                <a:spcPts val="1400"/>
              </a:lnSpc>
            </a:pPr>
            <a:r>
              <a:rPr sz="1100" b="0">
                <a:solidFill>
                  <a:srgbClr val="C9D6EC"/>
                </a:solidFill>
                <a:latin typeface="맑은 고딕"/>
              </a:rPr>
              <a:t>R(Range 시선거리) · Az(Azimuth 방위각) · El(Elevation 고각) 을 x·y·z 세 성분으로 풀어써야 회전행렬을 곱할 수 있습니다</a:t>
            </a:r>
          </a:p>
        </p:txBody>
      </p:sp>
      <p:sp>
        <p:nvSpPr>
          <p:cNvPr id="34" name="TextBox 33"/>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7" name="Shape 5"/>
          <p:cNvSpPr/>
          <p:nvPr/>
        </p:nvSpPr>
        <p:spPr>
          <a:xfrm>
            <a:off x="3465576" y="1371600"/>
            <a:ext cx="1170432" cy="300903"/>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00903"/>
          </a:xfrm>
          <a:prstGeom prst="rect">
            <a:avLst/>
          </a:prstGeom>
          <a:noFill/>
          <a:ln/>
        </p:spPr>
        <p:txBody>
          <a:bodyPr wrap="square" lIns="0" tIns="0" rIns="0" bIns="0" rtlCol="0" anchor="ctr"/>
          <a:lstStyle/>
          <a:p>
            <a:pPr algn="ctr" indent="0" marL="0">
              <a:buNone/>
            </a:pPr>
            <a:r>
              <a:rPr lang="en-US" sz="101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0" name="Shape 8"/>
          <p:cNvSpPr/>
          <p:nvPr/>
        </p:nvSpPr>
        <p:spPr>
          <a:xfrm>
            <a:off x="4818888"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3" name="Shape 11"/>
          <p:cNvSpPr/>
          <p:nvPr/>
        </p:nvSpPr>
        <p:spPr>
          <a:xfrm>
            <a:off x="6172200"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6" name="Shape 14"/>
          <p:cNvSpPr/>
          <p:nvPr/>
        </p:nvSpPr>
        <p:spPr>
          <a:xfrm>
            <a:off x="7525512"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9" name="Shape 17"/>
          <p:cNvSpPr/>
          <p:nvPr/>
        </p:nvSpPr>
        <p:spPr>
          <a:xfrm>
            <a:off x="887882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1059020" y="1806238"/>
            <a:ext cx="6239576" cy="3578580"/>
          </a:xfrm>
          <a:prstGeom prst="rect">
            <a:avLst/>
          </a:prstGeom>
        </p:spPr>
      </p:pic>
      <p:sp>
        <p:nvSpPr>
          <p:cNvPr id="22" name="Shape 19"/>
          <p:cNvSpPr/>
          <p:nvPr/>
        </p:nvSpPr>
        <p:spPr>
          <a:xfrm>
            <a:off x="7973568" y="1822955"/>
            <a:ext cx="3657600" cy="3560692"/>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6991"/>
            <a:ext cx="3200400" cy="334337"/>
          </a:xfrm>
          <a:prstGeom prst="rect">
            <a:avLst/>
          </a:prstGeom>
          <a:noFill/>
          <a:ln/>
        </p:spPr>
        <p:txBody>
          <a:bodyPr wrap="square" lIns="0" tIns="0" rIns="0" bIns="0" rtlCol="0" anchor="ctr"/>
          <a:lstStyle/>
          <a:p>
            <a:pPr indent="0" marL="0">
              <a:buNone/>
            </a:pPr>
            <a:r>
              <a:rPr lang="en-US" sz="1460" b="1" dirty="0">
                <a:solidFill>
                  <a:srgbClr val="2B57A6"/>
                </a:solidFill>
                <a:latin typeface="맑은 고딕" pitchFamily="34" charset="0"/>
                <a:ea typeface="맑은 고딕" pitchFamily="34" charset="-122"/>
                <a:cs typeface="맑은 고딕" pitchFamily="34" charset="-120"/>
              </a:rPr>
              <a:t>왜 UV 를 쓰나</a:t>
            </a:r>
            <a:endParaRPr lang="en-US" sz="1600" dirty="0"/>
          </a:p>
        </p:txBody>
      </p:sp>
      <p:sp>
        <p:nvSpPr>
          <p:cNvPr id="24" name="Text 21"/>
          <p:cNvSpPr txBox="1"/>
          <p:nvPr/>
        </p:nvSpPr>
        <p:spPr>
          <a:xfrm>
            <a:off x="8229600" y="2441479"/>
            <a:ext cx="3200400" cy="835843"/>
          </a:xfrm>
          <a:prstGeom prst="rect">
            <a:avLst/>
          </a:prstGeom>
          <a:noFill/>
          <a:ln/>
        </p:spPr>
        <p:txBody>
          <a:bodyPr wrap="square" lIns="0" tIns="0" rIns="0" bIns="0" rtlCol="0" anchor="ctr"/>
          <a:lstStyle/>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현대 레이다는 대부분 위상배열이다.</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수백~수천 개 소자에 위상차를 줘서</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빔 방향을 전자적으로 바꾼다.</a:t>
            </a:r>
            <a:endParaRPr lang="en-US" sz="1250" dirty="0"/>
          </a:p>
        </p:txBody>
      </p:sp>
      <p:sp>
        <p:nvSpPr>
          <p:cNvPr id="25" name="Shape 22"/>
          <p:cNvSpPr/>
          <p:nvPr/>
        </p:nvSpPr>
        <p:spPr>
          <a:xfrm>
            <a:off x="8229600" y="3594943"/>
            <a:ext cx="3200400" cy="58509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594943"/>
            <a:ext cx="3200400" cy="585090"/>
          </a:xfrm>
          <a:prstGeom prst="rect">
            <a:avLst/>
          </a:prstGeom>
          <a:noFill/>
          <a:ln/>
        </p:spPr>
        <p:txBody>
          <a:bodyPr wrap="square" lIns="0" tIns="0" rIns="0" bIns="0" rtlCol="0" anchor="ctr"/>
          <a:lstStyle/>
          <a:p>
            <a:pPr algn="ctr" indent="0" marL="0">
              <a:buNone/>
            </a:pPr>
            <a:r>
              <a:rPr lang="en-US" sz="11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305409"/>
            <a:ext cx="3200400" cy="1044804"/>
          </a:xfrm>
          <a:prstGeom prst="rect">
            <a:avLst/>
          </a:prstGeom>
          <a:noFill/>
          <a:ln/>
        </p:spPr>
        <p:txBody>
          <a:bodyPr wrap="square" lIns="0" tIns="0" rIns="0" bIns="0" rtlCol="0" anchor="ctr"/>
          <a:lstStyle/>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소자 번호에 u, v 를 곱하기만 하면 된다.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각도(Az, El)로는 이렇게 단순해지지 않는다.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되돌릴 때는 asin 대신 atan2 를 쓴다.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Az = atan2(u, w)</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El = atan2(v, √(u²+w²))</a:t>
            </a:r>
            <a:endParaRPr lang="en-US" sz="1200" dirty="0"/>
          </a:p>
        </p:txBody>
      </p:sp>
      <p:sp>
        <p:nvSpPr>
          <p:cNvPr id="28" name="Text 25"/>
          <p:cNvSpPr txBox="1"/>
          <p:nvPr/>
        </p:nvSpPr>
        <p:spPr>
          <a:xfrm>
            <a:off x="566928" y="5651117"/>
            <a:ext cx="11064240" cy="585090"/>
          </a:xfrm>
          <a:prstGeom prst="rect">
            <a:avLst/>
          </a:prstGeom>
          <a:noFill/>
          <a:ln/>
        </p:spPr>
        <p:txBody>
          <a:bodyPr wrap="square" lIns="0" tIns="0" rIns="0" bIns="0" rtlCol="0" anchor="ctr"/>
          <a:lstStyle/>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빔 굵기가 조향각과 무관하게 일정하고, 격자로브 위치도 u₀ ± λ/d 로 단순하게 나옵니다.</a:t>
            </a:r>
            <a:endParaRPr lang="en-US" sz="1300" dirty="0"/>
          </a:p>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UV 에는 거리가 없습니다 — 방향만 담는 표현이라, 표적 위치를 옮기는 이번 변환 체인에는 들어가지 않습니다.</a:t>
            </a:r>
            <a:endParaRPr lang="en-US" sz="130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③  UV (방향코사인)</a:t>
            </a:r>
          </a:p>
          <a:p>
            <a:pPr algn="l">
              <a:lnSpc>
                <a:spcPts val="1400"/>
              </a:lnSpc>
            </a:pPr>
            <a:r>
              <a:rPr sz="1100" b="0">
                <a:solidFill>
                  <a:srgbClr val="C9D6EC"/>
                </a:solidFill>
                <a:latin typeface="맑은 고딕"/>
              </a:rPr>
              <a:t>표적 방향을 길이 1 인 화살표로 보고, 그 화살표를 안테나 세 축에 나눠 담은 값입니다</a:t>
            </a:r>
          </a:p>
        </p:txBody>
      </p:sp>
      <p:sp>
        <p:nvSpPr>
          <p:cNvPr id="33" name="TextBox 32"/>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7" name="Shape 5"/>
          <p:cNvSpPr/>
          <p:nvPr/>
        </p:nvSpPr>
        <p:spPr>
          <a:xfrm>
            <a:off x="3465576"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0" name="Shape 8"/>
          <p:cNvSpPr/>
          <p:nvPr/>
        </p:nvSpPr>
        <p:spPr>
          <a:xfrm>
            <a:off x="4818888" y="1371600"/>
            <a:ext cx="1170432" cy="31272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1272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3" name="Shape 11"/>
          <p:cNvSpPr/>
          <p:nvPr/>
        </p:nvSpPr>
        <p:spPr>
          <a:xfrm>
            <a:off x="6172200"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6" name="Shape 14"/>
          <p:cNvSpPr/>
          <p:nvPr/>
        </p:nvSpPr>
        <p:spPr>
          <a:xfrm>
            <a:off x="7525512"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9" name="Shape 17"/>
          <p:cNvSpPr/>
          <p:nvPr/>
        </p:nvSpPr>
        <p:spPr>
          <a:xfrm>
            <a:off x="887882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2176655" y="1788566"/>
            <a:ext cx="7844785" cy="3353104"/>
          </a:xfrm>
          <a:prstGeom prst="rect">
            <a:avLst/>
          </a:prstGeom>
        </p:spPr>
      </p:pic>
      <p:sp>
        <p:nvSpPr>
          <p:cNvPr id="22" name="Shape 19"/>
          <p:cNvSpPr/>
          <p:nvPr/>
        </p:nvSpPr>
        <p:spPr>
          <a:xfrm>
            <a:off x="566928"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원점</a:t>
            </a:r>
            <a:endParaRPr lang="en-US" sz="1200" dirty="0"/>
          </a:p>
        </p:txBody>
      </p:sp>
      <p:sp>
        <p:nvSpPr>
          <p:cNvPr id="24" name="Text 21"/>
          <p:cNvSpPr txBox="1"/>
          <p:nvPr/>
        </p:nvSpPr>
        <p:spPr>
          <a:xfrm>
            <a:off x="749808"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배의 무게중심</a:t>
            </a:r>
            <a:endParaRPr lang="en-US" sz="1150" dirty="0"/>
          </a:p>
        </p:txBody>
      </p:sp>
      <p:sp>
        <p:nvSpPr>
          <p:cNvPr id="25" name="Shape 22"/>
          <p:cNvSpPr/>
          <p:nvPr/>
        </p:nvSpPr>
        <p:spPr>
          <a:xfrm>
            <a:off x="3364992"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축</a:t>
            </a:r>
            <a:endParaRPr lang="en-US" sz="1200" dirty="0"/>
          </a:p>
        </p:txBody>
      </p:sp>
      <p:sp>
        <p:nvSpPr>
          <p:cNvPr id="27" name="Text 24"/>
          <p:cNvSpPr txBox="1"/>
          <p:nvPr/>
        </p:nvSpPr>
        <p:spPr>
          <a:xfrm>
            <a:off x="3547872"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x 선수(앞) · y 우현(오른쪽) · z 아래  →  FRD</a:t>
            </a:r>
            <a:endParaRPr lang="en-US" sz="1150" dirty="0"/>
          </a:p>
        </p:txBody>
      </p:sp>
      <p:sp>
        <p:nvSpPr>
          <p:cNvPr id="28" name="Shape 25"/>
          <p:cNvSpPr/>
          <p:nvPr/>
        </p:nvSpPr>
        <p:spPr>
          <a:xfrm>
            <a:off x="6163056"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자세각</a:t>
            </a:r>
            <a:endParaRPr lang="en-US" sz="1200" dirty="0"/>
          </a:p>
        </p:txBody>
      </p:sp>
      <p:sp>
        <p:nvSpPr>
          <p:cNvPr id="30" name="Text 27"/>
          <p:cNvSpPr txBox="1"/>
          <p:nvPr/>
        </p:nvSpPr>
        <p:spPr>
          <a:xfrm>
            <a:off x="6345936"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roll 좌우 기울기 · pitch 앞뒤 기울기 · yaw 선수 방위</a:t>
            </a:r>
            <a:endParaRPr lang="en-US" sz="1150" dirty="0"/>
          </a:p>
        </p:txBody>
      </p:sp>
      <p:sp>
        <p:nvSpPr>
          <p:cNvPr id="31" name="Shape 28"/>
          <p:cNvSpPr/>
          <p:nvPr/>
        </p:nvSpPr>
        <p:spPr>
          <a:xfrm>
            <a:off x="8961120"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합치는 순서</a:t>
            </a:r>
            <a:endParaRPr lang="en-US" sz="1200" dirty="0"/>
          </a:p>
        </p:txBody>
      </p:sp>
      <p:sp>
        <p:nvSpPr>
          <p:cNvPr id="33" name="Text 30"/>
          <p:cNvSpPr txBox="1"/>
          <p:nvPr/>
        </p:nvSpPr>
        <p:spPr>
          <a:xfrm>
            <a:off x="9144000"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3-2-1 (yaw → pitch → roll)</a:t>
            </a:r>
            <a:endParaRPr lang="en-US" sz="115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동체(Body) 좌표계</a:t>
            </a:r>
          </a:p>
          <a:p>
            <a:pPr algn="l">
              <a:lnSpc>
                <a:spcPts val="1400"/>
              </a:lnSpc>
            </a:pPr>
            <a:r>
              <a:rPr sz="1100" b="0">
                <a:solidFill>
                  <a:srgbClr val="C9D6EC"/>
                </a:solidFill>
                <a:latin typeface="맑은 고딕"/>
              </a:rPr>
              <a:t>배에 실린 모든 장비의 공통 기준 — 안테나 · INS (Inertial Navigation System) · 무장이 여기로 모입니다</a:t>
            </a:r>
          </a:p>
        </p:txBody>
      </p:sp>
      <p:sp>
        <p:nvSpPr>
          <p:cNvPr id="37" name="TextBox 36"/>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EDF5"/>
        </a:solidFill>
        <a:effectLst/>
      </p:bgPr>
    </p:bg>
    <p:spTree>
      <p:nvGrpSpPr>
        <p:cNvPr id="1" name=""/>
        <p:cNvGrpSpPr/>
        <p:nvPr/>
      </p:nvGrpSpPr>
      <p:grpSpPr>
        <a:xfrm>
          <a:off x="0" y="0"/>
          <a:ext cx="0" cy="0"/>
          <a:chOff x="0" y="0"/>
          <a:chExt cx="0" cy="0"/>
        </a:xfrm>
      </p:grpSpPr>
      <p:sp>
        <p:nvSpPr>
          <p:cNvPr id="35" name="Rectangle 3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1" name="Shape 19"/>
          <p:cNvSpPr/>
          <p:nvPr/>
        </p:nvSpPr>
        <p:spPr>
          <a:xfrm>
            <a:off x="566928" y="186994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3454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맑은 고딕" pitchFamily="34" charset="0"/>
                <a:ea typeface="맑은 고딕" pitchFamily="34" charset="-122"/>
                <a:cs typeface="맑은 고딕" pitchFamily="34" charset="-120"/>
              </a:rPr>
              <a:t>자이로  × 3</a:t>
            </a:r>
            <a:endParaRPr lang="en-US" sz="1700" dirty="0"/>
          </a:p>
        </p:txBody>
      </p:sp>
      <p:sp>
        <p:nvSpPr>
          <p:cNvPr id="23" name="Text 21"/>
          <p:cNvSpPr txBox="1"/>
          <p:nvPr/>
        </p:nvSpPr>
        <p:spPr>
          <a:xfrm>
            <a:off x="841248" y="241858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각속도 — 초당 몇 도씩 돌고 있는가</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 시간에 대해 적분하면  자세 (roll·pitch·yaw)</a:t>
            </a:r>
            <a:endParaRPr lang="en-US" sz="1350" dirty="0"/>
          </a:p>
        </p:txBody>
      </p:sp>
      <p:sp>
        <p:nvSpPr>
          <p:cNvPr id="24" name="Shape 22"/>
          <p:cNvSpPr/>
          <p:nvPr/>
        </p:nvSpPr>
        <p:spPr>
          <a:xfrm>
            <a:off x="6144768" y="186994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3454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맑은 고딕" pitchFamily="34" charset="0"/>
                <a:ea typeface="맑은 고딕" pitchFamily="34" charset="-122"/>
                <a:cs typeface="맑은 고딕" pitchFamily="34" charset="-120"/>
              </a:rPr>
              <a:t>가속도계  × 3</a:t>
            </a:r>
            <a:endParaRPr lang="en-US" sz="1700" dirty="0"/>
          </a:p>
        </p:txBody>
      </p:sp>
      <p:sp>
        <p:nvSpPr>
          <p:cNvPr id="26" name="Text 24"/>
          <p:cNvSpPr txBox="1"/>
          <p:nvPr/>
        </p:nvSpPr>
        <p:spPr>
          <a:xfrm>
            <a:off x="6419088" y="241858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비력 — 센서가 느끼는 가속도 (정지 중에도 1 g 잡힘)</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 중력 모델을 빼고 두 번 적분하면  속도와 위치</a:t>
            </a:r>
            <a:endParaRPr lang="en-US" sz="1350" dirty="0"/>
          </a:p>
        </p:txBody>
      </p:sp>
      <p:sp>
        <p:nvSpPr>
          <p:cNvPr id="27" name="Shape 25"/>
          <p:cNvSpPr/>
          <p:nvPr/>
        </p:nvSpPr>
        <p:spPr>
          <a:xfrm>
            <a:off x="566928" y="3395333"/>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3349"/>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맑은 고딕" pitchFamily="34" charset="0"/>
                <a:ea typeface="맑은 고딕" pitchFamily="34" charset="-122"/>
                <a:cs typeface="맑은 고딕" pitchFamily="34" charset="-120"/>
              </a:rPr>
              <a:t>핵심 :  INS 는 바깥 세상을 전혀 보지 않는다</a:t>
            </a:r>
            <a:endParaRPr lang="en-US" sz="1900" dirty="0"/>
          </a:p>
        </p:txBody>
      </p:sp>
      <p:sp>
        <p:nvSpPr>
          <p:cNvPr id="29" name="Text 27"/>
          <p:cNvSpPr txBox="1"/>
          <p:nvPr/>
        </p:nvSpPr>
        <p:spPr>
          <a:xfrm>
            <a:off x="566928" y="3907397"/>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맑은 고딕" pitchFamily="34" charset="0"/>
                <a:ea typeface="맑은 고딕" pitchFamily="34" charset="-122"/>
                <a:cs typeface="맑은 고딕"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52049"/>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장점</a:t>
            </a:r>
            <a:endParaRPr lang="en-US" sz="1500" dirty="0"/>
          </a:p>
        </p:txBody>
      </p:sp>
      <p:sp>
        <p:nvSpPr>
          <p:cNvPr id="31" name="Text 29"/>
          <p:cNvSpPr txBox="1"/>
          <p:nvPr/>
        </p:nvSpPr>
        <p:spPr>
          <a:xfrm>
            <a:off x="841248" y="4893702"/>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맑은 고딕" pitchFamily="34" charset="0"/>
                <a:ea typeface="맑은 고딕" pitchFamily="34" charset="-122"/>
                <a:cs typeface="맑은 고딕"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맑은 고딕" pitchFamily="34" charset="0"/>
                <a:ea typeface="맑은 고딕" pitchFamily="34" charset="-122"/>
                <a:cs typeface="맑은 고딕" pitchFamily="34" charset="-120"/>
              </a:rPr>
              <a:t>갱신 속도가 매우 빠르다 (보통 100 Hz 이상)</a:t>
            </a:r>
            <a:endParaRPr lang="en-US" sz="1300" dirty="0"/>
          </a:p>
        </p:txBody>
      </p:sp>
      <p:sp>
        <p:nvSpPr>
          <p:cNvPr id="32" name="Text 30"/>
          <p:cNvSpPr txBox="1"/>
          <p:nvPr/>
        </p:nvSpPr>
        <p:spPr>
          <a:xfrm>
            <a:off x="6419088" y="4552049"/>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맑은 고딕" pitchFamily="34" charset="0"/>
                <a:ea typeface="맑은 고딕" pitchFamily="34" charset="-122"/>
                <a:cs typeface="맑은 고딕" pitchFamily="34" charset="-120"/>
              </a:rPr>
              <a:t>단점</a:t>
            </a:r>
            <a:endParaRPr lang="en-US" sz="1500" dirty="0"/>
          </a:p>
        </p:txBody>
      </p:sp>
      <p:sp>
        <p:nvSpPr>
          <p:cNvPr id="33" name="Text 31"/>
          <p:cNvSpPr txBox="1"/>
          <p:nvPr/>
        </p:nvSpPr>
        <p:spPr>
          <a:xfrm>
            <a:off x="6419088" y="4893702"/>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맑은 고딕" pitchFamily="34" charset="0"/>
                <a:ea typeface="맑은 고딕" pitchFamily="34" charset="-122"/>
                <a:cs typeface="맑은 고딕"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맑은 고딕" pitchFamily="34" charset="0"/>
                <a:ea typeface="맑은 고딕" pitchFamily="34" charset="-122"/>
                <a:cs typeface="맑은 고딕" pitchFamily="34" charset="-120"/>
              </a:rPr>
              <a:t>그래서 GPS 같은 외부 기준과 결합해 잡아준다</a:t>
            </a:r>
            <a:endParaRPr lang="en-US" sz="1300" dirty="0"/>
          </a:p>
        </p:txBody>
      </p:sp>
      <p:sp>
        <p:nvSpPr>
          <p:cNvPr id="34" name="Text 32"/>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맑은 고딕" pitchFamily="34" charset="0"/>
                <a:ea typeface="맑은 고딕" pitchFamily="34" charset="-122"/>
                <a:cs typeface="맑은 고딕" pitchFamily="34" charset="-120"/>
              </a:rPr>
              <a:t>출항 전 초기 정렬 — 중력으로 수평을 잡고(leveling), 지구 자전을 감지해 북쪽을 찾는다(gyrocompassing)</a:t>
            </a:r>
            <a:endParaRPr lang="en-US" sz="1250" dirty="0"/>
          </a:p>
        </p:txBody>
      </p:sp>
      <p:sp>
        <p:nvSpPr>
          <p:cNvPr id="36" name="Rectangle 3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  ①  INS 는 무엇을 재는가</a:t>
            </a:r>
          </a:p>
          <a:p>
            <a:pPr algn="l">
              <a:lnSpc>
                <a:spcPts val="1400"/>
              </a:lnSpc>
            </a:pPr>
            <a:r>
              <a:rPr sz="1100" b="0">
                <a:solidFill>
                  <a:srgbClr val="C9D6EC"/>
                </a:solidFill>
                <a:latin typeface="맑은 고딕"/>
              </a:rPr>
              <a:t>관성항법장치 — 회전과 이동에 필요한 값을 공급합니다</a:t>
            </a:r>
          </a:p>
        </p:txBody>
      </p:sp>
      <p:sp>
        <p:nvSpPr>
          <p:cNvPr id="38" name="TextBox 37"/>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9" name="Connector 3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41" name="TextBox 4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13739"/>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27448"/>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짐벌형 (gimbaled)</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스트랩다운 (strapdown)</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구조</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짐벌 위에 얹혀 있고 모터가 늘 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동체에 직접 고정, 배와 함께 기운다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기계가 물리적으로 한다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계산이 한다 (DCM = Direction Cosine Matrix / 쿼터니언)</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"플랫폼 좌표계"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실제로 존재하는 물리적 프레임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소프트웨어 안의 상태값일 뿐</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특징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정밀하지만 크고 무겁고 비싸다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현대 함정 INS 는 사실상 전부 이쪽</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  ②  스트랩다운과 짐벌형</a:t>
            </a:r>
          </a:p>
          <a:p>
            <a:pPr algn="l">
              <a:lnSpc>
                <a:spcPts val="1400"/>
              </a:lnSpc>
            </a:pPr>
            <a:r>
              <a:rPr sz="1100" b="0">
                <a:solidFill>
                  <a:srgbClr val="C9D6EC"/>
                </a:solidFill>
                <a:latin typeface="맑은 고딕"/>
              </a:rPr>
              <a:t>"플랫폼 좌표계"라는 말의 의미가 여기서 갈립니다</a:t>
            </a:r>
          </a:p>
        </p:txBody>
      </p:sp>
      <p:sp>
        <p:nvSpPr>
          <p:cNvPr id="25" name="TextBox 24"/>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a:effectLst/>
      </p:bgPr>
    </p:bg>
    <p:spTree>
      <p:nvGrpSpPr>
        <p:cNvPr id="1" name=""/>
        <p:cNvGrpSpPr/>
        <p:nvPr/>
      </p:nvGrpSpPr>
      <p:grpSpPr>
        <a:xfrm>
          <a:off x="0" y="0"/>
          <a:ext cx="0" cy="0"/>
          <a:chOff x="0" y="0"/>
          <a:chExt cx="0" cy="0"/>
        </a:xfrm>
      </p:grpSpPr>
      <p:sp>
        <p:nvSpPr>
          <p:cNvPr id="27" name="Rectangle 26"/>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1" name="Shape 19"/>
          <p:cNvSpPr/>
          <p:nvPr/>
        </p:nvSpPr>
        <p:spPr>
          <a:xfrm>
            <a:off x="1463040" y="1843237"/>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843237"/>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맑은 고딕" pitchFamily="34" charset="0"/>
                <a:ea typeface="맑은 고딕" pitchFamily="34" charset="-122"/>
                <a:cs typeface="맑은 고딕" pitchFamily="34" charset="-120"/>
              </a:rPr>
              <a:t>"INS 는 플랫폼 무게중심과 축이 일치한 상태로 설치되어 있음"</a:t>
            </a:r>
            <a:endParaRPr lang="en-US" sz="1900" dirty="0"/>
          </a:p>
        </p:txBody>
      </p:sp>
      <p:sp>
        <p:nvSpPr>
          <p:cNvPr id="23" name="Text 21"/>
          <p:cNvSpPr txBox="1"/>
          <p:nvPr/>
        </p:nvSpPr>
        <p:spPr>
          <a:xfrm>
            <a:off x="566928" y="2846671"/>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211469"/>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211469"/>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211533"/>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맑은 고딕" pitchFamily="34" charset="0"/>
                <a:ea typeface="맑은 고딕" pitchFamily="34" charset="-122"/>
                <a:cs typeface="맑은 고딕"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73168"/>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INS 가 주는 값</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어디에 쓰이는가</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roll, pitch, yaw</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3단계 회전행렬  C_ned←body</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위도, 경도, 고도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4단계 로컬→ECEF 회전과 평행이동</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(속도)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표적 추적 필터 · 도플러 보정 — 이 발표 범위 밖</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8" name="Rectangle 27"/>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  ③  이번 설계에서는</a:t>
            </a:r>
          </a:p>
          <a:p>
            <a:pPr algn="l">
              <a:lnSpc>
                <a:spcPts val="1400"/>
              </a:lnSpc>
            </a:pPr>
            <a:r>
              <a:rPr sz="1100" b="0">
                <a:solidFill>
                  <a:srgbClr val="C9D6EC"/>
                </a:solidFill>
                <a:latin typeface="맑은 고딕"/>
              </a:rPr>
              <a:t>조건 하나가 복잡한 이야기를 통째로 없애줍니다</a:t>
            </a:r>
          </a:p>
        </p:txBody>
      </p:sp>
      <p:sp>
        <p:nvSpPr>
          <p:cNvPr id="30" name="TextBox 29"/>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1" name="Connector 30"/>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3" name="TextBox 32"/>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65376"/>
            <a:ext cx="6353675" cy="2651760"/>
          </a:xfrm>
          <a:prstGeom prst="rect">
            <a:avLst/>
          </a:prstGeom>
        </p:spPr>
      </p:pic>
      <p:sp>
        <p:nvSpPr>
          <p:cNvPr id="22" name="Shape 19"/>
          <p:cNvSpPr/>
          <p:nvPr/>
        </p:nvSpPr>
        <p:spPr>
          <a:xfrm>
            <a:off x="7882128" y="1901952"/>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84832"/>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이 좌표계의 존재 이유</a:t>
            </a:r>
            <a:endParaRPr lang="en-US" sz="1500" dirty="0"/>
          </a:p>
        </p:txBody>
      </p:sp>
      <p:sp>
        <p:nvSpPr>
          <p:cNvPr id="24" name="Text 21"/>
          <p:cNvSpPr txBox="1"/>
          <p:nvPr/>
        </p:nvSpPr>
        <p:spPr>
          <a:xfrm>
            <a:off x="8138160" y="2487168"/>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배와 함께 이동하지만</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그래서 표적이 실제로 움직인 것과</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추적 필터를 여기서 돌리는 이유다.</a:t>
            </a:r>
            <a:endParaRPr lang="en-US" sz="1300" dirty="0"/>
          </a:p>
        </p:txBody>
      </p:sp>
      <p:sp>
        <p:nvSpPr>
          <p:cNvPr id="25" name="Shape 22"/>
          <p:cNvSpPr/>
          <p:nvPr/>
        </p:nvSpPr>
        <p:spPr>
          <a:xfrm>
            <a:off x="566928" y="4681727"/>
            <a:ext cx="5486400" cy="129844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809744"/>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맑은 고딕" pitchFamily="34" charset="0"/>
                <a:ea typeface="맑은 고딕" pitchFamily="34" charset="-122"/>
                <a:cs typeface="맑은 고딕" pitchFamily="34" charset="-120"/>
              </a:rPr>
              <a:t>"아래"는 지구 중심 방향이 아니다</a:t>
            </a:r>
            <a:endParaRPr lang="en-US" sz="1400" dirty="0"/>
          </a:p>
        </p:txBody>
      </p:sp>
      <p:sp>
        <p:nvSpPr>
          <p:cNvPr id="27" name="Text 24"/>
          <p:cNvSpPr txBox="1"/>
          <p:nvPr/>
        </p:nvSpPr>
        <p:spPr>
          <a:xfrm>
            <a:off x="786384" y="5138927"/>
            <a:ext cx="5029200" cy="78638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타원체 법선의 반대 방향이다. 지구 중심 방향과는</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위도 45° 부근에서 최대 약 0.19° 어긋나는데,</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이 둘을 혼동하면 지표 위치가 약 21 km 틀어진다.</a:t>
            </a:r>
            <a:endParaRPr lang="en-US" sz="1200" dirty="0"/>
          </a:p>
        </p:txBody>
      </p:sp>
      <p:sp>
        <p:nvSpPr>
          <p:cNvPr id="28" name="Shape 25"/>
          <p:cNvSpPr/>
          <p:nvPr/>
        </p:nvSpPr>
        <p:spPr>
          <a:xfrm>
            <a:off x="6144768" y="4681727"/>
            <a:ext cx="5486400" cy="129844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809744"/>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맑은 고딕" pitchFamily="34" charset="0"/>
                <a:ea typeface="맑은 고딕" pitchFamily="34" charset="-122"/>
                <a:cs typeface="맑은 고딕" pitchFamily="34" charset="-120"/>
              </a:rPr>
              <a:t>로컬 평면의 한계 — 지구는 둥글다</a:t>
            </a:r>
            <a:endParaRPr lang="en-US" sz="1400" dirty="0"/>
          </a:p>
        </p:txBody>
      </p:sp>
      <p:sp>
        <p:nvSpPr>
          <p:cNvPr id="30" name="Text 27"/>
          <p:cNvSpPr txBox="1"/>
          <p:nvPr/>
        </p:nvSpPr>
        <p:spPr>
          <a:xfrm>
            <a:off x="6364224" y="5138927"/>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5 km 2 m  ·  20 km 31 m  ·  50 km 196 m  ·  100 km 786 m</a:t>
            </a:r>
            <a:endParaRPr lang="en-US" sz="1200" dirty="0"/>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NED / ENU  국지수평 좌표계</a:t>
            </a:r>
          </a:p>
          <a:p>
            <a:pPr algn="l">
              <a:lnSpc>
                <a:spcPts val="1400"/>
              </a:lnSpc>
            </a:pPr>
            <a:r>
              <a:rPr sz="1100" b="0">
                <a:solidFill>
                  <a:srgbClr val="C9D6EC"/>
                </a:solidFill>
                <a:latin typeface="맑은 고딕"/>
              </a:rPr>
              <a:t>배가 아무리 흔들려도 북쪽은 계속 북쪽입니다</a:t>
            </a:r>
          </a:p>
        </p:txBody>
      </p:sp>
      <p:sp>
        <p:nvSpPr>
          <p:cNvPr id="34" name="TextBox 33"/>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6111"/>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71600"/>
            <a:ext cx="1170432" cy="316111"/>
          </a:xfrm>
          <a:prstGeom prst="rect">
            <a:avLst/>
          </a:prstGeom>
          <a:noFill/>
          <a:ln/>
        </p:spPr>
        <p:txBody>
          <a:bodyPr wrap="square" lIns="0" tIns="0" rIns="0" bIns="0" rtlCol="0" anchor="ctr"/>
          <a:lstStyle/>
          <a:p>
            <a:pPr algn="ctr" indent="0" marL="0">
              <a:buNone/>
            </a:pPr>
            <a:r>
              <a:rPr lang="en-US" sz="1060" b="1" dirty="0">
                <a:solidFill>
                  <a:srgbClr val="FFFFFF"/>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658645" y="1775520"/>
            <a:ext cx="6880806" cy="3090870"/>
          </a:xfrm>
          <a:prstGeom prst="rect">
            <a:avLst/>
          </a:prstGeom>
        </p:spPr>
      </p:pic>
      <p:sp>
        <p:nvSpPr>
          <p:cNvPr id="22" name="Shape 19"/>
          <p:cNvSpPr/>
          <p:nvPr/>
        </p:nvSpPr>
        <p:spPr>
          <a:xfrm>
            <a:off x="566928" y="4954199"/>
            <a:ext cx="5486400" cy="1282008"/>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059569"/>
            <a:ext cx="5029200" cy="298549"/>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ECEF 는 왜 필요한가</a:t>
            </a:r>
            <a:endParaRPr lang="en-US" sz="1500" dirty="0"/>
          </a:p>
        </p:txBody>
      </p:sp>
      <p:sp>
        <p:nvSpPr>
          <p:cNvPr id="24" name="Text 21"/>
          <p:cNvSpPr txBox="1"/>
          <p:nvPr/>
        </p:nvSpPr>
        <p:spPr>
          <a:xfrm>
            <a:off x="82296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좌표계에서 위경도로 곧장 갈 수 없다.</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원점(배 위치)이 지구 어디인지는</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지구 기준 좌표로만 표현되기 때문이다.  →  다리 역할</a:t>
            </a:r>
            <a:endParaRPr lang="en-US" sz="1250" dirty="0"/>
          </a:p>
        </p:txBody>
      </p:sp>
      <p:sp>
        <p:nvSpPr>
          <p:cNvPr id="25" name="Shape 22"/>
          <p:cNvSpPr/>
          <p:nvPr/>
        </p:nvSpPr>
        <p:spPr>
          <a:xfrm>
            <a:off x="6144768" y="4954199"/>
            <a:ext cx="5486400" cy="1282008"/>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059569"/>
            <a:ext cx="5029200" cy="298549"/>
          </a:xfrm>
          <a:prstGeom prst="rect">
            <a:avLst/>
          </a:prstGeom>
          <a:noFill/>
          <a:ln/>
        </p:spPr>
        <p:txBody>
          <a:bodyPr wrap="square" lIns="0" tIns="0" rIns="0" bIns="0" rtlCol="0" anchor="ctr"/>
          <a:lstStyle/>
          <a:p>
            <a:pPr indent="0" marL="0">
              <a:buNone/>
            </a:pPr>
            <a:r>
              <a:rPr lang="en-US" sz="1440" b="1" dirty="0">
                <a:solidFill>
                  <a:srgbClr val="C2521C"/>
                </a:solidFill>
                <a:latin typeface="맑은 고딕" pitchFamily="34" charset="0"/>
                <a:ea typeface="맑은 고딕" pitchFamily="34" charset="-122"/>
                <a:cs typeface="맑은 고딕" pitchFamily="34" charset="-120"/>
              </a:rPr>
              <a:t>ECI 는 이번 설계에 필요 없다</a:t>
            </a:r>
            <a:endParaRPr lang="en-US" sz="1500" dirty="0"/>
          </a:p>
        </p:txBody>
      </p:sp>
      <p:sp>
        <p:nvSpPr>
          <p:cNvPr id="27" name="Text 24"/>
          <p:cNvSpPr txBox="1"/>
          <p:nvPr/>
        </p:nvSpPr>
        <p:spPr>
          <a:xfrm>
            <a:off x="640080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뉴턴 법칙은 회전하지 않는 좌표계에서만 그대로 성립.</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그래서 중력만 받고 날아가는 물체(위성·탄도탄)는 ECI 에서 계산.</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항공기·수상함 표적은 ECEF/NED 로 충분하다.</a:t>
            </a:r>
            <a:endParaRPr lang="en-US" sz="125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ECEF / ECI  지구 중심 좌표계</a:t>
            </a:r>
          </a:p>
          <a:p>
            <a:pPr algn="l">
              <a:lnSpc>
                <a:spcPts val="1400"/>
              </a:lnSpc>
            </a:pPr>
            <a:r>
              <a:rPr sz="1100" b="0">
                <a:solidFill>
                  <a:srgbClr val="C9D6EC"/>
                </a:solidFill>
                <a:latin typeface="맑은 고딕"/>
              </a:rPr>
              <a:t>원점은 같고, 축이 도느냐 마느냐만 다릅니다</a:t>
            </a:r>
          </a:p>
        </p:txBody>
      </p:sp>
      <p:sp>
        <p:nvSpPr>
          <p:cNvPr id="31" name="TextBox 30"/>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497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71600"/>
            <a:ext cx="1170432" cy="31497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783861" y="1791566"/>
            <a:ext cx="6789893" cy="3517216"/>
          </a:xfrm>
          <a:prstGeom prst="rect">
            <a:avLst/>
          </a:prstGeom>
        </p:spPr>
      </p:pic>
      <p:sp>
        <p:nvSpPr>
          <p:cNvPr id="22" name="Shape 19"/>
          <p:cNvSpPr/>
          <p:nvPr/>
        </p:nvSpPr>
        <p:spPr>
          <a:xfrm>
            <a:off x="7973568" y="1826563"/>
            <a:ext cx="3657600" cy="3499717"/>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4045"/>
            <a:ext cx="3200400" cy="314974"/>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WGS-84 타원체</a:t>
            </a:r>
            <a:endParaRPr lang="en-US" sz="1500" dirty="0"/>
          </a:p>
        </p:txBody>
      </p:sp>
      <p:sp>
        <p:nvSpPr>
          <p:cNvPr id="24" name="Text 21"/>
          <p:cNvSpPr txBox="1"/>
          <p:nvPr/>
        </p:nvSpPr>
        <p:spPr>
          <a:xfrm>
            <a:off x="8229600" y="2439013"/>
            <a:ext cx="3200400" cy="787436"/>
          </a:xfrm>
          <a:prstGeom prst="rect">
            <a:avLst/>
          </a:prstGeom>
          <a:noFill/>
          <a:ln/>
        </p:spPr>
        <p:txBody>
          <a:bodyPr wrap="square" lIns="0" tIns="0" rIns="0" bIns="0" rtlCol="0" anchor="ctr"/>
          <a:lstStyle/>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a  (장반경)  6,378,137.0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b  (단반경)  6,356,752.3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36433"/>
            <a:ext cx="3200400" cy="1049915"/>
          </a:xfrm>
          <a:prstGeom prst="rect">
            <a:avLst/>
          </a:prstGeom>
          <a:noFill/>
          <a:ln/>
        </p:spPr>
        <p:txBody>
          <a:bodyPr wrap="square" lIns="0" tIns="0" rIns="0" bIns="0" rtlCol="0" anchor="ctr"/>
          <a:lstStyle/>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적도 반지름과 극 반지름의 차이가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약 21 km. 지구 크기에 비하면 0.3 %</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정도지만, 구로 계산하면 위치가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20 km 넘게 어긋난다 (위도 45° 부근).</a:t>
            </a:r>
            <a:endParaRPr lang="en-US" sz="1250" dirty="0"/>
          </a:p>
        </p:txBody>
      </p:sp>
      <p:sp>
        <p:nvSpPr>
          <p:cNvPr id="26" name="Text 23"/>
          <p:cNvSpPr txBox="1"/>
          <p:nvPr/>
        </p:nvSpPr>
        <p:spPr>
          <a:xfrm>
            <a:off x="8229600" y="4678833"/>
            <a:ext cx="3200400" cy="314974"/>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World Geodetic System 1984 · GPS·해도 기준</a:t>
            </a:r>
            <a:endParaRPr lang="en-US" sz="1200" dirty="0"/>
          </a:p>
        </p:txBody>
      </p:sp>
      <p:sp>
        <p:nvSpPr>
          <p:cNvPr id="27" name="Shape 24"/>
          <p:cNvSpPr/>
          <p:nvPr/>
        </p:nvSpPr>
        <p:spPr>
          <a:xfrm>
            <a:off x="566928" y="5413774"/>
            <a:ext cx="11064240" cy="822433"/>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501267"/>
            <a:ext cx="11064240" cy="332473"/>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고도의 함정 :  LLA 의 고도는 타원체고 (HAE) — 해도·고도계의 "해발" 과 다릅니다</a:t>
            </a:r>
            <a:endParaRPr lang="en-US" sz="1500" dirty="0"/>
          </a:p>
        </p:txBody>
      </p:sp>
      <p:sp>
        <p:nvSpPr>
          <p:cNvPr id="29" name="Text 26"/>
          <p:cNvSpPr txBox="1"/>
          <p:nvPr/>
        </p:nvSpPr>
        <p:spPr>
          <a:xfrm>
            <a:off x="566928" y="5851239"/>
            <a:ext cx="11064240" cy="332473"/>
          </a:xfrm>
          <a:prstGeom prst="rect">
            <a:avLst/>
          </a:prstGeom>
          <a:noFill/>
          <a:ln/>
        </p:spPr>
        <p:txBody>
          <a:bodyPr wrap="square" lIns="0" tIns="0" rIns="0" bIns="0" rtlCol="0" anchor="ctr"/>
          <a:lstStyle/>
          <a:p>
            <a:pPr algn="ctr" indent="0" marL="0">
              <a:buNone/>
            </a:pPr>
            <a:r>
              <a:rPr lang="en-US" sz="1200" dirty="0">
                <a:solidFill>
                  <a:srgbClr val="1A2233"/>
                </a:solidFill>
                <a:latin typeface="맑은 고딕" pitchFamily="34" charset="0"/>
                <a:ea typeface="맑은 고딕" pitchFamily="34" charset="-122"/>
                <a:cs typeface="맑은 고딕" pitchFamily="34" charset="-120"/>
              </a:rPr>
              <a:t>HAE = Height Above Ellipsoid.   해발고도 = 타원체고 − 지오이드고.   한국 근해 지오이드고는 약 +20 ~ +25 m.   시스템 내부는 하나로 통일할 것.</a:t>
            </a:r>
            <a:endParaRPr lang="en-US" sz="125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LLA  측지 좌표계</a:t>
            </a:r>
          </a:p>
          <a:p>
            <a:pPr algn="l">
              <a:lnSpc>
                <a:spcPts val="1400"/>
              </a:lnSpc>
            </a:pPr>
            <a:r>
              <a:rPr sz="1100" b="0">
                <a:solidFill>
                  <a:srgbClr val="C9D6EC"/>
                </a:solidFill>
                <a:latin typeface="맑은 고딕"/>
              </a:rPr>
              <a:t>우리가 아는 그 지도 좌표 — 다만 지구는 구가 아닙니다</a:t>
            </a:r>
          </a:p>
        </p:txBody>
      </p:sp>
      <p:sp>
        <p:nvSpPr>
          <p:cNvPr id="33" name="TextBox 32"/>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좌표계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원점</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붙은 곳</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주 용도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안테나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안테나 면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보어사이트 · y 오른쪽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표적 측정 (R, Az, El) / 빔 조향 (u, v)</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동체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 무게중심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선수 · y 우현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탑재 장비의 공통 기준</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INS</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INS 설치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자이로·가속도계 3축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위치 · 자세 · 속도 공급</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배의 현재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바다 위 지점</a:t>
                      </a:r>
                      <a:endParaRPr lang="en-US" sz="1150" dirty="0">
                        <a:latin typeface="맑은 고딕" charset="0"/>
                        <a:ea typeface="맑은 고딕" charset="0"/>
                        <a:cs typeface="맑은 고딕" charset="0"/>
                      </a:endParaRPr>
                    </a:p>
                    <a:p>
                      <a:pPr indent="0" marL="0">
                        <a:buNone/>
                      </a:pPr>
                      <a:r>
                        <a:rPr lang="en-US" sz="1150" dirty="0">
                          <a:solidFill>
                            <a:srgbClr val="1A2233"/>
                          </a:solidFill>
                          <a:latin typeface="맑은 고딕" pitchFamily="34" charset="0"/>
                          <a:ea typeface="맑은 고딕" pitchFamily="34" charset="-122"/>
                          <a:cs typeface="맑은 고딕" pitchFamily="34" charset="-120"/>
                        </a:rPr>
                        <a:t>(회전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데이터 처리 (추적 · 필터링)</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ECEF</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Z 북극 · X 적도∩그리니치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(자전함)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기준 공통 좌표, 위경도로 가는 다리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ECI</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별자리에 고정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없음 (회전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위성 · 탄도 표적의 운동 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LLA</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(적도면 / 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위도 · 경도 · 고도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지도 표시, 외부 전달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41324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41324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맑은 고딕" pitchFamily="34" charset="0"/>
                <a:ea typeface="맑은 고딕" pitchFamily="34" charset="-122"/>
                <a:cs typeface="맑은 고딕"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01. 여섯 좌표계 한눈에</a:t>
            </a:r>
          </a:p>
        </p:txBody>
      </p:sp>
      <p:sp>
        <p:nvSpPr>
          <p:cNvPr id="25" name="TextBox 24"/>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8EDF5"/>
        </a:solidFill>
        <a:effectLst/>
      </p:bgPr>
    </p:bg>
    <p:spTree>
      <p:nvGrpSpPr>
        <p:cNvPr id="1" name=""/>
        <p:cNvGrpSpPr/>
        <p:nvPr/>
      </p:nvGrpSpPr>
      <p:grpSpPr>
        <a:xfrm>
          <a:off x="0" y="0"/>
          <a:ext cx="0" cy="0"/>
          <a:chOff x="0" y="0"/>
          <a:chExt cx="0" cy="0"/>
        </a:xfrm>
      </p:grpSpPr>
      <p:sp>
        <p:nvSpPr>
          <p:cNvPr id="38" name="Rectangle 3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4315968" cy="478073"/>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676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신호처리 출력</a:t>
            </a:r>
            <a:endParaRPr lang="en-US" sz="1300" dirty="0"/>
          </a:p>
        </p:txBody>
      </p:sp>
      <p:sp>
        <p:nvSpPr>
          <p:cNvPr id="6" name="Text 4"/>
          <p:cNvSpPr txBox="1"/>
          <p:nvPr/>
        </p:nvSpPr>
        <p:spPr>
          <a:xfrm>
            <a:off x="768096" y="1623217"/>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R, Az, El  (안테나 극좌표)</a:t>
            </a:r>
            <a:endParaRPr lang="en-US" sz="1050" dirty="0"/>
          </a:p>
        </p:txBody>
      </p:sp>
      <p:sp>
        <p:nvSpPr>
          <p:cNvPr id="7" name="Text 5"/>
          <p:cNvSpPr txBox="1"/>
          <p:nvPr/>
        </p:nvSpPr>
        <p:spPr>
          <a:xfrm>
            <a:off x="2496312" y="1849673"/>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8" name="Shape 6"/>
          <p:cNvSpPr/>
          <p:nvPr/>
        </p:nvSpPr>
        <p:spPr>
          <a:xfrm>
            <a:off x="566928" y="2168389"/>
            <a:ext cx="4315968" cy="478073"/>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19355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안테나 좌표계</a:t>
            </a:r>
            <a:endParaRPr lang="en-US" sz="1300" dirty="0"/>
          </a:p>
        </p:txBody>
      </p:sp>
      <p:sp>
        <p:nvSpPr>
          <p:cNvPr id="10" name="Text 8"/>
          <p:cNvSpPr txBox="1"/>
          <p:nvPr/>
        </p:nvSpPr>
        <p:spPr>
          <a:xfrm>
            <a:off x="768096" y="242000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Polar → Cartesian → (UV)</a:t>
            </a:r>
            <a:endParaRPr lang="en-US" sz="1050" dirty="0"/>
          </a:p>
        </p:txBody>
      </p:sp>
      <p:sp>
        <p:nvSpPr>
          <p:cNvPr id="11" name="Text 9"/>
          <p:cNvSpPr txBox="1"/>
          <p:nvPr/>
        </p:nvSpPr>
        <p:spPr>
          <a:xfrm>
            <a:off x="2496312" y="264646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2" name="Shape 10"/>
          <p:cNvSpPr/>
          <p:nvPr/>
        </p:nvSpPr>
        <p:spPr>
          <a:xfrm>
            <a:off x="566928" y="2965178"/>
            <a:ext cx="4315968" cy="478073"/>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2990340"/>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동체(Body) 좌표계</a:t>
            </a:r>
            <a:endParaRPr lang="en-US" sz="1300" dirty="0"/>
          </a:p>
        </p:txBody>
      </p:sp>
      <p:sp>
        <p:nvSpPr>
          <p:cNvPr id="14" name="Text 12"/>
          <p:cNvSpPr txBox="1"/>
          <p:nvPr/>
        </p:nvSpPr>
        <p:spPr>
          <a:xfrm>
            <a:off x="768096" y="321679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x=선수  y=우현  z=아래  (FRD)</a:t>
            </a:r>
            <a:endParaRPr lang="en-US" sz="1050" dirty="0"/>
          </a:p>
        </p:txBody>
      </p:sp>
      <p:sp>
        <p:nvSpPr>
          <p:cNvPr id="15" name="Text 13"/>
          <p:cNvSpPr txBox="1"/>
          <p:nvPr/>
        </p:nvSpPr>
        <p:spPr>
          <a:xfrm>
            <a:off x="2496312" y="344325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6" name="Shape 14"/>
          <p:cNvSpPr/>
          <p:nvPr/>
        </p:nvSpPr>
        <p:spPr>
          <a:xfrm>
            <a:off x="566928" y="3761967"/>
            <a:ext cx="4315968" cy="478073"/>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3787129"/>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로컬(NED) 좌표계</a:t>
            </a:r>
            <a:endParaRPr lang="en-US" sz="1300" dirty="0"/>
          </a:p>
        </p:txBody>
      </p:sp>
      <p:sp>
        <p:nvSpPr>
          <p:cNvPr id="18" name="Text 16"/>
          <p:cNvSpPr txBox="1"/>
          <p:nvPr/>
        </p:nvSpPr>
        <p:spPr>
          <a:xfrm>
            <a:off x="768096" y="4013585"/>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x=북  y=동  z=아래   ★ 데이터 처리</a:t>
            </a:r>
            <a:endParaRPr lang="en-US" sz="1050" dirty="0"/>
          </a:p>
        </p:txBody>
      </p:sp>
      <p:sp>
        <p:nvSpPr>
          <p:cNvPr id="19" name="Text 17"/>
          <p:cNvSpPr txBox="1"/>
          <p:nvPr/>
        </p:nvSpPr>
        <p:spPr>
          <a:xfrm>
            <a:off x="2496312" y="4240041"/>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0" name="Shape 18"/>
          <p:cNvSpPr/>
          <p:nvPr/>
        </p:nvSpPr>
        <p:spPr>
          <a:xfrm>
            <a:off x="566928" y="4558756"/>
            <a:ext cx="4315968" cy="478073"/>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583918"/>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ECEF 좌표계</a:t>
            </a:r>
            <a:endParaRPr lang="en-US" sz="1300" dirty="0"/>
          </a:p>
        </p:txBody>
      </p:sp>
      <p:sp>
        <p:nvSpPr>
          <p:cNvPr id="22" name="Text 20"/>
          <p:cNvSpPr txBox="1"/>
          <p:nvPr/>
        </p:nvSpPr>
        <p:spPr>
          <a:xfrm>
            <a:off x="768096" y="4810374"/>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지구중심 지구고정 직교좌표</a:t>
            </a:r>
            <a:endParaRPr lang="en-US" sz="1050" dirty="0"/>
          </a:p>
        </p:txBody>
      </p:sp>
      <p:sp>
        <p:nvSpPr>
          <p:cNvPr id="23" name="Text 21"/>
          <p:cNvSpPr txBox="1"/>
          <p:nvPr/>
        </p:nvSpPr>
        <p:spPr>
          <a:xfrm>
            <a:off x="2496312" y="5036830"/>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4" name="Shape 22"/>
          <p:cNvSpPr/>
          <p:nvPr/>
        </p:nvSpPr>
        <p:spPr>
          <a:xfrm>
            <a:off x="566928" y="5355546"/>
            <a:ext cx="4315968" cy="478073"/>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380707"/>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LLA 좌표계</a:t>
            </a:r>
            <a:endParaRPr lang="en-US" sz="1300" dirty="0"/>
          </a:p>
        </p:txBody>
      </p:sp>
      <p:sp>
        <p:nvSpPr>
          <p:cNvPr id="26" name="Text 24"/>
          <p:cNvSpPr txBox="1"/>
          <p:nvPr/>
        </p:nvSpPr>
        <p:spPr>
          <a:xfrm>
            <a:off x="768096" y="5607163"/>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위도 · 경도 · 고도  → 전시기</a:t>
            </a:r>
            <a:endParaRPr lang="en-US" sz="1050" dirty="0"/>
          </a:p>
        </p:txBody>
      </p:sp>
      <p:sp>
        <p:nvSpPr>
          <p:cNvPr id="27" name="Text 25"/>
          <p:cNvSpPr txBox="1"/>
          <p:nvPr/>
        </p:nvSpPr>
        <p:spPr>
          <a:xfrm>
            <a:off x="5230368" y="173225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00644"/>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표현만 바꿀 뿐 · 회전도 이동도 없음</a:t>
            </a:r>
            <a:endParaRPr lang="en-US" sz="1150" dirty="0"/>
          </a:p>
        </p:txBody>
      </p:sp>
      <p:sp>
        <p:nvSpPr>
          <p:cNvPr id="29" name="Text 27"/>
          <p:cNvSpPr txBox="1"/>
          <p:nvPr/>
        </p:nvSpPr>
        <p:spPr>
          <a:xfrm>
            <a:off x="5230368" y="252904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797433"/>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설치 도면이 공급 · 고정형이라 상수</a:t>
            </a:r>
            <a:endParaRPr lang="en-US" sz="1150" dirty="0"/>
          </a:p>
        </p:txBody>
      </p:sp>
      <p:sp>
        <p:nvSpPr>
          <p:cNvPr id="31" name="Text 29"/>
          <p:cNvSpPr txBox="1"/>
          <p:nvPr/>
        </p:nvSpPr>
        <p:spPr>
          <a:xfrm>
            <a:off x="5230368" y="3325830"/>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594222"/>
            <a:ext cx="6400800" cy="234843"/>
          </a:xfrm>
          <a:prstGeom prst="rect">
            <a:avLst/>
          </a:prstGeom>
          <a:noFill/>
          <a:ln/>
        </p:spPr>
        <p:txBody>
          <a:bodyPr wrap="square" lIns="0" tIns="0" rIns="0" bIns="0" rtlCol="0" anchor="ctr"/>
          <a:lstStyle/>
          <a:p>
            <a:pPr indent="0" marL="0">
              <a:buNone/>
            </a:pPr>
            <a:r>
              <a:rPr lang="en-US" sz="1050" b="1" dirty="0">
                <a:solidFill>
                  <a:srgbClr val="2B57A6"/>
                </a:solidFill>
                <a:latin typeface="맑은 고딕" pitchFamily="34" charset="0"/>
                <a:ea typeface="맑은 고딕" pitchFamily="34" charset="-122"/>
                <a:cs typeface="맑은 고딕" pitchFamily="34" charset="-120"/>
              </a:rPr>
              <a:t>회전  </a:t>
            </a:r>
            <a:pPr indent="0" marL="0">
              <a:buNone/>
            </a:pPr>
            <a:r>
              <a:rPr lang="en-US" sz="1050" dirty="0">
                <a:solidFill>
                  <a:srgbClr val="5A6478"/>
                </a:solidFill>
                <a:latin typeface="맑은 고딕" pitchFamily="34" charset="0"/>
                <a:ea typeface="맑은 고딕" pitchFamily="34" charset="-122"/>
                <a:cs typeface="맑은 고딕" pitchFamily="34" charset="-120"/>
              </a:rPr>
              <a:t>INS 자세가 공급 · 매 순간 변함</a:t>
            </a:r>
            <a:endParaRPr lang="en-US" sz="1150" dirty="0"/>
          </a:p>
        </p:txBody>
      </p:sp>
      <p:sp>
        <p:nvSpPr>
          <p:cNvPr id="33" name="Text 31"/>
          <p:cNvSpPr txBox="1"/>
          <p:nvPr/>
        </p:nvSpPr>
        <p:spPr>
          <a:xfrm>
            <a:off x="5230368" y="4122619"/>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391011"/>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INS 위치가 공급</a:t>
            </a:r>
            <a:endParaRPr lang="en-US" sz="1150" dirty="0"/>
          </a:p>
        </p:txBody>
      </p:sp>
      <p:sp>
        <p:nvSpPr>
          <p:cNvPr id="35" name="Text 33"/>
          <p:cNvSpPr txBox="1"/>
          <p:nvPr/>
        </p:nvSpPr>
        <p:spPr>
          <a:xfrm>
            <a:off x="5230368" y="4919408"/>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187801"/>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WGS-84 타원체 · 직교좌표 → 위경도</a:t>
            </a:r>
            <a:endParaRPr lang="en-US" sz="1150" dirty="0"/>
          </a:p>
        </p:txBody>
      </p:sp>
      <p:sp>
        <p:nvSpPr>
          <p:cNvPr id="37" name="Text 35"/>
          <p:cNvSpPr txBox="1"/>
          <p:nvPr/>
        </p:nvSpPr>
        <p:spPr>
          <a:xfrm>
            <a:off x="5230368" y="5582002"/>
            <a:ext cx="6400800" cy="654205"/>
          </a:xfrm>
          <a:prstGeom prst="rect">
            <a:avLst/>
          </a:prstGeom>
          <a:noFill/>
          <a:ln/>
        </p:spPr>
        <p:txBody>
          <a:bodyPr wrap="square" lIns="0" tIns="0" rIns="0" bIns="0" rtlCol="0" anchor="ctr"/>
          <a:lstStyle/>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표기 :  C_ned←body 는 동체 좌표를 NED 좌표로 바꾸는 회전행렬.</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v_ned = C_ned←body × v_body — 화살표 방향이 곧 변환 방향.</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거꾸로 갈 때는 전치 C_ned←bodyᵀ 를 곱한다.</a:t>
            </a:r>
            <a:endParaRPr lang="en-US" sz="1150" dirty="0"/>
          </a:p>
        </p:txBody>
      </p:sp>
      <p:sp>
        <p:nvSpPr>
          <p:cNvPr id="39" name="Rectangle 3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변환 체인 — 무엇이 회전과 이동을 공급하는가</a:t>
            </a:r>
          </a:p>
          <a:p>
            <a:pPr algn="l">
              <a:lnSpc>
                <a:spcPts val="1400"/>
              </a:lnSpc>
            </a:pPr>
            <a:r>
              <a:rPr sz="1100" b="0">
                <a:solidFill>
                  <a:srgbClr val="C9D6EC"/>
                </a:solidFill>
                <a:latin typeface="맑은 고딕"/>
              </a:rPr>
              <a:t>회전은 설치 방위와 INS(자세·위경도)가, 이동은 레버암과 INS(배 위치)가 공급합니다. 이 구분이 그대로 오차의 출처 목록이 됩니다.</a:t>
            </a:r>
          </a:p>
        </p:txBody>
      </p:sp>
      <p:sp>
        <p:nvSpPr>
          <p:cNvPr id="41" name="TextBox 40"/>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42" name="Connector 4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44" name="TextBox 4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463040" cy="640080"/>
          </a:xfrm>
          <a:prstGeom prst="rect">
            <a:avLst/>
          </a:prstGeom>
          <a:noFill/>
        </p:spPr>
        <p:txBody>
          <a:bodyPr wrap="none" anchor="ctr" lIns="0" rIns="0" tIns="0" bIns="0">
            <a:spAutoFit/>
          </a:bodyPr>
          <a:lstStyle/>
          <a:p>
            <a:pPr algn="l"/>
            <a:r>
              <a:rPr sz="3400" b="1">
                <a:solidFill>
                  <a:srgbClr val="FFFFFF"/>
                </a:solidFill>
                <a:latin typeface="Arial"/>
              </a:rPr>
              <a:t>LIG</a:t>
            </a:r>
          </a:p>
        </p:txBody>
      </p:sp>
      <p:cxnSp>
        <p:nvCxnSpPr>
          <p:cNvPr id="3" name="Connector 2"/>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0" y="640080"/>
            <a:ext cx="2194560" cy="292608"/>
          </a:xfrm>
          <a:prstGeom prst="rect">
            <a:avLst/>
          </a:prstGeom>
          <a:solidFill>
            <a:srgbClr val="13233F"/>
          </a:solidFill>
        </p:spPr>
        <p:txBody>
          <a:bodyPr wrap="none" anchor="ctr" lIns="0" rIns="0" tIns="0" bIns="0">
            <a:spAutoFit/>
          </a:bodyPr>
          <a:lstStyle/>
          <a:p>
            <a:pPr algn="ctr"/>
            <a:r>
              <a:rPr sz="1100" b="1">
                <a:solidFill>
                  <a:srgbClr val="FFFFFF"/>
                </a:solidFill>
                <a:latin typeface="Arial"/>
              </a:rPr>
              <a:t>LIG Defense&amp;Aerospace</a:t>
            </a:r>
          </a:p>
        </p:txBody>
      </p:sp>
      <p:sp>
        <p:nvSpPr>
          <p:cNvPr id="5" name="TextBox 4"/>
          <p:cNvSpPr txBox="1"/>
          <p:nvPr/>
        </p:nvSpPr>
        <p:spPr>
          <a:xfrm>
            <a:off x="868680" y="2011680"/>
            <a:ext cx="5486400" cy="384048"/>
          </a:xfrm>
          <a:prstGeom prst="rect">
            <a:avLst/>
          </a:prstGeom>
          <a:noFill/>
        </p:spPr>
        <p:txBody>
          <a:bodyPr wrap="none" anchor="t" lIns="0" rIns="0" tIns="0" bIns="0">
            <a:spAutoFit/>
          </a:bodyPr>
          <a:lstStyle/>
          <a:p>
            <a:pPr algn="l"/>
            <a:r>
              <a:rPr sz="1900" b="1">
                <a:solidFill>
                  <a:srgbClr val="8FA6CC"/>
                </a:solidFill>
                <a:latin typeface="Arial"/>
              </a:rPr>
              <a:t>Part 2</a:t>
            </a:r>
          </a:p>
        </p:txBody>
      </p:sp>
      <p:sp>
        <p:nvSpPr>
          <p:cNvPr id="6" name="TextBox 5"/>
          <p:cNvSpPr txBox="1"/>
          <p:nvPr/>
        </p:nvSpPr>
        <p:spPr>
          <a:xfrm>
            <a:off x="868680" y="2487168"/>
            <a:ext cx="10515600" cy="868680"/>
          </a:xfrm>
          <a:prstGeom prst="rect">
            <a:avLst/>
          </a:prstGeom>
          <a:noFill/>
        </p:spPr>
        <p:txBody>
          <a:bodyPr wrap="square" anchor="ctr" lIns="0" rIns="0" tIns="0" bIns="0">
            <a:spAutoFit/>
          </a:bodyPr>
          <a:lstStyle/>
          <a:p>
            <a:pPr algn="l"/>
            <a:r>
              <a:rPr sz="4000" b="1">
                <a:solidFill>
                  <a:srgbClr val="FFFFFF"/>
                </a:solidFill>
                <a:latin typeface="맑은 고딕"/>
              </a:rPr>
              <a:t>실전 설계</a:t>
            </a:r>
          </a:p>
        </p:txBody>
      </p:sp>
      <p:sp>
        <p:nvSpPr>
          <p:cNvPr id="7" name="TextBox 6"/>
          <p:cNvSpPr txBox="1"/>
          <p:nvPr/>
        </p:nvSpPr>
        <p:spPr>
          <a:xfrm>
            <a:off x="868680" y="3493008"/>
            <a:ext cx="10515600" cy="411480"/>
          </a:xfrm>
          <a:prstGeom prst="rect">
            <a:avLst/>
          </a:prstGeom>
          <a:noFill/>
        </p:spPr>
        <p:txBody>
          <a:bodyPr wrap="square" anchor="t" lIns="0" rIns="0" tIns="0" bIns="0">
            <a:spAutoFit/>
          </a:bodyPr>
          <a:lstStyle/>
          <a:p>
            <a:pPr algn="l"/>
            <a:r>
              <a:rPr sz="1600" b="0">
                <a:solidFill>
                  <a:srgbClr val="C9D6EC"/>
                </a:solidFill>
                <a:latin typeface="맑은 고딕"/>
              </a:rPr>
              <a:t>함선 고정형 안테나를 놓고 변환 경로를 설계합니다</a:t>
            </a:r>
          </a:p>
        </p:txBody>
      </p:sp>
      <p:sp>
        <p:nvSpPr>
          <p:cNvPr id="8" name="TextBox 7"/>
          <p:cNvSpPr txBox="1"/>
          <p:nvPr/>
        </p:nvSpPr>
        <p:spPr>
          <a:xfrm>
            <a:off x="868680" y="5230368"/>
            <a:ext cx="10515600" cy="365760"/>
          </a:xfrm>
          <a:prstGeom prst="rect">
            <a:avLst/>
          </a:prstGeom>
          <a:noFill/>
        </p:spPr>
        <p:txBody>
          <a:bodyPr wrap="square" anchor="t" lIns="0" rIns="0" tIns="0" bIns="0">
            <a:spAutoFit/>
          </a:bodyPr>
          <a:lstStyle/>
          <a:p>
            <a:pPr algn="l"/>
            <a:r>
              <a:rPr sz="1400" b="0">
                <a:solidFill>
                  <a:srgbClr val="8FA6CC"/>
                </a:solidFill>
                <a:latin typeface="맑은 고딕"/>
              </a:rPr>
              <a:t>신호처리  →  데이터 처리 (좌표변환 + 추적)  →  통제제어 전시기</a:t>
            </a:r>
          </a:p>
        </p:txBody>
      </p:sp>
      <p:cxnSp>
        <p:nvCxnSpPr>
          <p:cNvPr id="9" name="Connector 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FFFFFF"/>
                </a:solidFill>
                <a:latin typeface="Arial"/>
              </a:rPr>
              <a:t>LIG Defense&amp;Aerospace</a:t>
            </a:r>
          </a:p>
        </p:txBody>
      </p:sp>
      <p:sp>
        <p:nvSpPr>
          <p:cNvPr id="11" name="TextBox 1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EDF5"/>
        </a:solidFill>
        <a:effectLst/>
      </p:bgPr>
    </p:bg>
    <p:spTree>
      <p:nvGrpSpPr>
        <p:cNvPr id="1" name=""/>
        <p:cNvGrpSpPr/>
        <p:nvPr/>
      </p:nvGrpSpPr>
      <p:grpSpPr>
        <a:xfrm>
          <a:off x="0" y="0"/>
          <a:ext cx="0" cy="0"/>
          <a:chOff x="0" y="0"/>
          <a:chExt cx="0" cy="0"/>
        </a:xfrm>
      </p:grpSpPr>
      <p:sp>
        <p:nvSpPr>
          <p:cNvPr id="25" name="Rectangle 2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조건</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내용</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설계에 미치는 영향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① 플랫폼</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해상 함선, 고정형 안테나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안테나가 돌지 않는다 → 회전행렬이 상수.</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대신 배의 흔들림을 전부 계산으로 보상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② 안테나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선수 기준 시계방향 90°,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무게중심에서 30 m 뒤 / 10 m 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설치 방위 90°, 백틸트 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레버암 (−30, 0, −10) m</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③ INS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무게중심과 축 일치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INS 좌표계 = 동체 좌표계</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 변환 단계 하나가 통째로 생략</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④ 입력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안테나 기준 거리·방위각·고각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출발점이 안테나 극좌표로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⑤ 처리</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로컬 좌표계에서 수행</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중간 목적지가 NED 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⑥ 출력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위/경/고도 + 안테나 극좌표</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정변환뿐 아니라 역변환도 필요</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504688"/>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504688"/>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맑은 고딕" pitchFamily="34" charset="0"/>
                <a:ea typeface="맑은 고딕" pitchFamily="34" charset="-122"/>
                <a:cs typeface="맑은 고딕" pitchFamily="34" charset="-120"/>
              </a:rPr>
              <a:t>④·⑤·⑥ 이 체인의 출발점·중간점·도착점을 이미 지정합니다.  설계자가 정할 것은 그 사이를 어떻게 이을 것인가입니다.</a:t>
            </a:r>
            <a:endParaRPr lang="en-US" sz="1400" dirty="0"/>
          </a:p>
        </p:txBody>
      </p:sp>
      <p:sp>
        <p:nvSpPr>
          <p:cNvPr id="26" name="Rectangle 2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상황</a:t>
            </a:r>
          </a:p>
          <a:p>
            <a:pPr algn="l">
              <a:lnSpc>
                <a:spcPts val="1400"/>
              </a:lnSpc>
            </a:pPr>
            <a:r>
              <a:rPr sz="1100" b="0">
                <a:solidFill>
                  <a:srgbClr val="C9D6EC"/>
                </a:solidFill>
                <a:latin typeface="맑은 고딕"/>
              </a:rPr>
              <a:t>주어진 조건 여섯 가지와, 그것이 설계를 어떻게 묶는가</a:t>
            </a:r>
          </a:p>
        </p:txBody>
      </p:sp>
      <p:sp>
        <p:nvSpPr>
          <p:cNvPr id="28" name="TextBox 27"/>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9" name="Connector 2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1" name="TextBox 3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8EDF5"/>
        </a:solidFill>
        <a:effectLst/>
      </p:bgPr>
    </p:bg>
    <p:spTree>
      <p:nvGrpSpPr>
        <p:cNvPr id="1" name=""/>
        <p:cNvGrpSpPr/>
        <p:nvPr/>
      </p:nvGrpSpPr>
      <p:grpSpPr>
        <a:xfrm>
          <a:off x="0" y="0"/>
          <a:ext cx="0" cy="0"/>
          <a:chOff x="0" y="0"/>
          <a:chExt cx="0" cy="0"/>
        </a:xfrm>
      </p:grpSpPr>
      <p:sp>
        <p:nvSpPr>
          <p:cNvPr id="26" name="Rectangle 2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단계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좌표계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왜 이것인가</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0</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극좌표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레이다가 물리적으로 잴 수 있는 것이 거리와 두 각도뿐</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1</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직교좌표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회전행렬은 벡터에만 곱할 수 있다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2</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동체 (Body)</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안테나·INS·무장이 만나는 유일한 공통 기준.</a:t>
                      </a:r>
                      <a:endParaRPr lang="en-US" sz="1250" dirty="0">
                        <a:latin typeface="맑은 고딕" charset="0"/>
                        <a:ea typeface="맑은 고딕" charset="0"/>
                        <a:cs typeface="맑은 고딕" charset="0"/>
                      </a:endParaRPr>
                    </a:p>
                    <a:p>
                      <a:pPr indent="0" marL="0">
                        <a:buNone/>
                      </a:pPr>
                      <a:r>
                        <a:rPr lang="en-US" sz="1250" dirty="0">
                          <a:solidFill>
                            <a:srgbClr val="1A2233"/>
                          </a:solidFill>
                          <a:latin typeface="맑은 고딕" pitchFamily="34" charset="0"/>
                          <a:ea typeface="맑은 고딕" pitchFamily="34" charset="-122"/>
                          <a:cs typeface="맑은 고딕" pitchFamily="34" charset="-120"/>
                        </a:rPr>
                        <a:t>배를 거치지 않고 바깥으로 나갈 방법이 없다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3</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로컬 (NED)</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맑은 고딕" pitchFamily="34" charset="0"/>
                          <a:ea typeface="맑은 고딕" pitchFamily="34" charset="-122"/>
                          <a:cs typeface="맑은 고딕" pitchFamily="34" charset="-120"/>
                        </a:rPr>
                        <a:t>배가 흔들려도 이 좌표계는 흔들리지 않는다.</a:t>
                      </a:r>
                      <a:endParaRPr lang="en-US" sz="1250" dirty="0">
                        <a:latin typeface="맑은 고딕" charset="0"/>
                        <a:ea typeface="맑은 고딕" charset="0"/>
                        <a:cs typeface="맑은 고딕" charset="0"/>
                      </a:endParaRPr>
                    </a:p>
                    <a:p>
                      <a:pPr indent="0" marL="0">
                        <a:buNone/>
                      </a:pPr>
                      <a:r>
                        <a:rPr lang="en-US" sz="1250" dirty="0">
                          <a:solidFill>
                            <a:srgbClr val="C2521C"/>
                          </a:solidFill>
                          <a:latin typeface="맑은 고딕" pitchFamily="34" charset="0"/>
                          <a:ea typeface="맑은 고딕" pitchFamily="34" charset="-122"/>
                          <a:cs typeface="맑은 고딕" pitchFamily="34" charset="-120"/>
                        </a:rPr>
                        <a:t>ENU 가 아닌 NED 인 이유는 동체 FRD 와 축 의미가 맞아서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4</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ECEF</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로컬에서 위경도로 곧장 갈 수 없다 — 다리 역할</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5</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LLA</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전시기·통제제어가 지도 위에 표시하는 형식</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110779"/>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맑은 고딕" pitchFamily="34" charset="0"/>
                <a:ea typeface="맑은 고딕" pitchFamily="34" charset="-122"/>
                <a:cs typeface="맑은 고딕" pitchFamily="34" charset="-120"/>
              </a:rPr>
              <a:t>쓰지 않은 좌표계</a:t>
            </a:r>
            <a:endParaRPr lang="en-US" sz="1400" dirty="0"/>
          </a:p>
        </p:txBody>
      </p:sp>
      <p:sp>
        <p:nvSpPr>
          <p:cNvPr id="5" name="Shape 2"/>
          <p:cNvSpPr/>
          <p:nvPr/>
        </p:nvSpPr>
        <p:spPr>
          <a:xfrm>
            <a:off x="566928"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INS</a:t>
            </a:r>
            <a:endParaRPr lang="en-US" sz="1200" dirty="0"/>
          </a:p>
        </p:txBody>
      </p:sp>
      <p:sp>
        <p:nvSpPr>
          <p:cNvPr id="7" name="Text 4"/>
          <p:cNvSpPr txBox="1"/>
          <p:nvPr/>
        </p:nvSpPr>
        <p:spPr>
          <a:xfrm>
            <a:off x="713232"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③ 에 의해 동체와 일치. 항등행렬을 곱하는 셈</a:t>
            </a:r>
            <a:endParaRPr lang="en-US" sz="1050" dirty="0"/>
          </a:p>
        </p:txBody>
      </p:sp>
      <p:sp>
        <p:nvSpPr>
          <p:cNvPr id="8" name="Shape 5"/>
          <p:cNvSpPr/>
          <p:nvPr/>
        </p:nvSpPr>
        <p:spPr>
          <a:xfrm>
            <a:off x="3364992"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UV</a:t>
            </a:r>
            <a:endParaRPr lang="en-US" sz="1200" dirty="0"/>
          </a:p>
        </p:txBody>
      </p:sp>
      <p:sp>
        <p:nvSpPr>
          <p:cNvPr id="10" name="Text 7"/>
          <p:cNvSpPr txBox="1"/>
          <p:nvPr/>
        </p:nvSpPr>
        <p:spPr>
          <a:xfrm>
            <a:off x="3511296"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빔 조향은 안테나 내부의 일 — 데이터 처리 체인 밖</a:t>
            </a:r>
            <a:endParaRPr lang="en-US" sz="1050" dirty="0"/>
          </a:p>
        </p:txBody>
      </p:sp>
      <p:sp>
        <p:nvSpPr>
          <p:cNvPr id="11" name="Shape 8"/>
          <p:cNvSpPr/>
          <p:nvPr/>
        </p:nvSpPr>
        <p:spPr>
          <a:xfrm>
            <a:off x="6163056"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ECI</a:t>
            </a:r>
            <a:endParaRPr lang="en-US" sz="1200" dirty="0"/>
          </a:p>
        </p:txBody>
      </p:sp>
      <p:sp>
        <p:nvSpPr>
          <p:cNvPr id="13" name="Text 10"/>
          <p:cNvSpPr txBox="1"/>
          <p:nvPr/>
        </p:nvSpPr>
        <p:spPr>
          <a:xfrm>
            <a:off x="6309360"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관성 동역학 전파가 필요할 때만 (위성·탄도탄)</a:t>
            </a:r>
            <a:endParaRPr lang="en-US" sz="1050" dirty="0"/>
          </a:p>
        </p:txBody>
      </p:sp>
      <p:sp>
        <p:nvSpPr>
          <p:cNvPr id="14" name="Shape 11"/>
          <p:cNvSpPr/>
          <p:nvPr/>
        </p:nvSpPr>
        <p:spPr>
          <a:xfrm>
            <a:off x="8961120"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ENU</a:t>
            </a:r>
            <a:endParaRPr lang="en-US" sz="1200" dirty="0"/>
          </a:p>
        </p:txBody>
      </p:sp>
      <p:sp>
        <p:nvSpPr>
          <p:cNvPr id="16" name="Text 13"/>
          <p:cNvSpPr txBox="1"/>
          <p:nvPr/>
        </p:nvSpPr>
        <p:spPr>
          <a:xfrm>
            <a:off x="9107424"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NED 와 정보량이 같다 — 하나로 통일</a:t>
            </a:r>
            <a:endParaRPr lang="en-US" sz="1050" dirty="0"/>
          </a:p>
        </p:txBody>
      </p:sp>
      <p:sp>
        <p:nvSpPr>
          <p:cNvPr id="27" name="Rectangle 2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좌표계 선정과 그 이유</a:t>
            </a:r>
          </a:p>
        </p:txBody>
      </p:sp>
      <p:sp>
        <p:nvSpPr>
          <p:cNvPr id="29" name="TextBox 28"/>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0" name="Connector 2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2" name="TextBox 3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fig10_layout.png"/>
          <p:cNvPicPr>
            <a:picLocks noChangeAspect="1"/>
          </p:cNvPicPr>
          <p:nvPr/>
        </p:nvPicPr>
        <p:blipFill>
          <a:blip r:embed="rId4"/>
          <a:stretch>
            <a:fillRect/>
          </a:stretch>
        </p:blipFill>
        <p:spPr>
          <a:xfrm>
            <a:off x="502920" y="1399032"/>
            <a:ext cx="4572000" cy="4233672"/>
          </a:xfrm>
          <a:prstGeom prst="rect">
            <a:avLst/>
          </a:prstGeom>
        </p:spPr>
      </p:pic>
      <p:sp>
        <p:nvSpPr>
          <p:cNvPr id="4" name="Shape 1"/>
          <p:cNvSpPr/>
          <p:nvPr/>
        </p:nvSpPr>
        <p:spPr>
          <a:xfrm>
            <a:off x="5504688" y="1371600"/>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536192"/>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2048256"/>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맑은 고딕" pitchFamily="34" charset="0"/>
                <a:ea typeface="맑은 고딕" pitchFamily="34" charset="-122"/>
                <a:cs typeface="맑은 고딕" pitchFamily="34" charset="-120"/>
              </a:rPr>
              <a:t>선수</a:t>
            </a:r>
            <a:endParaRPr lang="en-US" sz="1150" dirty="0"/>
          </a:p>
        </p:txBody>
      </p:sp>
      <p:sp>
        <p:nvSpPr>
          <p:cNvPr id="7" name="Text 4"/>
          <p:cNvSpPr txBox="1"/>
          <p:nvPr/>
        </p:nvSpPr>
        <p:spPr>
          <a:xfrm>
            <a:off x="7722108" y="1536192"/>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2048256"/>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맑은 고딕" pitchFamily="34" charset="0"/>
                <a:ea typeface="맑은 고딕" pitchFamily="34" charset="-122"/>
                <a:cs typeface="맑은 고딕" pitchFamily="34" charset="-120"/>
              </a:rPr>
              <a:t>안테나 설치</a:t>
            </a:r>
            <a:endParaRPr lang="en-US" sz="1150" dirty="0"/>
          </a:p>
        </p:txBody>
      </p:sp>
      <p:sp>
        <p:nvSpPr>
          <p:cNvPr id="9" name="Text 6"/>
          <p:cNvSpPr txBox="1"/>
          <p:nvPr/>
        </p:nvSpPr>
        <p:spPr>
          <a:xfrm>
            <a:off x="9870948" y="1536192"/>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2048256"/>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맑은 고딕" pitchFamily="34" charset="0"/>
                <a:ea typeface="맑은 고딕" pitchFamily="34" charset="-122"/>
                <a:cs typeface="맑은 고딕" pitchFamily="34" charset="-120"/>
              </a:rPr>
              <a:t>측정 Az</a:t>
            </a:r>
            <a:endParaRPr lang="en-US" sz="1150" dirty="0"/>
          </a:p>
        </p:txBody>
      </p:sp>
      <p:sp>
        <p:nvSpPr>
          <p:cNvPr id="11" name="Text 8"/>
          <p:cNvSpPr txBox="1"/>
          <p:nvPr/>
        </p:nvSpPr>
        <p:spPr>
          <a:xfrm>
            <a:off x="7264908" y="1536192"/>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536192"/>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77440"/>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346704"/>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맑은 고딕" pitchFamily="34" charset="0"/>
                <a:ea typeface="맑은 고딕" pitchFamily="34" charset="-122"/>
                <a:cs typeface="맑은 고딕" pitchFamily="34" charset="-120"/>
              </a:rPr>
              <a:t>세 번 연달아 오른쪽으로 돌았을 뿐이니, 직관적으로도 당연합니다.</a:t>
            </a:r>
            <a:endParaRPr lang="en-US" sz="1400" dirty="0"/>
          </a:p>
        </p:txBody>
      </p:sp>
      <p:sp>
        <p:nvSpPr>
          <p:cNvPr id="15" name="Text 12"/>
          <p:cNvSpPr txBox="1"/>
          <p:nvPr/>
        </p:nvSpPr>
        <p:spPr>
          <a:xfrm>
            <a:off x="5504688" y="3712464"/>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맑은 고딕" pitchFamily="34" charset="0"/>
                <a:ea typeface="맑은 고딕" pitchFamily="34" charset="-122"/>
                <a:cs typeface="맑은 고딕" pitchFamily="34" charset="-120"/>
              </a:rPr>
              <a:t>실제 계산값 165.074° — 차이 0.074° 는 레버암 30 m 때문</a:t>
            </a:r>
            <a:endParaRPr lang="en-US" sz="1200" dirty="0"/>
          </a:p>
        </p:txBody>
      </p:sp>
      <p:sp>
        <p:nvSpPr>
          <p:cNvPr id="16" name="Shape 13"/>
          <p:cNvSpPr/>
          <p:nvPr/>
        </p:nvSpPr>
        <p:spPr>
          <a:xfrm>
            <a:off x="5504688" y="4297680"/>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462272"/>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그런데 왜 굳이 행렬을 쓸까?</a:t>
            </a:r>
            <a:endParaRPr lang="en-US" sz="1600" dirty="0"/>
          </a:p>
        </p:txBody>
      </p:sp>
      <p:sp>
        <p:nvSpPr>
          <p:cNvPr id="18" name="Text 15"/>
          <p:cNvSpPr txBox="1"/>
          <p:nvPr/>
        </p:nvSpPr>
        <p:spPr>
          <a:xfrm>
            <a:off x="5742432" y="4864608"/>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roll 이나 pitch 가 조금이라도 있으면</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세 축의 회전이 서로 섞이기 때문입니다.</a:t>
            </a:r>
            <a:endParaRPr lang="en-US" sz="135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배가 기울지 않았다면 — 방위각은 그냥 더해진다</a:t>
            </a:r>
          </a:p>
        </p:txBody>
      </p:sp>
      <p:sp>
        <p:nvSpPr>
          <p:cNvPr id="23" name="TextBox 22"/>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26" name="TextBox 2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8EDF5"/>
        </a:solidFill>
        <a:effectLst/>
      </p:bgPr>
    </p:bg>
    <p:spTree>
      <p:nvGrpSpPr>
        <p:cNvPr id="1" name=""/>
        <p:cNvGrpSpPr/>
        <p:nvPr/>
      </p:nvGrpSpPr>
      <p:grpSpPr>
        <a:xfrm>
          <a:off x="0" y="0"/>
          <a:ext cx="0" cy="0"/>
          <a:chOff x="0" y="0"/>
          <a:chExt cx="0" cy="0"/>
        </a:xfrm>
      </p:grpSpPr>
      <p:sp>
        <p:nvSpPr>
          <p:cNvPr id="23" name="Rectangle 2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6" name="Text 4"/>
          <p:cNvSpPr txBox="1"/>
          <p:nvPr/>
        </p:nvSpPr>
        <p:spPr>
          <a:xfrm>
            <a:off x="1371600" y="153619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극좌표 → 직교좌표</a:t>
            </a:r>
            <a:endParaRPr lang="en-US" sz="1600" dirty="0"/>
          </a:p>
        </p:txBody>
      </p:sp>
      <p:sp>
        <p:nvSpPr>
          <p:cNvPr id="7" name="Text 5"/>
          <p:cNvSpPr txBox="1"/>
          <p:nvPr/>
        </p:nvSpPr>
        <p:spPr>
          <a:xfrm>
            <a:off x="1371600" y="190195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표현 변경 (회전·이동 없음)</a:t>
            </a:r>
            <a:endParaRPr lang="en-US" sz="1200" dirty="0"/>
          </a:p>
        </p:txBody>
      </p:sp>
      <p:sp>
        <p:nvSpPr>
          <p:cNvPr id="8" name="Text 6"/>
          <p:cNvSpPr txBox="1"/>
          <p:nvPr/>
        </p:nvSpPr>
        <p:spPr>
          <a:xfrm>
            <a:off x="5212080" y="155448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16352"/>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2999232"/>
            <a:ext cx="402336" cy="402336"/>
          </a:xfrm>
          <a:prstGeom prst="ellipse">
            <a:avLst/>
          </a:prstGeom>
          <a:solidFill>
            <a:srgbClr val="2B57A6"/>
          </a:solidFill>
          <a:ln/>
        </p:spPr>
        <p:txBody>
          <a:bodyPr/>
          <a:p/>
        </p:txBody>
      </p:sp>
      <p:sp>
        <p:nvSpPr>
          <p:cNvPr id="11" name="Text 9"/>
          <p:cNvSpPr txBox="1"/>
          <p:nvPr/>
        </p:nvSpPr>
        <p:spPr>
          <a:xfrm>
            <a:off x="822960" y="29992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2" name="Text 10"/>
          <p:cNvSpPr txBox="1"/>
          <p:nvPr/>
        </p:nvSpPr>
        <p:spPr>
          <a:xfrm>
            <a:off x="1371600" y="2980944"/>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 동체</a:t>
            </a:r>
            <a:endParaRPr lang="en-US" sz="1600" dirty="0"/>
          </a:p>
        </p:txBody>
      </p:sp>
      <p:sp>
        <p:nvSpPr>
          <p:cNvPr id="13" name="Text 11"/>
          <p:cNvSpPr txBox="1"/>
          <p:nvPr/>
        </p:nvSpPr>
        <p:spPr>
          <a:xfrm>
            <a:off x="1371600" y="3346704"/>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14" name="Text 12"/>
          <p:cNvSpPr txBox="1"/>
          <p:nvPr/>
        </p:nvSpPr>
        <p:spPr>
          <a:xfrm>
            <a:off x="5212080" y="2999232"/>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(−10,030.0, +17,320.5, −10.0)</a:t>
            </a:r>
            <a:endParaRPr lang="en-US" sz="1150" dirty="0"/>
          </a:p>
        </p:txBody>
      </p:sp>
      <p:sp>
        <p:nvSpPr>
          <p:cNvPr id="15" name="Shape 13"/>
          <p:cNvSpPr/>
          <p:nvPr/>
        </p:nvSpPr>
        <p:spPr>
          <a:xfrm>
            <a:off x="566928" y="426110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443984"/>
            <a:ext cx="402336" cy="402336"/>
          </a:xfrm>
          <a:prstGeom prst="ellipse">
            <a:avLst/>
          </a:prstGeom>
          <a:solidFill>
            <a:srgbClr val="2B57A6"/>
          </a:solidFill>
          <a:ln/>
        </p:spPr>
        <p:txBody>
          <a:bodyPr/>
          <a:p/>
        </p:txBody>
      </p:sp>
      <p:sp>
        <p:nvSpPr>
          <p:cNvPr id="17" name="Text 15"/>
          <p:cNvSpPr txBox="1"/>
          <p:nvPr/>
        </p:nvSpPr>
        <p:spPr>
          <a:xfrm>
            <a:off x="822960" y="44439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Text 16"/>
          <p:cNvSpPr txBox="1"/>
          <p:nvPr/>
        </p:nvSpPr>
        <p:spPr>
          <a:xfrm>
            <a:off x="1371600" y="442569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동체 → 로컬 (NED)</a:t>
            </a:r>
            <a:endParaRPr lang="en-US" sz="1600" dirty="0"/>
          </a:p>
        </p:txBody>
      </p:sp>
      <p:sp>
        <p:nvSpPr>
          <p:cNvPr id="19" name="Text 17"/>
          <p:cNvSpPr txBox="1"/>
          <p:nvPr/>
        </p:nvSpPr>
        <p:spPr>
          <a:xfrm>
            <a:off x="1371600" y="479145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회전만 (원점이 같음)</a:t>
            </a:r>
            <a:endParaRPr lang="en-US" sz="1200" dirty="0"/>
          </a:p>
        </p:txBody>
      </p:sp>
      <p:sp>
        <p:nvSpPr>
          <p:cNvPr id="20" name="Text 18"/>
          <p:cNvSpPr txBox="1"/>
          <p:nvPr/>
        </p:nvSpPr>
        <p:spPr>
          <a:xfrm>
            <a:off x="5212080" y="444398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−19,339.73, E +5,155.17,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779008"/>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779008"/>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맑은 고딕" pitchFamily="34" charset="0"/>
                <a:ea typeface="맑은 고딕" pitchFamily="34" charset="-122"/>
                <a:cs typeface="맑은 고딕" pitchFamily="34" charset="-120"/>
              </a:rPr>
              <a:t>여기가 데이터 처리 구간 — 추적·필터링은 로컬 좌표계에서 수행합니다</a:t>
            </a:r>
            <a:endParaRPr lang="en-US" sz="1350" dirty="0"/>
          </a:p>
        </p:txBody>
      </p:sp>
      <p:sp>
        <p:nvSpPr>
          <p:cNvPr id="24" name="Rectangle 2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①~③  안테나 → 동체 → 로컬</a:t>
            </a:r>
          </a:p>
        </p:txBody>
      </p:sp>
      <p:sp>
        <p:nvSpPr>
          <p:cNvPr id="26" name="TextBox 25"/>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7" name="Connector 2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29" name="TextBox 2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① 배의 위치를 ECEF 로</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② 로컬 벡터를 지구 방향으로 회전</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(회전량은 배의 위도·경도가 결정)</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N 을 알아야 위도를 구할 수 있기 때문.</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구로 본 위도에서 출발, 값이 안 변할 때까지 반복</a:t>
            </a:r>
            <a:endParaRPr lang="en-US" sz="1250" dirty="0"/>
          </a:p>
        </p:txBody>
      </p:sp>
      <p:sp>
        <p:nvSpPr>
          <p:cNvPr id="15" name="Shape 13"/>
          <p:cNvSpPr/>
          <p:nvPr/>
        </p:nvSpPr>
        <p:spPr>
          <a:xfrm>
            <a:off x="566928" y="3626510"/>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26510"/>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681728"/>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828032"/>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왜 고도가 10 m 가 아니라 41.5 m 인가?</a:t>
            </a:r>
            <a:endParaRPr lang="en-US" sz="1600" dirty="0"/>
          </a:p>
        </p:txBody>
      </p:sp>
      <p:sp>
        <p:nvSpPr>
          <p:cNvPr id="19" name="Text 17"/>
          <p:cNvSpPr txBox="1"/>
          <p:nvPr/>
        </p:nvSpPr>
        <p:spPr>
          <a:xfrm>
            <a:off x="859536" y="5230368"/>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그런데 빔은 직진하는데 바다 표면은 멀어질수록 아래로 휘어 내려갑니다. 20 km 지점에서 그 차이가 31.5 m,  10 + 31.5 = 41.5 m.</a:t>
            </a:r>
            <a:endParaRPr lang="en-US" sz="135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④~⑤  로컬 → ECEF → 위경도</a:t>
            </a:r>
          </a:p>
        </p:txBody>
      </p:sp>
      <p:sp>
        <p:nvSpPr>
          <p:cNvPr id="23" name="TextBox 22"/>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26" name="TextBox 2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481328"/>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맑은 고딕" pitchFamily="34" charset="0"/>
                <a:ea typeface="맑은 고딕" pitchFamily="34" charset="-122"/>
                <a:cs typeface="맑은 고딕" pitchFamily="34" charset="-120"/>
              </a:rPr>
              <a:t>역변환은 새로 배울 것이 없습니다</a:t>
            </a:r>
            <a:endParaRPr lang="en-US" sz="1800" dirty="0"/>
          </a:p>
        </p:txBody>
      </p:sp>
      <p:sp>
        <p:nvSpPr>
          <p:cNvPr id="6" name="Text 4"/>
          <p:cNvSpPr txBox="1"/>
          <p:nvPr/>
        </p:nvSpPr>
        <p:spPr>
          <a:xfrm>
            <a:off x="566928" y="1883663"/>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맑은 고딕" pitchFamily="34" charset="0"/>
                <a:ea typeface="맑은 고딕" pitchFamily="34" charset="-122"/>
                <a:cs typeface="맑은 고딕" pitchFamily="34" charset="-120"/>
              </a:rPr>
              <a:t>① 회전은 전치 (transpose)      ② 평행이동은 빼기      ③ 순서는 거꾸로</a:t>
            </a:r>
            <a:endParaRPr lang="en-US" sz="1600" dirty="0"/>
          </a:p>
        </p:txBody>
      </p:sp>
      <p:sp>
        <p:nvSpPr>
          <p:cNvPr id="7" name="Shape 5"/>
          <p:cNvSpPr/>
          <p:nvPr/>
        </p:nvSpPr>
        <p:spPr>
          <a:xfrm>
            <a:off x="566928" y="2596896"/>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706624"/>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590288"/>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590288"/>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504688"/>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맑은 고딕" pitchFamily="34" charset="0"/>
                <a:ea typeface="맑은 고딕" pitchFamily="34" charset="-122"/>
                <a:cs typeface="맑은 고딕"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5870447"/>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맑은 고딕" pitchFamily="34" charset="0"/>
                <a:ea typeface="맑은 고딕" pitchFamily="34" charset="-122"/>
                <a:cs typeface="맑은 고딕" pitchFamily="34" charset="-120"/>
              </a:rPr>
              <a:t>부호 하나, 전치 방향 하나만 틀려도 이 왕복 시험은 즉시 실패합니다 — 그래서 가장 강력한 검증 수단이 됩니다.</a:t>
            </a:r>
            <a:endParaRPr lang="en-US" sz="125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되돌아오기 — 역변환</a:t>
            </a:r>
          </a:p>
          <a:p>
            <a:pPr algn="l">
              <a:lnSpc>
                <a:spcPts val="1400"/>
              </a:lnSpc>
            </a:pPr>
            <a:r>
              <a:rPr sz="1100" b="0">
                <a:solidFill>
                  <a:srgbClr val="C9D6EC"/>
                </a:solidFill>
                <a:latin typeface="맑은 고딕"/>
              </a:rPr>
              <a:t>조건 ⑥ 은 결과를 두 가지 형태로 요구합니다</a:t>
            </a:r>
          </a:p>
        </p:txBody>
      </p:sp>
      <p:sp>
        <p:nvSpPr>
          <p:cNvPr id="16" name="TextBox 15"/>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463040" cy="640080"/>
          </a:xfrm>
          <a:prstGeom prst="rect">
            <a:avLst/>
          </a:prstGeom>
          <a:noFill/>
        </p:spPr>
        <p:txBody>
          <a:bodyPr wrap="none" anchor="ctr" lIns="0" rIns="0" tIns="0" bIns="0">
            <a:spAutoFit/>
          </a:bodyPr>
          <a:lstStyle/>
          <a:p>
            <a:pPr algn="l"/>
            <a:r>
              <a:rPr sz="3400" b="1">
                <a:solidFill>
                  <a:srgbClr val="FFFFFF"/>
                </a:solidFill>
                <a:latin typeface="Arial"/>
              </a:rPr>
              <a:t>LIG</a:t>
            </a:r>
          </a:p>
        </p:txBody>
      </p:sp>
      <p:cxnSp>
        <p:nvCxnSpPr>
          <p:cNvPr id="3" name="Connector 2"/>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0" y="640080"/>
            <a:ext cx="2194560" cy="292608"/>
          </a:xfrm>
          <a:prstGeom prst="rect">
            <a:avLst/>
          </a:prstGeom>
          <a:solidFill>
            <a:srgbClr val="13233F"/>
          </a:solidFill>
        </p:spPr>
        <p:txBody>
          <a:bodyPr wrap="none" anchor="ctr" lIns="0" rIns="0" tIns="0" bIns="0">
            <a:spAutoFit/>
          </a:bodyPr>
          <a:lstStyle/>
          <a:p>
            <a:pPr algn="ctr"/>
            <a:r>
              <a:rPr sz="1100" b="1">
                <a:solidFill>
                  <a:srgbClr val="FFFFFF"/>
                </a:solidFill>
                <a:latin typeface="Arial"/>
              </a:rPr>
              <a:t>LIG Defense&amp;Aerospace</a:t>
            </a:r>
          </a:p>
        </p:txBody>
      </p:sp>
      <p:sp>
        <p:nvSpPr>
          <p:cNvPr id="5" name="TextBox 4"/>
          <p:cNvSpPr txBox="1"/>
          <p:nvPr/>
        </p:nvSpPr>
        <p:spPr>
          <a:xfrm>
            <a:off x="868680" y="2011680"/>
            <a:ext cx="5486400" cy="384048"/>
          </a:xfrm>
          <a:prstGeom prst="rect">
            <a:avLst/>
          </a:prstGeom>
          <a:noFill/>
        </p:spPr>
        <p:txBody>
          <a:bodyPr wrap="none" anchor="t" lIns="0" rIns="0" tIns="0" bIns="0">
            <a:spAutoFit/>
          </a:bodyPr>
          <a:lstStyle/>
          <a:p>
            <a:pPr algn="l"/>
            <a:r>
              <a:rPr sz="1900" b="1">
                <a:solidFill>
                  <a:srgbClr val="8FA6CC"/>
                </a:solidFill>
                <a:latin typeface="Arial"/>
              </a:rPr>
              <a:t>Part 3</a:t>
            </a:r>
          </a:p>
        </p:txBody>
      </p:sp>
      <p:sp>
        <p:nvSpPr>
          <p:cNvPr id="6" name="TextBox 5"/>
          <p:cNvSpPr txBox="1"/>
          <p:nvPr/>
        </p:nvSpPr>
        <p:spPr>
          <a:xfrm>
            <a:off x="868680" y="2487168"/>
            <a:ext cx="10515600" cy="868680"/>
          </a:xfrm>
          <a:prstGeom prst="rect">
            <a:avLst/>
          </a:prstGeom>
          <a:noFill/>
        </p:spPr>
        <p:txBody>
          <a:bodyPr wrap="square" anchor="ctr" lIns="0" rIns="0" tIns="0" bIns="0">
            <a:spAutoFit/>
          </a:bodyPr>
          <a:lstStyle/>
          <a:p>
            <a:pPr algn="l"/>
            <a:r>
              <a:rPr sz="4000" b="1">
                <a:solidFill>
                  <a:srgbClr val="FFFFFF"/>
                </a:solidFill>
                <a:latin typeface="맑은 고딕"/>
              </a:rPr>
              <a:t>C 로 짜서 확인하기</a:t>
            </a:r>
          </a:p>
        </p:txBody>
      </p:sp>
      <p:sp>
        <p:nvSpPr>
          <p:cNvPr id="7" name="TextBox 6"/>
          <p:cNvSpPr txBox="1"/>
          <p:nvPr/>
        </p:nvSpPr>
        <p:spPr>
          <a:xfrm>
            <a:off x="868680" y="3493008"/>
            <a:ext cx="10515600" cy="411480"/>
          </a:xfrm>
          <a:prstGeom prst="rect">
            <a:avLst/>
          </a:prstGeom>
          <a:noFill/>
        </p:spPr>
        <p:txBody>
          <a:bodyPr wrap="square" anchor="t" lIns="0" rIns="0" tIns="0" bIns="0">
            <a:spAutoFit/>
          </a:bodyPr>
          <a:lstStyle/>
          <a:p>
            <a:pPr algn="l"/>
            <a:r>
              <a:rPr sz="1600" b="0">
                <a:solidFill>
                  <a:srgbClr val="C9D6EC"/>
                </a:solidFill>
                <a:latin typeface="맑은 고딕"/>
              </a:rPr>
              <a:t>좌표변환은 "적당히 그럴듯한 값"이 나오기 때문에 눈으로는 검증되지 않습니다</a:t>
            </a:r>
          </a:p>
        </p:txBody>
      </p:sp>
      <p:sp>
        <p:nvSpPr>
          <p:cNvPr id="8" name="TextBox 7"/>
          <p:cNvSpPr txBox="1"/>
          <p:nvPr/>
        </p:nvSpPr>
        <p:spPr>
          <a:xfrm>
            <a:off x="868680" y="5230368"/>
            <a:ext cx="10515600" cy="365760"/>
          </a:xfrm>
          <a:prstGeom prst="rect">
            <a:avLst/>
          </a:prstGeom>
          <a:noFill/>
        </p:spPr>
        <p:txBody>
          <a:bodyPr wrap="square" anchor="t" lIns="0" rIns="0" tIns="0" bIns="0">
            <a:spAutoFit/>
          </a:bodyPr>
          <a:lstStyle/>
          <a:p>
            <a:pPr algn="l"/>
            <a:r>
              <a:rPr sz="1400" b="0">
                <a:solidFill>
                  <a:srgbClr val="8FA6CC"/>
                </a:solidFill>
                <a:latin typeface="맑은 고딕"/>
              </a:rPr>
              <a:t>Visual Studio 2022  ·  C17  ·  경고 0건  ·  왕복 오차 1e−9 m 미만</a:t>
            </a:r>
          </a:p>
        </p:txBody>
      </p:sp>
      <p:cxnSp>
        <p:nvCxnSpPr>
          <p:cNvPr id="9" name="Connector 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FFFFFF"/>
                </a:solidFill>
                <a:latin typeface="Arial"/>
              </a:rPr>
              <a:t>LIG Defense&amp;Aerospace</a:t>
            </a:r>
          </a:p>
        </p:txBody>
      </p:sp>
      <p:sp>
        <p:nvSpPr>
          <p:cNvPr id="11" name="TextBox 1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8EDF5"/>
        </a:solidFill>
        <a:effectLst/>
      </p:bgPr>
    </p:bg>
    <p:spTree>
      <p:nvGrpSpPr>
        <p:cNvPr id="1" name=""/>
        <p:cNvGrpSpPr/>
        <p:nvPr/>
      </p:nvGrpSpPr>
      <p:grpSpPr>
        <a:xfrm>
          <a:off x="0" y="0"/>
          <a:ext cx="0" cy="0"/>
          <a:chOff x="0" y="0"/>
          <a:chExt cx="0" cy="0"/>
        </a:xfrm>
      </p:grpSpPr>
      <p:sp>
        <p:nvSpPr>
          <p:cNvPr id="32" name="Rectangle 3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1790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①</a:t>
            </a:r>
            <a:endParaRPr lang="en-US" sz="2600" dirty="0"/>
          </a:p>
        </p:txBody>
      </p:sp>
      <p:sp>
        <p:nvSpPr>
          <p:cNvPr id="6" name="Text 4"/>
          <p:cNvSpPr txBox="1"/>
          <p:nvPr/>
        </p:nvSpPr>
        <p:spPr>
          <a:xfrm>
            <a:off x="1463040" y="153619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함수 이름에 방향을 박는다</a:t>
            </a:r>
            <a:endParaRPr lang="en-US" sz="1600" dirty="0"/>
          </a:p>
        </p:txBody>
      </p:sp>
      <p:sp>
        <p:nvSpPr>
          <p:cNvPr id="7" name="Text 5"/>
          <p:cNvSpPr txBox="1"/>
          <p:nvPr/>
        </p:nvSpPr>
        <p:spPr>
          <a:xfrm>
            <a:off x="5577840" y="151790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467068"/>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613372"/>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②</a:t>
            </a:r>
            <a:endParaRPr lang="en-US" sz="2600" dirty="0"/>
          </a:p>
        </p:txBody>
      </p:sp>
      <p:sp>
        <p:nvSpPr>
          <p:cNvPr id="10" name="Text 8"/>
          <p:cNvSpPr txBox="1"/>
          <p:nvPr/>
        </p:nvSpPr>
        <p:spPr>
          <a:xfrm>
            <a:off x="1463040" y="2631660"/>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회전은 Rx·Ry·Rz 곱으로만 만든다</a:t>
            </a:r>
            <a:endParaRPr lang="en-US" sz="1600" dirty="0"/>
          </a:p>
        </p:txBody>
      </p:sp>
      <p:sp>
        <p:nvSpPr>
          <p:cNvPr id="11" name="Text 9"/>
          <p:cNvSpPr txBox="1"/>
          <p:nvPr/>
        </p:nvSpPr>
        <p:spPr>
          <a:xfrm>
            <a:off x="5577840" y="2613372"/>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562537"/>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708841"/>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③</a:t>
            </a:r>
            <a:endParaRPr lang="en-US" sz="2600" dirty="0"/>
          </a:p>
        </p:txBody>
      </p:sp>
      <p:sp>
        <p:nvSpPr>
          <p:cNvPr id="14" name="Text 12"/>
          <p:cNvSpPr txBox="1"/>
          <p:nvPr/>
        </p:nvSpPr>
        <p:spPr>
          <a:xfrm>
            <a:off x="1463040" y="3727129"/>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단위는 안에서 하나로 통일한다</a:t>
            </a:r>
            <a:endParaRPr lang="en-US" sz="1600" dirty="0"/>
          </a:p>
        </p:txBody>
      </p:sp>
      <p:sp>
        <p:nvSpPr>
          <p:cNvPr id="15" name="Text 13"/>
          <p:cNvSpPr txBox="1"/>
          <p:nvPr/>
        </p:nvSpPr>
        <p:spPr>
          <a:xfrm>
            <a:off x="5577840" y="3708841"/>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635599"/>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012562"/>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왕복 시험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측정값 → LLA → 측정값. 콘솔과 UI 가 입력과의 차이를 같이 찍음</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부호 · 전치 방향 · 순서 실수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예제값 손계산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동체 좌표는 Rz(90°) 로 돌리고 오프셋을 더하면 손으로 나옴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레버암 부호, 설치 방위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자세 바꿔 가며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UI 슬라이더로 roll · pitch · yaw 를 다르게 놓고 왕복 확인</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대칭 자세에선 안 드러나는 전치 오류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33" name="Rectangle 3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구현 — 애초에 실수하기 어렵게 만들기</a:t>
            </a:r>
          </a:p>
          <a:p>
            <a:pPr algn="l">
              <a:lnSpc>
                <a:spcPts val="1400"/>
              </a:lnSpc>
            </a:pPr>
            <a:r>
              <a:rPr sz="1100" b="0">
                <a:solidFill>
                  <a:srgbClr val="C9D6EC"/>
                </a:solidFill>
                <a:latin typeface="맑은 고딕"/>
              </a:rPr>
              <a:t>좌표변환 버그의 특징은 컴파일도 되고 값도 그럴듯해 보인다는 것입니다</a:t>
            </a:r>
          </a:p>
        </p:txBody>
      </p:sp>
      <p:sp>
        <p:nvSpPr>
          <p:cNvPr id="35" name="TextBox 34"/>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6" name="Connector 3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38" name="TextBox 3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8EDF5"/>
        </a:solidFill>
        <a:effectLst/>
      </p:bgPr>
    </p:bg>
    <p:spTree>
      <p:nvGrpSpPr>
        <p:cNvPr id="1" name=""/>
        <p:cNvGrpSpPr/>
        <p:nvPr/>
      </p:nvGrpSpPr>
      <p:grpSpPr>
        <a:xfrm>
          <a:off x="0" y="0"/>
          <a:ext cx="0" cy="0"/>
          <a:chOff x="0" y="0"/>
          <a:chExt cx="0" cy="0"/>
        </a:xfrm>
      </p:grpSpPr>
      <p:sp>
        <p:nvSpPr>
          <p:cNvPr id="36" name="Rectangle 3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57276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맑은 고딕" pitchFamily="34" charset="0"/>
                <a:ea typeface="맑은 고딕" pitchFamily="34" charset="-122"/>
                <a:cs typeface="맑은 고딕" pitchFamily="34" charset="-120"/>
              </a:rPr>
              <a:t>[1]  위 / 경 / 고도</a:t>
            </a:r>
            <a:endParaRPr lang="en-US" sz="1700" dirty="0"/>
          </a:p>
        </p:txBody>
      </p:sp>
      <p:sp>
        <p:nvSpPr>
          <p:cNvPr id="6" name="Text 4"/>
          <p:cNvSpPr txBox="1"/>
          <p:nvPr/>
        </p:nvSpPr>
        <p:spPr>
          <a:xfrm>
            <a:off x="896112" y="204825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위도</a:t>
            </a:r>
            <a:endParaRPr lang="en-US" sz="1400" dirty="0"/>
          </a:p>
        </p:txBody>
      </p:sp>
      <p:sp>
        <p:nvSpPr>
          <p:cNvPr id="7" name="Text 5"/>
          <p:cNvSpPr txBox="1"/>
          <p:nvPr/>
        </p:nvSpPr>
        <p:spPr>
          <a:xfrm>
            <a:off x="2103120" y="204825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65176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경도</a:t>
            </a:r>
            <a:endParaRPr lang="en-US" sz="1400" dirty="0"/>
          </a:p>
        </p:txBody>
      </p:sp>
      <p:sp>
        <p:nvSpPr>
          <p:cNvPr id="9" name="Text 7"/>
          <p:cNvSpPr txBox="1"/>
          <p:nvPr/>
        </p:nvSpPr>
        <p:spPr>
          <a:xfrm>
            <a:off x="2103120" y="265176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255263"/>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고도</a:t>
            </a:r>
            <a:endParaRPr lang="en-US" sz="1400" dirty="0"/>
          </a:p>
        </p:txBody>
      </p:sp>
      <p:sp>
        <p:nvSpPr>
          <p:cNvPr id="11" name="Text 9"/>
          <p:cNvSpPr txBox="1"/>
          <p:nvPr/>
        </p:nvSpPr>
        <p:spPr>
          <a:xfrm>
            <a:off x="2103120" y="3255263"/>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65760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WGS-84 타원체고</a:t>
            </a:r>
            <a:endParaRPr lang="en-US" sz="1150" dirty="0"/>
          </a:p>
        </p:txBody>
      </p:sp>
      <p:sp>
        <p:nvSpPr>
          <p:cNvPr id="13" name="Shape 11"/>
          <p:cNvSpPr/>
          <p:nvPr/>
        </p:nvSpPr>
        <p:spPr>
          <a:xfrm>
            <a:off x="6144768" y="137160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57276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맑은 고딕" pitchFamily="34" charset="0"/>
                <a:ea typeface="맑은 고딕" pitchFamily="34" charset="-122"/>
                <a:cs typeface="맑은 고딕" pitchFamily="34" charset="-120"/>
              </a:rPr>
              <a:t>[2]  안테나 극좌표</a:t>
            </a:r>
            <a:endParaRPr lang="en-US" sz="1700" dirty="0"/>
          </a:p>
        </p:txBody>
      </p:sp>
      <p:sp>
        <p:nvSpPr>
          <p:cNvPr id="15" name="Text 13"/>
          <p:cNvSpPr txBox="1"/>
          <p:nvPr/>
        </p:nvSpPr>
        <p:spPr>
          <a:xfrm>
            <a:off x="6473952" y="204825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시선거리</a:t>
            </a:r>
            <a:endParaRPr lang="en-US" sz="1400" dirty="0"/>
          </a:p>
        </p:txBody>
      </p:sp>
      <p:sp>
        <p:nvSpPr>
          <p:cNvPr id="16" name="Text 14"/>
          <p:cNvSpPr txBox="1"/>
          <p:nvPr/>
        </p:nvSpPr>
        <p:spPr>
          <a:xfrm>
            <a:off x="7772400" y="204825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20,000.0000 m</a:t>
            </a:r>
            <a:endParaRPr lang="en-US" sz="1700" dirty="0"/>
          </a:p>
        </p:txBody>
      </p:sp>
      <p:sp>
        <p:nvSpPr>
          <p:cNvPr id="17" name="Text 15"/>
          <p:cNvSpPr txBox="1"/>
          <p:nvPr/>
        </p:nvSpPr>
        <p:spPr>
          <a:xfrm>
            <a:off x="10058400" y="204825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65176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방위각</a:t>
            </a:r>
            <a:endParaRPr lang="en-US" sz="1400" dirty="0"/>
          </a:p>
        </p:txBody>
      </p:sp>
      <p:sp>
        <p:nvSpPr>
          <p:cNvPr id="19" name="Text 17"/>
          <p:cNvSpPr txBox="1"/>
          <p:nvPr/>
        </p:nvSpPr>
        <p:spPr>
          <a:xfrm>
            <a:off x="7772400" y="265176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65176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255263"/>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고각</a:t>
            </a:r>
            <a:endParaRPr lang="en-US" sz="1400" dirty="0"/>
          </a:p>
        </p:txBody>
      </p:sp>
      <p:sp>
        <p:nvSpPr>
          <p:cNvPr id="22" name="Text 20"/>
          <p:cNvSpPr txBox="1"/>
          <p:nvPr/>
        </p:nvSpPr>
        <p:spPr>
          <a:xfrm>
            <a:off x="7772400" y="3255263"/>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255263"/>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65760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오른쪽은 입력값과의 차이 (왕복오차)</a:t>
            </a:r>
            <a:endParaRPr lang="en-US" sz="1150" dirty="0"/>
          </a:p>
        </p:txBody>
      </p:sp>
      <p:sp>
        <p:nvSpPr>
          <p:cNvPr id="25" name="Shape 23"/>
          <p:cNvSpPr/>
          <p:nvPr/>
        </p:nvSpPr>
        <p:spPr>
          <a:xfrm>
            <a:off x="566928" y="433425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33425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맑은 고딕" pitchFamily="34" charset="0"/>
                <a:ea typeface="맑은 고딕" pitchFamily="34" charset="-122"/>
                <a:cs typeface="맑은 고딕"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358383"/>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44982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1e−12 °</a:t>
            </a:r>
            <a:endParaRPr lang="en-US" sz="2200" dirty="0"/>
          </a:p>
        </p:txBody>
      </p:sp>
      <p:sp>
        <p:nvSpPr>
          <p:cNvPr id="29" name="Text 27"/>
          <p:cNvSpPr txBox="1"/>
          <p:nvPr/>
        </p:nvSpPr>
        <p:spPr>
          <a:xfrm>
            <a:off x="749808" y="5852159"/>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맑은 고딕" pitchFamily="34" charset="0"/>
                <a:ea typeface="맑은 고딕" pitchFamily="34" charset="-122"/>
                <a:cs typeface="맑은 고딕" pitchFamily="34" charset="-120"/>
              </a:rPr>
              <a:t>왕복 각도 오차</a:t>
            </a:r>
            <a:endParaRPr lang="en-US" sz="1200" dirty="0"/>
          </a:p>
        </p:txBody>
      </p:sp>
      <p:sp>
        <p:nvSpPr>
          <p:cNvPr id="30" name="Shape 28"/>
          <p:cNvSpPr/>
          <p:nvPr/>
        </p:nvSpPr>
        <p:spPr>
          <a:xfrm>
            <a:off x="4343400" y="5358383"/>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44982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5852159"/>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맑은 고딕" pitchFamily="34" charset="0"/>
                <a:ea typeface="맑은 고딕" pitchFamily="34" charset="-122"/>
                <a:cs typeface="맑은 고딕" pitchFamily="34" charset="-120"/>
              </a:rPr>
              <a:t>컴파일 경고</a:t>
            </a:r>
            <a:endParaRPr lang="en-US" sz="1200" dirty="0"/>
          </a:p>
        </p:txBody>
      </p:sp>
      <p:sp>
        <p:nvSpPr>
          <p:cNvPr id="33" name="Shape 31"/>
          <p:cNvSpPr/>
          <p:nvPr/>
        </p:nvSpPr>
        <p:spPr>
          <a:xfrm>
            <a:off x="8119872" y="5358383"/>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44982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5852159"/>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맑은 고딕" pitchFamily="34" charset="0"/>
                <a:ea typeface="맑은 고딕" pitchFamily="34" charset="-122"/>
                <a:cs typeface="맑은 고딕" pitchFamily="34" charset="-120"/>
              </a:rPr>
              <a:t>왕복 거리 오차</a:t>
            </a:r>
            <a:endParaRPr lang="en-US" sz="1200" dirty="0"/>
          </a:p>
        </p:txBody>
      </p:sp>
      <p:sp>
        <p:nvSpPr>
          <p:cNvPr id="37" name="Rectangle 3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최종 출력값</a:t>
            </a:r>
          </a:p>
          <a:p>
            <a:pPr algn="l">
              <a:lnSpc>
                <a:spcPts val="1400"/>
              </a:lnSpc>
            </a:pPr>
            <a:r>
              <a:rPr sz="1100" b="0">
                <a:solidFill>
                  <a:srgbClr val="C9D6EC"/>
                </a:solidFill>
                <a:latin typeface="맑은 고딕"/>
              </a:rPr>
              <a:t>조건 ⑥ 이 요구한 두 가지 형태</a:t>
            </a:r>
          </a:p>
          <a:p>
            <a:pPr algn="l">
              <a:lnSpc>
                <a:spcPts val="1400"/>
              </a:lnSpc>
            </a:pPr>
            <a:r>
              <a:rPr sz="1100" b="0">
                <a:solidFill>
                  <a:srgbClr val="C9D6EC"/>
                </a:solidFill>
                <a:latin typeface="맑은 고딕"/>
              </a:rPr>
              <a:t>입력 :  R 20 km · Az 30° · El 0°   |   플랫폼 36.408°N 127.307°E 0 m (정지)   |   자세 roll 0° · yaw 45° · pitch 0°</a:t>
            </a:r>
          </a:p>
        </p:txBody>
      </p:sp>
      <p:sp>
        <p:nvSpPr>
          <p:cNvPr id="39" name="TextBox 38"/>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40" name="Connector 3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42" name="TextBox 4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Image 0" descr="/home/claude/deck/assets/fig12_deck.png">    </p:cNvPr>
          <p:cNvPicPr>
            <a:picLocks noChangeAspect="1"/>
          </p:cNvPicPr>
          <p:nvPr/>
        </p:nvPicPr>
        <p:blipFill>
          <a:blip r:embed="rId1"/>
          <a:stretch>
            <a:fillRect/>
          </a:stretch>
        </p:blipFill>
        <p:spPr>
          <a:xfrm>
            <a:off x="566928" y="1559263"/>
            <a:ext cx="6949440" cy="2587330"/>
          </a:xfrm>
          <a:prstGeom prst="rect">
            <a:avLst/>
          </a:prstGeom>
        </p:spPr>
      </p:pic>
      <p:sp>
        <p:nvSpPr>
          <p:cNvPr id="4" name="Shape 1"/>
          <p:cNvSpPr/>
          <p:nvPr/>
        </p:nvSpPr>
        <p:spPr>
          <a:xfrm>
            <a:off x="7699248" y="1371600"/>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517904"/>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맑은 고딕" pitchFamily="34" charset="0"/>
                <a:ea typeface="맑은 고딕" pitchFamily="34" charset="-122"/>
                <a:cs typeface="맑은 고딕" pitchFamily="34" charset="-120"/>
              </a:rPr>
              <a:t>실험 B  배가 기울면</a:t>
            </a:r>
            <a:endParaRPr lang="en-US" sz="1500" dirty="0"/>
          </a:p>
        </p:txBody>
      </p:sp>
      <p:sp>
        <p:nvSpPr>
          <p:cNvPr id="6" name="Text 3"/>
          <p:cNvSpPr txBox="1"/>
          <p:nvPr/>
        </p:nvSpPr>
        <p:spPr>
          <a:xfrm>
            <a:off x="7955280" y="1883664"/>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같은 측정값 (Az 30°, El 0°) 에</a:t>
            </a:r>
            <a:endParaRPr lang="en-US" sz="1200" dirty="0"/>
          </a:p>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68880"/>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roll</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실제 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+0.03°</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10°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−8.61°</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20°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−17.19°</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712463"/>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그건 안테나 기준일 뿐입니다.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roll 20° 면 20 km 앞 고도가 5.9 km 어긋난다.</a:t>
            </a:r>
            <a:endParaRPr lang="en-US" sz="1150" dirty="0"/>
          </a:p>
        </p:txBody>
      </p:sp>
      <p:sp>
        <p:nvSpPr>
          <p:cNvPr id="9" name="Shape 5"/>
          <p:cNvSpPr/>
          <p:nvPr/>
        </p:nvSpPr>
        <p:spPr>
          <a:xfrm>
            <a:off x="56692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A</a:t>
            </a:r>
            <a:endParaRPr lang="en-US" sz="1200" dirty="0"/>
          </a:p>
        </p:txBody>
      </p:sp>
      <p:sp>
        <p:nvSpPr>
          <p:cNvPr id="11" name="Text 7"/>
          <p:cNvSpPr txBox="1"/>
          <p:nvPr/>
        </p:nvSpPr>
        <p:spPr>
          <a:xfrm>
            <a:off x="193852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레버암을 빼먹으면</a:t>
            </a:r>
            <a:endParaRPr lang="en-US" sz="1300" dirty="0"/>
          </a:p>
        </p:txBody>
      </p:sp>
      <p:sp>
        <p:nvSpPr>
          <p:cNvPr id="12" name="Text 8"/>
          <p:cNvSpPr txBox="1"/>
          <p:nvPr/>
        </p:nvSpPr>
        <p:spPr>
          <a:xfrm>
            <a:off x="78638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거리가 멀어져도 이 오차는 줄지 않는다.</a:t>
            </a:r>
            <a:endParaRPr lang="en-US" sz="1200" dirty="0"/>
          </a:p>
        </p:txBody>
      </p:sp>
      <p:sp>
        <p:nvSpPr>
          <p:cNvPr id="13" name="Shape 9"/>
          <p:cNvSpPr/>
          <p:nvPr/>
        </p:nvSpPr>
        <p:spPr>
          <a:xfrm>
            <a:off x="614476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C</a:t>
            </a:r>
            <a:endParaRPr lang="en-US" sz="1200" dirty="0"/>
          </a:p>
        </p:txBody>
      </p:sp>
      <p:sp>
        <p:nvSpPr>
          <p:cNvPr id="15" name="Text 11"/>
          <p:cNvSpPr txBox="1"/>
          <p:nvPr/>
        </p:nvSpPr>
        <p:spPr>
          <a:xfrm>
            <a:off x="751636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지구 곡률</a:t>
            </a:r>
            <a:endParaRPr lang="en-US" sz="1300" dirty="0"/>
          </a:p>
        </p:txBody>
      </p:sp>
      <p:sp>
        <p:nvSpPr>
          <p:cNvPr id="16" name="Text 12"/>
          <p:cNvSpPr txBox="1"/>
          <p:nvPr/>
        </p:nvSpPr>
        <p:spPr>
          <a:xfrm>
            <a:off x="636422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5 km 2 m · 20 km 31 m · 100 km 786 m.</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거리의 제곱에 비례해 커진다.</a:t>
            </a:r>
            <a:endParaRPr lang="en-US" sz="1200" dirty="0"/>
          </a:p>
        </p:txBody>
      </p:sp>
      <p:sp>
        <p:nvSpPr>
          <p:cNvPr id="17" name="Text 13"/>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맑은 고딕" pitchFamily="34" charset="0"/>
                <a:ea typeface="맑은 고딕" pitchFamily="34" charset="-122"/>
                <a:cs typeface="맑은 고딕" pitchFamily="34" charset="-120"/>
              </a:rPr>
              <a:t>각도를 더하는 방식으로는 이 효과를 만들 수 없습니다 — 해상 플랫폼에서 회전행렬은 선택이 아니라 필수입니다.</a:t>
            </a:r>
            <a:endParaRPr lang="en-US" sz="130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03. 확인 실험 — 설계 판단이 실제로 근거가 있는가</a:t>
            </a:r>
          </a:p>
        </p:txBody>
      </p:sp>
      <p:sp>
        <p:nvSpPr>
          <p:cNvPr id="37" name="TextBox 36"/>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65" name="Rectangle 6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ounded Rectangle 3"/>
          <p:cNvSpPr/>
          <p:nvPr/>
        </p:nvSpPr>
        <p:spPr>
          <a:xfrm>
            <a:off x="566928" y="1371600"/>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98424"/>
            <a:ext cx="3566160" cy="329184"/>
          </a:xfrm>
          <a:prstGeom prst="rect">
            <a:avLst/>
          </a:prstGeom>
          <a:noFill/>
        </p:spPr>
        <p:txBody>
          <a:bodyPr wrap="square">
            <a:spAutoFit/>
          </a:bodyPr>
          <a:lstStyle/>
          <a:p>
            <a:r>
              <a:rPr sz="1500" b="1">
                <a:solidFill>
                  <a:srgbClr val="2B57A6"/>
                </a:solidFill>
                <a:latin typeface="맑은 고딕"/>
              </a:rPr>
              <a:t>프로그램 구성</a:t>
            </a:r>
          </a:p>
        </p:txBody>
      </p:sp>
      <p:sp>
        <p:nvSpPr>
          <p:cNvPr id="6" name="TextBox 5"/>
          <p:cNvSpPr txBox="1"/>
          <p:nvPr/>
        </p:nvSpPr>
        <p:spPr>
          <a:xfrm>
            <a:off x="749808" y="1943424"/>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43424"/>
            <a:ext cx="3566160" cy="560000"/>
          </a:xfrm>
          <a:prstGeom prst="rect">
            <a:avLst/>
          </a:prstGeom>
          <a:noFill/>
        </p:spPr>
        <p:txBody>
          <a:bodyPr wrap="square">
            <a:spAutoFit/>
          </a:bodyPr>
          <a:lstStyle/>
          <a:p>
            <a:r>
              <a:rPr sz="1150" b="0">
                <a:solidFill>
                  <a:srgbClr val="5A6478"/>
                </a:solidFill>
                <a:latin typeface="맑은 고딕"/>
              </a:rPr>
              <a:t>좌표변환 정적 라이브러리 (C)</a:t>
            </a:r>
          </a:p>
          <a:p>
            <a:r>
              <a:rPr sz="1150" b="0">
                <a:solidFill>
                  <a:srgbClr val="5A6478"/>
                </a:solidFill>
                <a:latin typeface="맑은 고딕"/>
              </a:rPr>
              <a:t>coord_frames + 참고 소스 matrixCalcLib</a:t>
            </a:r>
          </a:p>
        </p:txBody>
      </p:sp>
      <p:sp>
        <p:nvSpPr>
          <p:cNvPr id="8" name="TextBox 7"/>
          <p:cNvSpPr txBox="1"/>
          <p:nvPr/>
        </p:nvSpPr>
        <p:spPr>
          <a:xfrm>
            <a:off x="749808" y="3023424"/>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23424"/>
            <a:ext cx="3566160" cy="560000"/>
          </a:xfrm>
          <a:prstGeom prst="rect">
            <a:avLst/>
          </a:prstGeom>
          <a:noFill/>
        </p:spPr>
        <p:txBody>
          <a:bodyPr wrap="square">
            <a:spAutoFit/>
          </a:bodyPr>
          <a:lstStyle/>
          <a:p>
            <a:r>
              <a:rPr sz="1150" b="0">
                <a:solidFill>
                  <a:srgbClr val="5A6478"/>
                </a:solidFill>
                <a:latin typeface="맑은 고딕"/>
              </a:rPr>
              <a:t>콘솔. 과제 3.1 입력값으로 단계별 값 출력</a:t>
            </a:r>
          </a:p>
          <a:p>
            <a:r>
              <a:rPr sz="1150" b="0">
                <a:solidFill>
                  <a:srgbClr val="5A6478"/>
                </a:solidFill>
                <a:latin typeface="맑은 고딕"/>
              </a:rPr>
              <a:t>왕복오차까지 같이 찍음</a:t>
            </a:r>
          </a:p>
        </p:txBody>
      </p:sp>
      <p:sp>
        <p:nvSpPr>
          <p:cNvPr id="10" name="TextBox 9"/>
          <p:cNvSpPr txBox="1"/>
          <p:nvPr/>
        </p:nvSpPr>
        <p:spPr>
          <a:xfrm>
            <a:off x="749808" y="4103424"/>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03424"/>
            <a:ext cx="3566160" cy="560000"/>
          </a:xfrm>
          <a:prstGeom prst="rect">
            <a:avLst/>
          </a:prstGeom>
          <a:noFill/>
        </p:spPr>
        <p:txBody>
          <a:bodyPr wrap="square">
            <a:spAutoFit/>
          </a:bodyPr>
          <a:lstStyle/>
          <a:p>
            <a:r>
              <a:rPr sz="1150" b="0">
                <a:solidFill>
                  <a:srgbClr val="5A6478"/>
                </a:solidFill>
                <a:latin typeface="맑은 고딕"/>
              </a:rPr>
              <a:t>MFC (Microsoft Foundation Classes) 다이얼로그</a:t>
            </a:r>
          </a:p>
          <a:p>
            <a:r>
              <a:rPr sz="1150" b="0">
                <a:solidFill>
                  <a:srgbClr val="5A6478"/>
                </a:solidFill>
                <a:latin typeface="맑은 고딕"/>
              </a:rPr>
              <a:t>변환 로직 없이 f_* 함수만 부름</a:t>
            </a:r>
          </a:p>
        </p:txBody>
      </p:sp>
      <p:sp>
        <p:nvSpPr>
          <p:cNvPr id="12" name="TextBox 11"/>
          <p:cNvSpPr txBox="1"/>
          <p:nvPr/>
        </p:nvSpPr>
        <p:spPr>
          <a:xfrm>
            <a:off x="749808" y="5293424"/>
            <a:ext cx="3566160" cy="420000"/>
          </a:xfrm>
          <a:prstGeom prst="rect">
            <a:avLst/>
          </a:prstGeom>
          <a:noFill/>
        </p:spPr>
        <p:txBody>
          <a:bodyPr wrap="square">
            <a:spAutoFit/>
          </a:bodyPr>
          <a:lstStyle/>
          <a:p>
            <a:r>
              <a:rPr sz="1100" b="0">
                <a:solidFill>
                  <a:srgbClr val="5A6478"/>
                </a:solidFill>
                <a:latin typeface="맑은 고딕"/>
              </a:rPr>
              <a:t>실행 프로젝트 둘 다 CoordCore 를</a:t>
            </a:r>
          </a:p>
          <a:p>
            <a:r>
              <a:rPr sz="1100" b="0">
                <a:solidFill>
                  <a:srgbClr val="5A6478"/>
                </a:solidFill>
                <a:latin typeface="맑은 고딕"/>
              </a:rPr>
              <a:t>ProjectReference 로 물고 있음</a:t>
            </a:r>
          </a:p>
        </p:txBody>
      </p:sp>
      <p:sp>
        <p:nvSpPr>
          <p:cNvPr id="13" name="Rounded Rectangle 12"/>
          <p:cNvSpPr/>
          <p:nvPr/>
        </p:nvSpPr>
        <p:spPr>
          <a:xfrm>
            <a:off x="4754880" y="1371600"/>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21600"/>
            <a:ext cx="3000000" cy="280000"/>
          </a:xfrm>
          <a:prstGeom prst="rect">
            <a:avLst/>
          </a:prstGeom>
          <a:noFill/>
        </p:spPr>
        <p:txBody>
          <a:bodyPr wrap="square">
            <a:spAutoFit/>
          </a:bodyPr>
          <a:lstStyle/>
          <a:p>
            <a:r>
              <a:rPr sz="1100" b="1">
                <a:solidFill>
                  <a:srgbClr val="1A2233"/>
                </a:solidFill>
                <a:latin typeface="맑은 고딕"/>
              </a:rPr>
              <a:t>CoordFrames</a:t>
            </a:r>
          </a:p>
        </p:txBody>
      </p:sp>
      <p:sp>
        <p:nvSpPr>
          <p:cNvPr id="15" name="Rounded Rectangle 14"/>
          <p:cNvSpPr/>
          <p:nvPr/>
        </p:nvSpPr>
        <p:spPr>
          <a:xfrm>
            <a:off x="4904880" y="17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791600"/>
            <a:ext cx="2530000" cy="240000"/>
          </a:xfrm>
          <a:prstGeom prst="rect">
            <a:avLst/>
          </a:prstGeom>
          <a:noFill/>
        </p:spPr>
        <p:txBody>
          <a:bodyPr wrap="square">
            <a:spAutoFit/>
          </a:bodyPr>
          <a:lstStyle/>
          <a:p>
            <a:r>
              <a:rPr sz="900" b="1">
                <a:solidFill>
                  <a:srgbClr val="1A2233"/>
                </a:solidFill>
                <a:latin typeface="맑은 고딕"/>
              </a:rPr>
              <a:t>측정값  R [m] / Az / El [deg]</a:t>
            </a:r>
          </a:p>
        </p:txBody>
      </p:sp>
      <p:sp>
        <p:nvSpPr>
          <p:cNvPr id="17" name="Rectangle 16"/>
          <p:cNvSpPr/>
          <p:nvPr/>
        </p:nvSpPr>
        <p:spPr>
          <a:xfrm>
            <a:off x="4984880"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39600"/>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39600"/>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39600"/>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39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11600"/>
            <a:ext cx="2530000" cy="240000"/>
          </a:xfrm>
          <a:prstGeom prst="rect">
            <a:avLst/>
          </a:prstGeom>
          <a:noFill/>
        </p:spPr>
        <p:txBody>
          <a:bodyPr wrap="square">
            <a:spAutoFit/>
          </a:bodyPr>
          <a:lstStyle/>
          <a:p>
            <a:r>
              <a:rPr sz="900" b="1">
                <a:solidFill>
                  <a:srgbClr val="1A2233"/>
                </a:solidFill>
                <a:latin typeface="맑은 고딕"/>
              </a:rPr>
              <a:t>플랫폼 위치  lat / lon [deg] / alt [m]</a:t>
            </a:r>
          </a:p>
        </p:txBody>
      </p:sp>
      <p:sp>
        <p:nvSpPr>
          <p:cNvPr id="25" name="Rectangle 24"/>
          <p:cNvSpPr/>
          <p:nvPr/>
        </p:nvSpPr>
        <p:spPr>
          <a:xfrm>
            <a:off x="4984880"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59600"/>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59600"/>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59600"/>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11600"/>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31600"/>
            <a:ext cx="2530000" cy="240000"/>
          </a:xfrm>
          <a:prstGeom prst="rect">
            <a:avLst/>
          </a:prstGeom>
          <a:noFill/>
        </p:spPr>
        <p:txBody>
          <a:bodyPr wrap="square">
            <a:spAutoFit/>
          </a:bodyPr>
          <a:lstStyle/>
          <a:p>
            <a:r>
              <a:rPr sz="900" b="1">
                <a:solidFill>
                  <a:srgbClr val="1A2233"/>
                </a:solidFill>
                <a:latin typeface="맑은 고딕"/>
              </a:rPr>
              <a:t>플랫폼 자세 [deg]  roll / pitch / yaw</a:t>
            </a:r>
          </a:p>
        </p:txBody>
      </p:sp>
      <p:sp>
        <p:nvSpPr>
          <p:cNvPr id="33" name="TextBox 32"/>
          <p:cNvSpPr txBox="1"/>
          <p:nvPr/>
        </p:nvSpPr>
        <p:spPr>
          <a:xfrm>
            <a:off x="4964880" y="3281600"/>
            <a:ext cx="480000" cy="220000"/>
          </a:xfrm>
          <a:prstGeom prst="rect">
            <a:avLst/>
          </a:prstGeom>
          <a:noFill/>
        </p:spPr>
        <p:txBody>
          <a:bodyPr wrap="square" lIns="20000" rIns="20000">
            <a:spAutoFit/>
          </a:bodyPr>
          <a:lstStyle/>
          <a:p>
            <a:r>
              <a:rPr sz="800" b="0">
                <a:solidFill>
                  <a:srgbClr val="5A6478"/>
                </a:solidFill>
                <a:latin typeface="맑은 고딕"/>
              </a:rPr>
              <a:t>roll</a:t>
            </a:r>
          </a:p>
        </p:txBody>
      </p:sp>
      <p:sp>
        <p:nvSpPr>
          <p:cNvPr id="34" name="Rectangle 33"/>
          <p:cNvSpPr/>
          <p:nvPr/>
        </p:nvSpPr>
        <p:spPr>
          <a:xfrm>
            <a:off x="5444880" y="331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28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38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2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471600"/>
            <a:ext cx="480000" cy="220000"/>
          </a:xfrm>
          <a:prstGeom prst="rect">
            <a:avLst/>
          </a:prstGeom>
          <a:noFill/>
        </p:spPr>
        <p:txBody>
          <a:bodyPr wrap="square" lIns="20000" rIns="20000">
            <a:spAutoFit/>
          </a:bodyPr>
          <a:lstStyle/>
          <a:p>
            <a:r>
              <a:rPr sz="800" b="0">
                <a:solidFill>
                  <a:srgbClr val="5A6478"/>
                </a:solidFill>
                <a:latin typeface="맑은 고딕"/>
              </a:rPr>
              <a:t>pitch</a:t>
            </a:r>
          </a:p>
        </p:txBody>
      </p:sp>
      <p:sp>
        <p:nvSpPr>
          <p:cNvPr id="39" name="Rectangle 38"/>
          <p:cNvSpPr/>
          <p:nvPr/>
        </p:nvSpPr>
        <p:spPr>
          <a:xfrm>
            <a:off x="5444880" y="350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47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57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1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61600"/>
            <a:ext cx="480000" cy="220000"/>
          </a:xfrm>
          <a:prstGeom prst="rect">
            <a:avLst/>
          </a:prstGeom>
          <a:noFill/>
        </p:spPr>
        <p:txBody>
          <a:bodyPr wrap="square" lIns="20000" rIns="20000">
            <a:spAutoFit/>
          </a:bodyPr>
          <a:lstStyle/>
          <a:p>
            <a:r>
              <a:rPr sz="800" b="0">
                <a:solidFill>
                  <a:srgbClr val="5A6478"/>
                </a:solidFill>
                <a:latin typeface="맑은 고딕"/>
              </a:rPr>
              <a:t>yaw</a:t>
            </a:r>
          </a:p>
        </p:txBody>
      </p:sp>
      <p:sp>
        <p:nvSpPr>
          <p:cNvPr id="44" name="Rectangle 43"/>
          <p:cNvSpPr/>
          <p:nvPr/>
        </p:nvSpPr>
        <p:spPr>
          <a:xfrm>
            <a:off x="5444880" y="3691599"/>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61600"/>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6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01599"/>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39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3991599"/>
            <a:ext cx="2530000" cy="240000"/>
          </a:xfrm>
          <a:prstGeom prst="rect">
            <a:avLst/>
          </a:prstGeom>
          <a:noFill/>
        </p:spPr>
        <p:txBody>
          <a:bodyPr wrap="square">
            <a:spAutoFit/>
          </a:bodyPr>
          <a:lstStyle/>
          <a:p>
            <a:r>
              <a:rPr sz="900" b="1">
                <a:solidFill>
                  <a:srgbClr val="1A2233"/>
                </a:solidFill>
                <a:latin typeface="맑은 고딕"/>
              </a:rPr>
              <a:t>안테나 설치  az / tilt [deg] / offset [m]</a:t>
            </a:r>
          </a:p>
        </p:txBody>
      </p:sp>
      <p:sp>
        <p:nvSpPr>
          <p:cNvPr id="50" name="Rectangle 49"/>
          <p:cNvSpPr/>
          <p:nvPr/>
        </p:nvSpPr>
        <p:spPr>
          <a:xfrm>
            <a:off x="4984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39600"/>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39600"/>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61600"/>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39600"/>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31600"/>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06600"/>
            <a:ext cx="900000" cy="280000"/>
          </a:xfrm>
          <a:prstGeom prst="rect">
            <a:avLst/>
          </a:prstGeom>
          <a:noFill/>
        </p:spPr>
        <p:txBody>
          <a:bodyPr wrap="square">
            <a:spAutoFit/>
          </a:bodyPr>
          <a:lstStyle/>
          <a:p>
            <a:pPr algn="ctr"/>
            <a:r>
              <a:rPr sz="850" b="0">
                <a:solidFill>
                  <a:srgbClr val="1A2233"/>
                </a:solidFill>
                <a:latin typeface="맑은 고딕"/>
              </a:rPr>
              <a:t>예제값 복원</a:t>
            </a:r>
          </a:p>
        </p:txBody>
      </p:sp>
      <p:sp>
        <p:nvSpPr>
          <p:cNvPr id="58" name="TextBox 57"/>
          <p:cNvSpPr txBox="1"/>
          <p:nvPr/>
        </p:nvSpPr>
        <p:spPr>
          <a:xfrm>
            <a:off x="4904880" y="4931600"/>
            <a:ext cx="2650000" cy="240000"/>
          </a:xfrm>
          <a:prstGeom prst="rect">
            <a:avLst/>
          </a:prstGeom>
          <a:noFill/>
        </p:spPr>
        <p:txBody>
          <a:bodyPr wrap="square">
            <a:spAutoFit/>
          </a:bodyPr>
          <a:lstStyle/>
          <a:p>
            <a:r>
              <a:rPr sz="800" b="0">
                <a:solidFill>
                  <a:srgbClr val="5A6478"/>
                </a:solidFill>
                <a:latin typeface="맑은 고딕"/>
              </a:rPr>
              <a:t>입력 각도: 도 / 변환 계산: 라디안, m</a:t>
            </a:r>
          </a:p>
        </p:txBody>
      </p:sp>
      <p:sp>
        <p:nvSpPr>
          <p:cNvPr id="59" name="TextBox 58"/>
          <p:cNvSpPr txBox="1"/>
          <p:nvPr/>
        </p:nvSpPr>
        <p:spPr>
          <a:xfrm>
            <a:off x="7704880" y="1771600"/>
            <a:ext cx="3776288" cy="240000"/>
          </a:xfrm>
          <a:prstGeom prst="rect">
            <a:avLst/>
          </a:prstGeom>
          <a:noFill/>
        </p:spPr>
        <p:txBody>
          <a:bodyPr wrap="square">
            <a:spAutoFit/>
          </a:bodyPr>
          <a:lstStyle/>
          <a:p>
            <a:r>
              <a:rPr sz="900" b="1">
                <a:solidFill>
                  <a:srgbClr val="1A2233"/>
                </a:solidFill>
                <a:latin typeface="맑은 고딕"/>
              </a:rPr>
              <a:t>단계별 결과</a:t>
            </a:r>
          </a:p>
        </p:txBody>
      </p:sp>
      <p:graphicFrame>
        <p:nvGraphicFramePr>
          <p:cNvPr id="60" name="Table 59"/>
          <p:cNvGraphicFramePr>
            <a:graphicFrameLocks noGrp="1"/>
          </p:cNvGraphicFramePr>
          <p:nvPr/>
        </p:nvGraphicFramePr>
        <p:xfrm>
          <a:off x="7704880" y="2031599"/>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맑은 고딕"/>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맑은 고딕"/>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맑은 고딕"/>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맑은 고딕"/>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171600"/>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11600"/>
            <a:ext cx="3576288" cy="260000"/>
          </a:xfrm>
          <a:prstGeom prst="rect">
            <a:avLst/>
          </a:prstGeom>
          <a:noFill/>
        </p:spPr>
        <p:txBody>
          <a:bodyPr wrap="square">
            <a:spAutoFit/>
          </a:bodyPr>
          <a:lstStyle/>
          <a:p>
            <a:r>
              <a:rPr sz="900" b="1">
                <a:solidFill>
                  <a:srgbClr val="C2521C"/>
                </a:solidFill>
                <a:latin typeface="맑은 고딕"/>
              </a:rPr>
              <a:t>최종 출력</a:t>
            </a:r>
          </a:p>
        </p:txBody>
      </p:sp>
      <p:sp>
        <p:nvSpPr>
          <p:cNvPr id="63" name="TextBox 62"/>
          <p:cNvSpPr txBox="1"/>
          <p:nvPr/>
        </p:nvSpPr>
        <p:spPr>
          <a:xfrm>
            <a:off x="7804880" y="4491600"/>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5943346"/>
            <a:ext cx="11064240" cy="365760"/>
          </a:xfrm>
          <a:prstGeom prst="rect">
            <a:avLst/>
          </a:prstGeom>
          <a:noFill/>
        </p:spPr>
        <p:txBody>
          <a:bodyPr wrap="square">
            <a:spAutoFit/>
          </a:bodyPr>
          <a:lstStyle/>
          <a:p>
            <a:r>
              <a:rPr sz="1300" b="1">
                <a:solidFill>
                  <a:srgbClr val="C2521C"/>
                </a:solidFill>
                <a:latin typeface="맑은 고딕"/>
              </a:rPr>
              <a:t>roll 슬라이더를 돌리면 앞 장 실험 B 의 고각 변화가 그 자리에서 보입니다. 발표 중에 직접 돌려 봅니다.</a:t>
            </a:r>
          </a:p>
        </p:txBody>
      </p:sp>
      <p:sp>
        <p:nvSpPr>
          <p:cNvPr id="66" name="Rectangle 6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7" name="TextBox 6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UI 로 확인 — CoordUI</a:t>
            </a:r>
          </a:p>
          <a:p>
            <a:pPr algn="l">
              <a:lnSpc>
                <a:spcPts val="1400"/>
              </a:lnSpc>
            </a:pPr>
            <a:r>
              <a:rPr sz="1100" b="0">
                <a:solidFill>
                  <a:srgbClr val="C9D6EC"/>
                </a:solidFill>
                <a:latin typeface="맑은 고딕"/>
              </a:rPr>
              <a:t>같은 CoordCore 를 물고, 입력을 바꾸면 바로 다시 계산해서 단계별 값을 보여줍니다</a:t>
            </a:r>
          </a:p>
        </p:txBody>
      </p:sp>
      <p:sp>
        <p:nvSpPr>
          <p:cNvPr id="68" name="TextBox 67"/>
          <p:cNvSpPr txBox="1"/>
          <p:nvPr/>
        </p:nvSpPr>
        <p:spPr>
          <a:xfrm>
            <a:off x="10195560" y="411480"/>
            <a:ext cx="1371600" cy="777240"/>
          </a:xfrm>
          <a:prstGeom prst="rect">
            <a:avLst/>
          </a:prstGeom>
          <a:noFill/>
        </p:spPr>
        <p:txBody>
          <a:bodyPr wrap="none" anchor="ctr" lIns="0" rIns="0" tIns="0" bIns="0">
            <a:spAutoFit/>
          </a:bodyPr>
          <a:lstStyle/>
          <a:p>
            <a:pPr algn="r"/>
            <a:r>
              <a:rPr sz="2400" b="1">
                <a:solidFill>
                  <a:srgbClr val="FFFFFF"/>
                </a:solidFill>
                <a:latin typeface="Arial"/>
              </a:rPr>
              <a:t>LIG</a:t>
            </a:r>
          </a:p>
        </p:txBody>
      </p:sp>
      <p:cxnSp>
        <p:nvCxnSpPr>
          <p:cNvPr id="69" name="Connector 6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1A2233"/>
                </a:solidFill>
                <a:latin typeface="Arial"/>
              </a:rPr>
              <a:t>LIG Defense&amp;Aerospace</a:t>
            </a:r>
          </a:p>
        </p:txBody>
      </p:sp>
      <p:sp>
        <p:nvSpPr>
          <p:cNvPr id="71" name="TextBox 7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822960" y="1911095"/>
            <a:ext cx="347472" cy="347472"/>
          </a:xfrm>
          <a:prstGeom prst="ellipse">
            <a:avLst/>
          </a:prstGeom>
          <a:solidFill>
            <a:srgbClr val="1E3357"/>
          </a:solidFill>
          <a:ln w="12700">
            <a:solidFill>
              <a:srgbClr val="34507F"/>
            </a:solidFill>
            <a:prstDash val="solid"/>
          </a:ln>
        </p:spPr>
        <p:txBody>
          <a:bodyPr/>
          <a:p/>
        </p:txBody>
      </p:sp>
      <p:sp>
        <p:nvSpPr>
          <p:cNvPr id="4" name="Text 2"/>
          <p:cNvSpPr txBox="1"/>
          <p:nvPr/>
        </p:nvSpPr>
        <p:spPr>
          <a:xfrm>
            <a:off x="822960" y="1911095"/>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1</a:t>
            </a:r>
            <a:endParaRPr lang="en-US" sz="1300" dirty="0"/>
          </a:p>
        </p:txBody>
      </p:sp>
      <p:sp>
        <p:nvSpPr>
          <p:cNvPr id="5" name="Text 3"/>
          <p:cNvSpPr txBox="1"/>
          <p:nvPr/>
        </p:nvSpPr>
        <p:spPr>
          <a:xfrm>
            <a:off x="1353312" y="1874519"/>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567940"/>
            <a:ext cx="347472" cy="347472"/>
          </a:xfrm>
          <a:prstGeom prst="ellipse">
            <a:avLst/>
          </a:prstGeom>
          <a:solidFill>
            <a:srgbClr val="1E3357"/>
          </a:solidFill>
          <a:ln w="12700">
            <a:solidFill>
              <a:srgbClr val="34507F"/>
            </a:solidFill>
            <a:prstDash val="solid"/>
          </a:ln>
        </p:spPr>
        <p:txBody>
          <a:bodyPr/>
          <a:p/>
        </p:txBody>
      </p:sp>
      <p:sp>
        <p:nvSpPr>
          <p:cNvPr id="7" name="Text 5"/>
          <p:cNvSpPr txBox="1"/>
          <p:nvPr/>
        </p:nvSpPr>
        <p:spPr>
          <a:xfrm>
            <a:off x="822960" y="25679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2</a:t>
            </a:r>
            <a:endParaRPr lang="en-US" sz="1300" dirty="0"/>
          </a:p>
        </p:txBody>
      </p:sp>
      <p:sp>
        <p:nvSpPr>
          <p:cNvPr id="8" name="Text 6"/>
          <p:cNvSpPr txBox="1"/>
          <p:nvPr/>
        </p:nvSpPr>
        <p:spPr>
          <a:xfrm>
            <a:off x="1353312" y="25313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변환의 재료는 회전과 평행이동 둘뿐이다</a:t>
            </a:r>
            <a:endParaRPr lang="en-US" sz="1600" dirty="0"/>
          </a:p>
        </p:txBody>
      </p:sp>
      <p:sp>
        <p:nvSpPr>
          <p:cNvPr id="9" name="Shape 7"/>
          <p:cNvSpPr/>
          <p:nvPr/>
        </p:nvSpPr>
        <p:spPr>
          <a:xfrm>
            <a:off x="822960" y="3224784"/>
            <a:ext cx="347472" cy="347472"/>
          </a:xfrm>
          <a:prstGeom prst="ellipse">
            <a:avLst/>
          </a:prstGeom>
          <a:solidFill>
            <a:srgbClr val="1E3357"/>
          </a:solidFill>
          <a:ln w="12700">
            <a:solidFill>
              <a:srgbClr val="34507F"/>
            </a:solidFill>
            <a:prstDash val="solid"/>
          </a:ln>
        </p:spPr>
        <p:txBody>
          <a:bodyPr/>
          <a:p/>
        </p:txBody>
      </p:sp>
      <p:sp>
        <p:nvSpPr>
          <p:cNvPr id="10" name="Text 8"/>
          <p:cNvSpPr txBox="1"/>
          <p:nvPr/>
        </p:nvSpPr>
        <p:spPr>
          <a:xfrm>
            <a:off x="822960" y="322478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3</a:t>
            </a:r>
            <a:endParaRPr lang="en-US" sz="1300" dirty="0"/>
          </a:p>
        </p:txBody>
      </p:sp>
      <p:sp>
        <p:nvSpPr>
          <p:cNvPr id="11" name="Text 9"/>
          <p:cNvSpPr txBox="1"/>
          <p:nvPr/>
        </p:nvSpPr>
        <p:spPr>
          <a:xfrm>
            <a:off x="1353312" y="318820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순서는 안테나 → 동체 → 로컬 → ECEF → 위경도. 건너뛸 수 없다</a:t>
            </a:r>
            <a:endParaRPr lang="en-US" sz="1600" dirty="0"/>
          </a:p>
        </p:txBody>
      </p:sp>
      <p:sp>
        <p:nvSpPr>
          <p:cNvPr id="12" name="Shape 10"/>
          <p:cNvSpPr/>
          <p:nvPr/>
        </p:nvSpPr>
        <p:spPr>
          <a:xfrm>
            <a:off x="822960" y="3881628"/>
            <a:ext cx="347472" cy="347472"/>
          </a:xfrm>
          <a:prstGeom prst="ellipse">
            <a:avLst/>
          </a:prstGeom>
          <a:solidFill>
            <a:srgbClr val="1E3357"/>
          </a:solidFill>
          <a:ln w="12700">
            <a:solidFill>
              <a:srgbClr val="34507F"/>
            </a:solidFill>
            <a:prstDash val="solid"/>
          </a:ln>
        </p:spPr>
        <p:txBody>
          <a:bodyPr/>
          <a:p/>
        </p:txBody>
      </p:sp>
      <p:sp>
        <p:nvSpPr>
          <p:cNvPr id="13" name="Text 11"/>
          <p:cNvSpPr txBox="1"/>
          <p:nvPr/>
        </p:nvSpPr>
        <p:spPr>
          <a:xfrm>
            <a:off x="822960" y="38816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4</a:t>
            </a:r>
            <a:endParaRPr lang="en-US" sz="1300" dirty="0"/>
          </a:p>
        </p:txBody>
      </p:sp>
      <p:sp>
        <p:nvSpPr>
          <p:cNvPr id="14" name="Text 12"/>
          <p:cNvSpPr txBox="1"/>
          <p:nvPr/>
        </p:nvSpPr>
        <p:spPr>
          <a:xfrm>
            <a:off x="1353312" y="38450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538472"/>
            <a:ext cx="347472" cy="347472"/>
          </a:xfrm>
          <a:prstGeom prst="ellipse">
            <a:avLst/>
          </a:prstGeom>
          <a:solidFill>
            <a:srgbClr val="1E3357"/>
          </a:solidFill>
          <a:ln w="12700">
            <a:solidFill>
              <a:srgbClr val="34507F"/>
            </a:solidFill>
            <a:prstDash val="solid"/>
          </a:ln>
        </p:spPr>
        <p:txBody>
          <a:bodyPr/>
          <a:p/>
        </p:txBody>
      </p:sp>
      <p:sp>
        <p:nvSpPr>
          <p:cNvPr id="16" name="Text 14"/>
          <p:cNvSpPr txBox="1"/>
          <p:nvPr/>
        </p:nvSpPr>
        <p:spPr>
          <a:xfrm>
            <a:off x="822960" y="453847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5</a:t>
            </a:r>
            <a:endParaRPr lang="en-US" sz="1300" dirty="0"/>
          </a:p>
        </p:txBody>
      </p:sp>
      <p:sp>
        <p:nvSpPr>
          <p:cNvPr id="17" name="Text 15"/>
          <p:cNvSpPr txBox="1"/>
          <p:nvPr/>
        </p:nvSpPr>
        <p:spPr>
          <a:xfrm>
            <a:off x="1353312" y="450189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5195316"/>
            <a:ext cx="347472" cy="347472"/>
          </a:xfrm>
          <a:prstGeom prst="ellipse">
            <a:avLst/>
          </a:prstGeom>
          <a:solidFill>
            <a:srgbClr val="C2521C"/>
          </a:solidFill>
          <a:ln w="12700">
            <a:solidFill>
              <a:srgbClr val="C2521C"/>
            </a:solidFill>
            <a:prstDash val="solid"/>
          </a:ln>
        </p:spPr>
        <p:txBody>
          <a:bodyPr/>
          <a:p/>
        </p:txBody>
      </p:sp>
      <p:sp>
        <p:nvSpPr>
          <p:cNvPr id="19" name="Text 17"/>
          <p:cNvSpPr txBox="1"/>
          <p:nvPr/>
        </p:nvSpPr>
        <p:spPr>
          <a:xfrm>
            <a:off x="822960" y="519531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20" name="Text 18"/>
          <p:cNvSpPr txBox="1"/>
          <p:nvPr/>
        </p:nvSpPr>
        <p:spPr>
          <a:xfrm>
            <a:off x="1353312" y="515874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배가 기울면 각도 덧셈은 깨진다 — 회전행렬은 필수다</a:t>
            </a:r>
            <a:endParaRPr lang="en-US" sz="1600" dirty="0"/>
          </a:p>
        </p:txBody>
      </p:sp>
      <p:sp>
        <p:nvSpPr>
          <p:cNvPr id="21" name="Shape 19"/>
          <p:cNvSpPr/>
          <p:nvPr/>
        </p:nvSpPr>
        <p:spPr>
          <a:xfrm>
            <a:off x="822960" y="5852160"/>
            <a:ext cx="347472" cy="347472"/>
          </a:xfrm>
          <a:prstGeom prst="ellipse">
            <a:avLst/>
          </a:prstGeom>
          <a:solidFill>
            <a:srgbClr val="C2521C"/>
          </a:solidFill>
          <a:ln w="12700">
            <a:solidFill>
              <a:srgbClr val="C2521C"/>
            </a:solidFill>
            <a:prstDash val="solid"/>
          </a:ln>
        </p:spPr>
        <p:txBody>
          <a:bodyPr/>
          <a:p/>
        </p:txBody>
      </p:sp>
      <p:sp>
        <p:nvSpPr>
          <p:cNvPr id="22" name="Text 20"/>
          <p:cNvSpPr txBox="1"/>
          <p:nvPr/>
        </p:nvSpPr>
        <p:spPr>
          <a:xfrm>
            <a:off x="822960" y="5852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7</a:t>
            </a:r>
            <a:endParaRPr lang="en-US" sz="1300" dirty="0"/>
          </a:p>
        </p:txBody>
      </p:sp>
      <p:sp>
        <p:nvSpPr>
          <p:cNvPr id="23" name="Text 21"/>
          <p:cNvSpPr txBox="1"/>
          <p:nvPr/>
        </p:nvSpPr>
        <p:spPr>
          <a:xfrm>
            <a:off x="1353312" y="5815584"/>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로컬 평면 좌표를 고도로 그대로 쓰면 안 된다. 지구는 둥글다</a:t>
            </a:r>
            <a:endParaRPr lang="en-US" sz="1600" dirty="0"/>
          </a:p>
        </p:txBody>
      </p:sp>
      <p:sp>
        <p:nvSpPr>
          <p:cNvPr id="24" name="TextBox 23"/>
          <p:cNvSpPr txBox="1"/>
          <p:nvPr/>
        </p:nvSpPr>
        <p:spPr>
          <a:xfrm>
            <a:off x="502920" y="384048"/>
            <a:ext cx="1463040" cy="640080"/>
          </a:xfrm>
          <a:prstGeom prst="rect">
            <a:avLst/>
          </a:prstGeom>
          <a:noFill/>
        </p:spPr>
        <p:txBody>
          <a:bodyPr wrap="none" anchor="ctr" lIns="0" rIns="0" tIns="0" bIns="0">
            <a:spAutoFit/>
          </a:bodyPr>
          <a:lstStyle/>
          <a:p>
            <a:pPr algn="l"/>
            <a:r>
              <a:rPr sz="3400" b="1">
                <a:solidFill>
                  <a:srgbClr val="FFFFFF"/>
                </a:solidFill>
                <a:latin typeface="Arial"/>
              </a:rPr>
              <a:t>LIG</a:t>
            </a:r>
          </a:p>
        </p:txBody>
      </p:sp>
      <p:cxnSp>
        <p:nvCxnSpPr>
          <p:cNvPr id="25" name="Connector 24"/>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4000" y="640080"/>
            <a:ext cx="2194560" cy="292608"/>
          </a:xfrm>
          <a:prstGeom prst="rect">
            <a:avLst/>
          </a:prstGeom>
          <a:solidFill>
            <a:srgbClr val="13233F"/>
          </a:solidFill>
        </p:spPr>
        <p:txBody>
          <a:bodyPr wrap="none" anchor="ctr" lIns="0" rIns="0" tIns="0" bIns="0">
            <a:spAutoFit/>
          </a:bodyPr>
          <a:lstStyle/>
          <a:p>
            <a:pPr algn="ctr"/>
            <a:r>
              <a:rPr sz="1100" b="1">
                <a:solidFill>
                  <a:srgbClr val="FFFFFF"/>
                </a:solidFill>
                <a:latin typeface="Arial"/>
              </a:rPr>
              <a:t>LIG Defense&amp;Aerospace</a:t>
            </a:r>
          </a:p>
        </p:txBody>
      </p:sp>
      <p:sp>
        <p:nvSpPr>
          <p:cNvPr id="27" name="TextBox 26"/>
          <p:cNvSpPr txBox="1"/>
          <p:nvPr/>
        </p:nvSpPr>
        <p:spPr>
          <a:xfrm>
            <a:off x="868680" y="1115568"/>
            <a:ext cx="10515600" cy="530352"/>
          </a:xfrm>
          <a:prstGeom prst="rect">
            <a:avLst/>
          </a:prstGeom>
          <a:noFill/>
        </p:spPr>
        <p:txBody>
          <a:bodyPr wrap="square" anchor="ctr" lIns="0" rIns="0" tIns="0" bIns="0">
            <a:spAutoFit/>
          </a:bodyPr>
          <a:lstStyle/>
          <a:p>
            <a:pPr algn="l"/>
            <a:r>
              <a:rPr sz="3000" b="1">
                <a:solidFill>
                  <a:srgbClr val="FFFFFF"/>
                </a:solidFill>
                <a:latin typeface="맑은 고딕"/>
              </a:rPr>
              <a:t>정리</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6400800"/>
            <a:ext cx="3200400" cy="274320"/>
          </a:xfrm>
          <a:prstGeom prst="rect">
            <a:avLst/>
          </a:prstGeom>
          <a:noFill/>
        </p:spPr>
        <p:txBody>
          <a:bodyPr wrap="none" anchor="t" lIns="0" rIns="0" tIns="0" bIns="0">
            <a:spAutoFit/>
          </a:bodyPr>
          <a:lstStyle/>
          <a:p>
            <a:pPr algn="l"/>
            <a:r>
              <a:rPr sz="1000" b="1">
                <a:solidFill>
                  <a:srgbClr val="FFFFFF"/>
                </a:solidFill>
                <a:latin typeface="Arial"/>
              </a:rPr>
              <a:t>LIG Defense&amp;Aerospace</a:t>
            </a:r>
          </a:p>
        </p:txBody>
      </p:sp>
      <p:sp>
        <p:nvSpPr>
          <p:cNvPr id="30" name="TextBox 2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a:effectLst/>
      </p:bgPr>
    </p:bg>
    <p:spTree>
      <p:nvGrpSpPr>
        <p:cNvPr id="1" name=""/>
        <p:cNvGrpSpPr/>
        <p:nvPr/>
      </p:nvGrpSpPr>
      <p:grpSpPr>
        <a:xfrm>
          <a:off x="0" y="0"/>
          <a:ext cx="0" cy="0"/>
          <a:chOff x="0" y="0"/>
          <a:chExt cx="0" cy="0"/>
        </a:xfrm>
      </p:grpSpPr>
      <p:sp>
        <p:nvSpPr>
          <p:cNvPr id="4" name="Shape 2"/>
          <p:cNvSpPr/>
          <p:nvPr/>
        </p:nvSpPr>
        <p:spPr>
          <a:xfrm>
            <a:off x="2752344" y="512064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2752344"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측정</a:t>
            </a:r>
            <a:endParaRPr lang="en-US" sz="1200" dirty="0"/>
          </a:p>
        </p:txBody>
      </p:sp>
      <p:sp>
        <p:nvSpPr>
          <p:cNvPr id="6" name="Text 4"/>
          <p:cNvSpPr txBox="1"/>
          <p:nvPr/>
        </p:nvSpPr>
        <p:spPr>
          <a:xfrm>
            <a:off x="4050792"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4270248" y="512064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4270248"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안테나</a:t>
            </a:r>
            <a:endParaRPr lang="en-US" sz="1200" dirty="0"/>
          </a:p>
        </p:txBody>
      </p:sp>
      <p:sp>
        <p:nvSpPr>
          <p:cNvPr id="9" name="Text 7"/>
          <p:cNvSpPr txBox="1"/>
          <p:nvPr/>
        </p:nvSpPr>
        <p:spPr>
          <a:xfrm>
            <a:off x="5568696"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5788152" y="512064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5788152"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동체</a:t>
            </a:r>
            <a:endParaRPr lang="en-US" sz="1200" dirty="0"/>
          </a:p>
        </p:txBody>
      </p:sp>
      <p:sp>
        <p:nvSpPr>
          <p:cNvPr id="12" name="Text 10"/>
          <p:cNvSpPr txBox="1"/>
          <p:nvPr/>
        </p:nvSpPr>
        <p:spPr>
          <a:xfrm>
            <a:off x="7086600"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7306056" y="512064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7306056"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NED</a:t>
            </a:r>
            <a:endParaRPr lang="en-US" sz="1200" dirty="0"/>
          </a:p>
        </p:txBody>
      </p:sp>
      <p:sp>
        <p:nvSpPr>
          <p:cNvPr id="15" name="Text 13"/>
          <p:cNvSpPr txBox="1"/>
          <p:nvPr/>
        </p:nvSpPr>
        <p:spPr>
          <a:xfrm>
            <a:off x="8604504"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8823960" y="512064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8823960"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ECEF</a:t>
            </a:r>
            <a:endParaRPr lang="en-US" sz="1200" dirty="0"/>
          </a:p>
        </p:txBody>
      </p:sp>
      <p:sp>
        <p:nvSpPr>
          <p:cNvPr id="18" name="Text 16"/>
          <p:cNvSpPr txBox="1"/>
          <p:nvPr/>
        </p:nvSpPr>
        <p:spPr>
          <a:xfrm>
            <a:off x="10122408"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10341864" y="512064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10341864" y="512064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LLA</a:t>
            </a:r>
            <a:endParaRPr lang="en-US" sz="1200" dirty="0"/>
          </a:p>
        </p:txBody>
      </p:sp>
      <p:sp>
        <p:nvSpPr>
          <p:cNvPr id="21" name="TextBox 20"/>
          <p:cNvSpPr txBox="1"/>
          <p:nvPr/>
        </p:nvSpPr>
        <p:spPr>
          <a:xfrm>
            <a:off x="548640" y="411480"/>
            <a:ext cx="2011680" cy="914400"/>
          </a:xfrm>
          <a:prstGeom prst="rect">
            <a:avLst/>
          </a:prstGeom>
          <a:noFill/>
        </p:spPr>
        <p:txBody>
          <a:bodyPr wrap="none" anchor="ctr" lIns="0" rIns="0" tIns="0" bIns="0">
            <a:spAutoFit/>
          </a:bodyPr>
          <a:lstStyle/>
          <a:p>
            <a:pPr algn="l"/>
            <a:r>
              <a:rPr sz="5400" b="1">
                <a:solidFill>
                  <a:srgbClr val="FFFFFF"/>
                </a:solidFill>
                <a:latin typeface="Arial"/>
              </a:rPr>
              <a:t>LIG</a:t>
            </a:r>
          </a:p>
        </p:txBody>
      </p:sp>
      <p:sp>
        <p:nvSpPr>
          <p:cNvPr id="22" name="TextBox 21"/>
          <p:cNvSpPr txBox="1"/>
          <p:nvPr/>
        </p:nvSpPr>
        <p:spPr>
          <a:xfrm>
            <a:off x="3931920" y="2468880"/>
            <a:ext cx="7772400" cy="914400"/>
          </a:xfrm>
          <a:prstGeom prst="rect">
            <a:avLst/>
          </a:prstGeom>
          <a:noFill/>
        </p:spPr>
        <p:txBody>
          <a:bodyPr wrap="square" anchor="ctr" lIns="0" rIns="0" tIns="0" bIns="0">
            <a:spAutoFit/>
          </a:bodyPr>
          <a:lstStyle/>
          <a:p>
            <a:pPr algn="r"/>
            <a:r>
              <a:rPr sz="4400" b="1">
                <a:solidFill>
                  <a:srgbClr val="FFFFFF"/>
                </a:solidFill>
                <a:latin typeface="맑은 고딕"/>
              </a:rPr>
              <a:t>감사합니다</a:t>
            </a:r>
          </a:p>
        </p:txBody>
      </p:sp>
      <p:sp>
        <p:nvSpPr>
          <p:cNvPr id="23" name="TextBox 22"/>
          <p:cNvSpPr txBox="1"/>
          <p:nvPr/>
        </p:nvSpPr>
        <p:spPr>
          <a:xfrm>
            <a:off x="3931920" y="3429000"/>
            <a:ext cx="7772400" cy="384048"/>
          </a:xfrm>
          <a:prstGeom prst="rect">
            <a:avLst/>
          </a:prstGeom>
          <a:noFill/>
        </p:spPr>
        <p:txBody>
          <a:bodyPr wrap="square" anchor="t" lIns="0" rIns="0" tIns="0" bIns="0">
            <a:spAutoFit/>
          </a:bodyPr>
          <a:lstStyle/>
          <a:p>
            <a:pPr algn="r"/>
            <a:r>
              <a:rPr sz="1800" b="0">
                <a:solidFill>
                  <a:srgbClr val="C9D6EC"/>
                </a:solidFill>
                <a:latin typeface="맑은 고딕"/>
              </a:rPr>
              <a:t>질문 환영합니다</a:t>
            </a:r>
          </a:p>
        </p:txBody>
      </p:sp>
      <p:sp>
        <p:nvSpPr>
          <p:cNvPr id="24" name="TextBox 23"/>
          <p:cNvSpPr txBox="1"/>
          <p:nvPr/>
        </p:nvSpPr>
        <p:spPr>
          <a:xfrm>
            <a:off x="6217920" y="3977639"/>
            <a:ext cx="5486400" cy="365760"/>
          </a:xfrm>
          <a:prstGeom prst="rect">
            <a:avLst/>
          </a:prstGeom>
          <a:noFill/>
        </p:spPr>
        <p:txBody>
          <a:bodyPr wrap="none" anchor="t" lIns="0" rIns="0" tIns="0" bIns="0">
            <a:spAutoFit/>
          </a:bodyPr>
          <a:lstStyle/>
          <a:p>
            <a:pPr algn="r"/>
            <a:r>
              <a:rPr sz="1600" b="1">
                <a:solidFill>
                  <a:srgbClr val="FFFFFF"/>
                </a:solidFill>
                <a:latin typeface="Arial"/>
              </a:rPr>
              <a:t>LIG Defense&amp;Aerospace</a:t>
            </a:r>
          </a:p>
        </p:txBody>
      </p:sp>
      <p:sp>
        <p:nvSpPr>
          <p:cNvPr id="25" name="TextBox 24"/>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코드 · 문서 :  radar-sw-study / Part2_CoordFrames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