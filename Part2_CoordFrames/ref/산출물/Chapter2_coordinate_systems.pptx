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표적 하나를 두고 레이다는 "20 km 앞, 오른쪽으로 30도" 라고 말합니다. 안테나 자기 정면 기준입니다. 전시기는 "북위 36.2337도, 동경 127.3643도" 로 보여줘야 합니다.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슬라이드의 다섯 줄은 전부 같은 표적 하나입니다.</a:t>
            </a:r>
          </a:p>
          <a:p/>
          <a:p>
            <a:r>
              <a:t>안테나는 "정면에서 오른쪽 30도, 20 km", 함선은 "뱃머리에서 오른쪽으로 120도쯤, 20 km", 바다 위 이 지점 기준으로는 "남쪽으로 19 km 쯤, 동쪽으로 5 km 쯤", 지구 기준으로는 지구 중심에서 잰 X, Y, Z 세 숫자, 지도 기준으로는 "북위 36.2도, 동경 127.4도 부근" 입니다. 정확한 값은 뒤에서 단계별로 계산하면서 보겠습니다.</a:t>
            </a:r>
          </a:p>
          <a:p/>
          <a:p>
            <a:r>
              <a:t>다섯 문장 모두 맞습니다. 다른 것은 기준점, 즉 원점과 기준 방향, 즉 축뿐입니다. 표적은 하나인데 언어가 여러 개이고, 화자를 바꿀 때마다 통역이 필요합니다. 그 통역이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항법 분야는 z 를 아래로 두는 관습이 있어서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모든 좌표계에서 z 는 아래입니다. "10 m 위" 는 z = −10 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주황색 화살표, 즉 표적의 위치는 완전히 같습니다. 달라진 것은 축뿐입니다.</a:t>
            </a:r>
          </a:p>
          <a:p/>
          <a:p>
            <a:r>
              <a:t>안테나의 정면이 함선의 우현이라서, 같은 표적이 (+17,320, +10,000) 에서 (−10,000, +17,320) 이 됩니다. 두 숫자가 자리를 바꾸고 부호 하나가 뒤집혔습니다. 이것이 90도 회전의 정체입니다. 표적을 돌리는 것이 아니라 자를 돌리는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직교한다, 행렬식이 +1 이라서 늘이거나 뒤집지 않는다, 그리고 역행렬이 전치와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개가 중력을 뺀 비력을 재고,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두 방향의 차이는 위도 45도 부근에서 최대 약 0.19도인데, 지표에서 21 km 에 해당합니다.</a:t>
            </a:r>
          </a:p>
          <a:p/>
          <a:p>
            <a:r>
              <a:t>둘째, 로컬 평면의 한계입니다. 지구는 둥글어서 원점에서 멀어질수록 실제 지표면이 평면 아래로 내려갑니다. 5 km 에서 2 m, 20 km 에서 31 m, 50 km 에서 196 m, 100 km 에서 783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위치 오차가 수십 km 까지 벌어집니다.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도면과 INS 자세가, 이동은 레버암과 INS 위치가 공급합니다. 이 구분이 그대로 오차 예산의 항목이 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되돌린 값이 입력과 반올림 수준까지 맞는 것을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왕복 각도 오차 1e−12도, 컴파일 경고 0건, 왕복 거리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20 km 거리에서 고도로 약 5.9 km 차이입니다.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"누구 입장에서 말하는가" 이고 좌표변환은 그 통역입니다. 둘, 변환의 재료는 회전과 평행이동 둘뿐입니다. 셋, 순서는 안테나, 동체, 로컬, ECEF, 위경도이고 건너뛸 수 없습니다. 넷, 회전은 INS 의 자세와 위치가, 평행이동은 설치 도면과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값과 왕복오차를 찍습니다.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1481328"/>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Chapter 2</a:t>
            </a:r>
            <a:endParaRPr lang="en-US" sz="1600" dirty="0"/>
          </a:p>
        </p:txBody>
      </p:sp>
      <p:sp>
        <p:nvSpPr>
          <p:cNvPr id="3" name="Text 1"/>
          <p:cNvSpPr txBox="1"/>
          <p:nvPr/>
        </p:nvSpPr>
        <p:spPr>
          <a:xfrm>
            <a:off x="822960" y="1956816"/>
            <a:ext cx="10515600" cy="91440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좌표계와 좌표변환</a:t>
            </a:r>
            <a:endParaRPr lang="en-US" sz="5200" dirty="0"/>
          </a:p>
        </p:txBody>
      </p:sp>
      <p:sp>
        <p:nvSpPr>
          <p:cNvPr id="4" name="Text 2"/>
          <p:cNvSpPr txBox="1"/>
          <p:nvPr/>
        </p:nvSpPr>
        <p:spPr>
          <a:xfrm>
            <a:off x="822960" y="2999232"/>
            <a:ext cx="10515600" cy="502920"/>
          </a:xfrm>
          <a:prstGeom prst="rect">
            <a:avLst/>
          </a:prstGeom>
          <a:noFill/>
          <a:ln/>
        </p:spPr>
        <p:txBody>
          <a:bodyPr wrap="square" lIns="0" tIns="0" rIns="0" bIns="0" rtlCol="0" anchor="ctr"/>
          <a:lstStyle/>
          <a:p>
            <a:pPr indent="0" marL="0">
              <a:buNone/>
            </a:pPr>
            <a:r>
              <a:rPr lang="en-US" sz="2200" dirty="0">
                <a:solidFill>
                  <a:srgbClr val="C9D6EC"/>
                </a:solidFill>
                <a:latin typeface="Malgun Gothic" pitchFamily="34" charset="0"/>
                <a:ea typeface="Malgun Gothic" pitchFamily="34" charset="-122"/>
                <a:cs typeface="Malgun Gothic" pitchFamily="34" charset="-120"/>
              </a:rPr>
              <a:t>안테나가 잰 각도가 지도 위 위경도가 되기까지</a:t>
            </a:r>
            <a:endParaRPr lang="en-US" sz="2200" dirty="0"/>
          </a:p>
        </p:txBody>
      </p:sp>
      <p:sp>
        <p:nvSpPr>
          <p:cNvPr id="5" name="Shape 3"/>
          <p:cNvSpPr/>
          <p:nvPr/>
        </p:nvSpPr>
        <p:spPr>
          <a:xfrm>
            <a:off x="822960"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041648"/>
            <a:ext cx="1298448" cy="402336"/>
          </a:xfrm>
          <a:prstGeom prst="roundRect">
            <a:avLst>
              <a:gd name="adj" fmla="val 45455"/>
            </a:avLst>
          </a:prstGeom>
          <a:solidFill>
            <a:srgbClr val="C2521C"/>
          </a:solidFill>
          <a:ln w="12700">
            <a:solidFill>
              <a:srgbClr val="C2521C"/>
            </a:solidFill>
            <a:prstDash val="solid"/>
          </a:ln>
        </p:spPr>
        <p:txBody>
          <a:bodyPr/>
          <a:p/>
        </p:txBody>
      </p:sp>
      <p:sp>
        <p:nvSpPr>
          <p:cNvPr id="21" name="Text 19"/>
          <p:cNvSpPr txBox="1"/>
          <p:nvPr/>
        </p:nvSpPr>
        <p:spPr>
          <a:xfrm>
            <a:off x="8412480" y="4041648"/>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2" name="Text 20"/>
          <p:cNvSpPr txBox="1"/>
          <p:nvPr/>
        </p:nvSpPr>
        <p:spPr>
          <a:xfrm>
            <a:off x="822960" y="5870448"/>
            <a:ext cx="10515600" cy="365760"/>
          </a:xfrm>
          <a:prstGeom prst="rect">
            <a:avLst/>
          </a:prstGeom>
          <a:noFill/>
          <a:ln/>
        </p:spPr>
        <p:txBody>
          <a:bodyPr wrap="square" lIns="0" tIns="0" rIns="0" bIns="0" rtlCol="0" anchor="ctr"/>
          <a:lstStyle/>
          <a:p>
            <a:pPr indent="0" marL="0">
              <a:buNone/>
            </a:pPr>
            <a:r>
              <a:rPr lang="en-US" sz="1300" dirty="0">
                <a:solidFill>
                  <a:srgbClr val="7189B5"/>
                </a:solidFill>
                <a:latin typeface="Malgun Gothic" pitchFamily="34" charset="0"/>
                <a:ea typeface="Malgun Gothic" pitchFamily="34" charset="-122"/>
                <a:cs typeface="Malgun Gothic" pitchFamily="34" charset="-120"/>
              </a:rPr>
              <a:t>레이다 시스템 소프트웨어 스터디  ·  Part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58368"/>
            <a:ext cx="10515600" cy="54864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같은 표적인데,  말하는 사람이 다르다</a:t>
            </a:r>
            <a:endParaRPr lang="en-US" sz="3000" dirty="0"/>
          </a:p>
        </p:txBody>
      </p:sp>
      <p:sp>
        <p:nvSpPr>
          <p:cNvPr id="3" name="Shape 1"/>
          <p:cNvSpPr/>
          <p:nvPr/>
        </p:nvSpPr>
        <p:spPr>
          <a:xfrm>
            <a:off x="822960" y="1755648"/>
            <a:ext cx="5029200" cy="2286000"/>
          </a:xfrm>
          <a:prstGeom prst="roundRect">
            <a:avLst>
              <a:gd name="adj" fmla="val 4800"/>
            </a:avLst>
          </a:prstGeom>
          <a:solidFill>
            <a:srgbClr val="1E3357"/>
          </a:solidFill>
          <a:ln/>
        </p:spPr>
        <p:txBody>
          <a:bodyPr/>
          <a:p/>
        </p:txBody>
      </p:sp>
      <p:sp>
        <p:nvSpPr>
          <p:cNvPr id="4" name="Text 2"/>
          <p:cNvSpPr txBox="1"/>
          <p:nvPr/>
        </p:nvSpPr>
        <p:spPr>
          <a:xfrm>
            <a:off x="1097280" y="1956816"/>
            <a:ext cx="4480560" cy="310896"/>
          </a:xfrm>
          <a:prstGeom prst="rect">
            <a:avLst/>
          </a:prstGeom>
          <a:noFill/>
          <a:ln/>
        </p:spPr>
        <p:txBody>
          <a:bodyPr wrap="square" lIns="0" tIns="0" rIns="0" bIns="0" rtlCol="0" anchor="ctr"/>
          <a:lstStyle/>
          <a:p>
            <a:pPr indent="0" marL="0">
              <a:buNone/>
            </a:pPr>
            <a:r>
              <a:rPr lang="en-US" sz="1300" dirty="0">
                <a:solidFill>
                  <a:srgbClr val="8FA6CC"/>
                </a:solidFill>
                <a:latin typeface="Malgun Gothic" pitchFamily="34" charset="0"/>
                <a:ea typeface="Malgun Gothic" pitchFamily="34" charset="-122"/>
                <a:cs typeface="Malgun Gothic" pitchFamily="34" charset="-120"/>
              </a:rPr>
              <a:t>레이다는 이렇게 말한다</a:t>
            </a:r>
            <a:endParaRPr lang="en-US" sz="1300" dirty="0"/>
          </a:p>
        </p:txBody>
      </p:sp>
      <p:sp>
        <p:nvSpPr>
          <p:cNvPr id="5" name="Text 3"/>
          <p:cNvSpPr txBox="1"/>
          <p:nvPr/>
        </p:nvSpPr>
        <p:spPr>
          <a:xfrm>
            <a:off x="1097280" y="235915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"20 km 앞,</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오른쪽으로 30도"</a:t>
            </a:r>
            <a:endParaRPr lang="en-US" sz="2600" dirty="0"/>
          </a:p>
        </p:txBody>
      </p:sp>
      <p:sp>
        <p:nvSpPr>
          <p:cNvPr id="6" name="Text 4"/>
          <p:cNvSpPr txBox="1"/>
          <p:nvPr/>
        </p:nvSpPr>
        <p:spPr>
          <a:xfrm>
            <a:off x="1097280" y="3584448"/>
            <a:ext cx="4480560" cy="292608"/>
          </a:xfrm>
          <a:prstGeom prst="rect">
            <a:avLst/>
          </a:prstGeom>
          <a:noFill/>
          <a:ln/>
        </p:spPr>
        <p:txBody>
          <a:bodyPr wrap="square" lIns="0" tIns="0" rIns="0" bIns="0" rtlCol="0" anchor="ctr"/>
          <a:lstStyle/>
          <a:p>
            <a:pPr indent="0" marL="0">
              <a:buNone/>
            </a:pPr>
            <a:r>
              <a:rPr lang="en-US" sz="1200" i="1" dirty="0">
                <a:solidFill>
                  <a:srgbClr val="8FA6CC"/>
                </a:solidFill>
                <a:latin typeface="Malgun Gothic" pitchFamily="34" charset="0"/>
                <a:ea typeface="Malgun Gothic" pitchFamily="34" charset="-122"/>
                <a:cs typeface="Malgun Gothic" pitchFamily="34" charset="-120"/>
              </a:rPr>
              <a:t>안테나 자기 정면 기준</a:t>
            </a:r>
            <a:endParaRPr lang="en-US" sz="1200" dirty="0"/>
          </a:p>
        </p:txBody>
      </p:sp>
      <p:sp>
        <p:nvSpPr>
          <p:cNvPr id="7" name="Shape 5"/>
          <p:cNvSpPr/>
          <p:nvPr/>
        </p:nvSpPr>
        <p:spPr>
          <a:xfrm>
            <a:off x="6309360" y="1755648"/>
            <a:ext cx="5029200" cy="2286000"/>
          </a:xfrm>
          <a:prstGeom prst="roundRect">
            <a:avLst>
              <a:gd name="adj" fmla="val 4800"/>
            </a:avLst>
          </a:prstGeom>
          <a:solidFill>
            <a:srgbClr val="C2521C"/>
          </a:solidFill>
          <a:ln/>
        </p:spPr>
        <p:txBody>
          <a:bodyPr/>
          <a:p/>
        </p:txBody>
      </p:sp>
      <p:sp>
        <p:nvSpPr>
          <p:cNvPr id="8" name="Text 6"/>
          <p:cNvSpPr txBox="1"/>
          <p:nvPr/>
        </p:nvSpPr>
        <p:spPr>
          <a:xfrm>
            <a:off x="6583680" y="1956816"/>
            <a:ext cx="4480560" cy="310896"/>
          </a:xfrm>
          <a:prstGeom prst="rect">
            <a:avLst/>
          </a:prstGeom>
          <a:noFill/>
          <a:ln/>
        </p:spPr>
        <p:txBody>
          <a:bodyPr wrap="square" lIns="0" tIns="0" rIns="0" bIns="0" rtlCol="0" anchor="ctr"/>
          <a:lstStyle/>
          <a:p>
            <a:pPr indent="0" marL="0">
              <a:buNone/>
            </a:pPr>
            <a:r>
              <a:rPr lang="en-US" sz="1300" dirty="0">
                <a:solidFill>
                  <a:srgbClr val="F6D8C6"/>
                </a:solidFill>
                <a:latin typeface="Malgun Gothic" pitchFamily="34" charset="0"/>
                <a:ea typeface="Malgun Gothic" pitchFamily="34" charset="-122"/>
                <a:cs typeface="Malgun Gothic" pitchFamily="34" charset="-120"/>
              </a:rPr>
              <a:t>전시기는 이걸 보여줘야 한다</a:t>
            </a:r>
            <a:endParaRPr lang="en-US" sz="1300" dirty="0"/>
          </a:p>
        </p:txBody>
      </p:sp>
      <p:sp>
        <p:nvSpPr>
          <p:cNvPr id="9" name="Text 7"/>
          <p:cNvSpPr txBox="1"/>
          <p:nvPr/>
        </p:nvSpPr>
        <p:spPr>
          <a:xfrm>
            <a:off x="6583680" y="235915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"북위 36.2337도,</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동경 127.3643도"</a:t>
            </a:r>
            <a:endParaRPr lang="en-US" sz="2600" dirty="0"/>
          </a:p>
        </p:txBody>
      </p:sp>
      <p:sp>
        <p:nvSpPr>
          <p:cNvPr id="10" name="Text 8"/>
          <p:cNvSpPr txBox="1"/>
          <p:nvPr/>
        </p:nvSpPr>
        <p:spPr>
          <a:xfrm>
            <a:off x="6583680" y="3584448"/>
            <a:ext cx="4480560" cy="292608"/>
          </a:xfrm>
          <a:prstGeom prst="rect">
            <a:avLst/>
          </a:prstGeom>
          <a:noFill/>
          <a:ln/>
        </p:spPr>
        <p:txBody>
          <a:bodyPr wrap="square" lIns="0" tIns="0" rIns="0" bIns="0" rtlCol="0" anchor="ctr"/>
          <a:lstStyle/>
          <a:p>
            <a:pPr indent="0" marL="0">
              <a:buNone/>
            </a:pPr>
            <a:r>
              <a:rPr lang="en-US" sz="1200" i="1" dirty="0">
                <a:solidFill>
                  <a:srgbClr val="F6D8C6"/>
                </a:solidFill>
                <a:latin typeface="Malgun Gothic" pitchFamily="34" charset="0"/>
                <a:ea typeface="Malgun Gothic" pitchFamily="34" charset="-122"/>
                <a:cs typeface="Malgun Gothic" pitchFamily="34" charset="-120"/>
              </a:rPr>
              <a:t>지구 전체 기준</a:t>
            </a:r>
            <a:endParaRPr lang="en-US" sz="1200" dirty="0"/>
          </a:p>
        </p:txBody>
      </p:sp>
      <p:sp>
        <p:nvSpPr>
          <p:cNvPr id="11" name="Text 9"/>
          <p:cNvSpPr txBox="1"/>
          <p:nvPr/>
        </p:nvSpPr>
        <p:spPr>
          <a:xfrm>
            <a:off x="822960" y="4645152"/>
            <a:ext cx="10515600" cy="548640"/>
          </a:xfrm>
          <a:prstGeom prst="rect">
            <a:avLst/>
          </a:prstGeom>
          <a:noFill/>
          <a:ln/>
        </p:spPr>
        <p:txBody>
          <a:bodyPr wrap="square" lIns="0" tIns="0" rIns="0" bIns="0" rtlCol="0" anchor="ctr"/>
          <a:lstStyle/>
          <a:p>
            <a:pPr algn="ctr" indent="0" marL="0">
              <a:buNone/>
            </a:pPr>
            <a:r>
              <a:rPr lang="en-US" sz="2700" b="1" dirty="0">
                <a:solidFill>
                  <a:srgbClr val="C9D6EC"/>
                </a:solidFill>
                <a:latin typeface="Malgun Gothic" pitchFamily="34" charset="0"/>
                <a:ea typeface="Malgun Gothic" pitchFamily="34" charset="-122"/>
                <a:cs typeface="Malgun Gothic" pitchFamily="34" charset="-120"/>
              </a:rPr>
              <a:t>그 사이를 메우는 것이  좌표변환</a:t>
            </a:r>
            <a:endParaRPr lang="en-US" sz="2700" dirty="0"/>
          </a:p>
        </p:txBody>
      </p:sp>
      <p:sp>
        <p:nvSpPr>
          <p:cNvPr id="12" name="Text 10"/>
          <p:cNvSpPr txBox="1"/>
          <p:nvPr/>
        </p:nvSpPr>
        <p:spPr>
          <a:xfrm>
            <a:off x="822960" y="5266944"/>
            <a:ext cx="10515600" cy="365760"/>
          </a:xfrm>
          <a:prstGeom prst="rect">
            <a:avLst/>
          </a:prstGeom>
          <a:noFill/>
          <a:ln/>
        </p:spPr>
        <p:txBody>
          <a:bodyPr wrap="square" lIns="0" tIns="0" rIns="0" bIns="0" rtlCol="0" anchor="ctr"/>
          <a:lstStyle/>
          <a:p>
            <a:pPr algn="ctr" indent="0" marL="0">
              <a:buNone/>
            </a:pPr>
            <a:r>
              <a:rPr lang="en-US" sz="1400" dirty="0">
                <a:solidFill>
                  <a:srgbClr val="7189B5"/>
                </a:solidFill>
                <a:latin typeface="Malgun Gothic" pitchFamily="34" charset="0"/>
                <a:ea typeface="Malgun Gothic" pitchFamily="34" charset="-122"/>
                <a:cs typeface="Malgun Gothic" pitchFamily="34" charset="-120"/>
              </a:rPr>
              <a:t>안테나는 배가 어느 방향을 향하는지도, 지금 위도가 몇 도인지도 모른다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오늘 다룰 것</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개념 → 설계 → 검증, 세 단계로 진행합니다</a:t>
            </a:r>
            <a:endParaRPr lang="en-US" sz="1400" dirty="0"/>
          </a:p>
        </p:txBody>
      </p:sp>
      <p:sp>
        <p:nvSpPr>
          <p:cNvPr id="4" name="Shape 2"/>
          <p:cNvSpPr/>
          <p:nvPr/>
        </p:nvSpPr>
        <p:spPr>
          <a:xfrm>
            <a:off x="566928"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5" name="Shape 3"/>
          <p:cNvSpPr/>
          <p:nvPr/>
        </p:nvSpPr>
        <p:spPr>
          <a:xfrm>
            <a:off x="859536" y="1847088"/>
            <a:ext cx="402336" cy="402336"/>
          </a:xfrm>
          <a:prstGeom prst="ellipse">
            <a:avLst/>
          </a:prstGeom>
          <a:solidFill>
            <a:srgbClr val="2B57A6"/>
          </a:solidFill>
          <a:ln/>
        </p:spPr>
        <p:txBody>
          <a:bodyPr/>
          <a:p/>
        </p:txBody>
      </p:sp>
      <p:sp>
        <p:nvSpPr>
          <p:cNvPr id="6" name="Text 4"/>
          <p:cNvSpPr txBox="1"/>
          <p:nvPr/>
        </p:nvSpPr>
        <p:spPr>
          <a:xfrm>
            <a:off x="859536"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859536"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좌표계 여섯 가지</a:t>
            </a:r>
            <a:endParaRPr lang="en-US" sz="1900" dirty="0"/>
          </a:p>
        </p:txBody>
      </p:sp>
      <p:sp>
        <p:nvSpPr>
          <p:cNvPr id="8" name="Text 6"/>
          <p:cNvSpPr txBox="1"/>
          <p:nvPr/>
        </p:nvSpPr>
        <p:spPr>
          <a:xfrm>
            <a:off x="859536"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안테나 · 동체 · INS · NED/ENU</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ECEF/ECI · LLA</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각각 원점이 어디이고 축이</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어디를 향하는지, 왜 필요한지</a:t>
            </a:r>
            <a:endParaRPr lang="en-US" sz="1350" dirty="0"/>
          </a:p>
        </p:txBody>
      </p:sp>
      <p:sp>
        <p:nvSpPr>
          <p:cNvPr id="9" name="Shape 7"/>
          <p:cNvSpPr/>
          <p:nvPr/>
        </p:nvSpPr>
        <p:spPr>
          <a:xfrm>
            <a:off x="4343400"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0" name="Shape 8"/>
          <p:cNvSpPr/>
          <p:nvPr/>
        </p:nvSpPr>
        <p:spPr>
          <a:xfrm>
            <a:off x="4636008" y="1847088"/>
            <a:ext cx="402336" cy="402336"/>
          </a:xfrm>
          <a:prstGeom prst="ellipse">
            <a:avLst/>
          </a:prstGeom>
          <a:solidFill>
            <a:srgbClr val="2B57A6"/>
          </a:solidFill>
          <a:ln/>
        </p:spPr>
        <p:txBody>
          <a:bodyPr/>
          <a:p/>
        </p:txBody>
      </p:sp>
      <p:sp>
        <p:nvSpPr>
          <p:cNvPr id="11" name="Text 9"/>
          <p:cNvSpPr txBox="1"/>
          <p:nvPr/>
        </p:nvSpPr>
        <p:spPr>
          <a:xfrm>
            <a:off x="4636008"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4636008"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실전 설계</a:t>
            </a:r>
            <a:endParaRPr lang="en-US" sz="1900" dirty="0"/>
          </a:p>
        </p:txBody>
      </p:sp>
      <p:sp>
        <p:nvSpPr>
          <p:cNvPr id="13" name="Text 11"/>
          <p:cNvSpPr txBox="1"/>
          <p:nvPr/>
        </p:nvSpPr>
        <p:spPr>
          <a:xfrm>
            <a:off x="4636008"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함선 고정형 안테나를 놓고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5단계 변환 경로를 설계</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 단계에서 무엇이 회전과</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이동을 공급하는가</a:t>
            </a:r>
            <a:endParaRPr lang="en-US" sz="1350" dirty="0"/>
          </a:p>
        </p:txBody>
      </p:sp>
      <p:sp>
        <p:nvSpPr>
          <p:cNvPr id="14" name="Shape 12"/>
          <p:cNvSpPr/>
          <p:nvPr/>
        </p:nvSpPr>
        <p:spPr>
          <a:xfrm>
            <a:off x="8119872"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5" name="Shape 13"/>
          <p:cNvSpPr/>
          <p:nvPr/>
        </p:nvSpPr>
        <p:spPr>
          <a:xfrm>
            <a:off x="8412480" y="1847088"/>
            <a:ext cx="402336" cy="402336"/>
          </a:xfrm>
          <a:prstGeom prst="ellipse">
            <a:avLst/>
          </a:prstGeom>
          <a:solidFill>
            <a:srgbClr val="2B57A6"/>
          </a:solidFill>
          <a:ln/>
        </p:spPr>
        <p:txBody>
          <a:bodyPr/>
          <a:p/>
        </p:txBody>
      </p:sp>
      <p:sp>
        <p:nvSpPr>
          <p:cNvPr id="16" name="Text 14"/>
          <p:cNvSpPr txBox="1"/>
          <p:nvPr/>
        </p:nvSpPr>
        <p:spPr>
          <a:xfrm>
            <a:off x="8412480"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7" name="Text 15"/>
          <p:cNvSpPr txBox="1"/>
          <p:nvPr/>
        </p:nvSpPr>
        <p:spPr>
          <a:xfrm>
            <a:off x="8412480"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C 로 확인</a:t>
            </a:r>
            <a:endParaRPr lang="en-US" sz="1900" dirty="0"/>
          </a:p>
        </p:txBody>
      </p:sp>
      <p:sp>
        <p:nvSpPr>
          <p:cNvPr id="18" name="Text 16"/>
          <p:cNvSpPr txBox="1"/>
          <p:nvPr/>
        </p:nvSpPr>
        <p:spPr>
          <a:xfrm>
            <a:off x="8412480"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설계한 변환을 구현하고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숫자로 검증</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왕복 시험 · 확인 실험 3가지</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UI 로 자세 바꿔 가며 확인</a:t>
            </a:r>
            <a:endParaRPr lang="en-US" sz="1350" dirty="0"/>
          </a:p>
        </p:txBody>
      </p:sp>
      <p:sp>
        <p:nvSpPr>
          <p:cNvPr id="19" name="Text 17"/>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사전 지식은 삼각함수와 행렬 곱셈 정도면 충분합니다. 그마저도 필요한 곳에서 다시 설명합니다.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좌표계는 왜 여러 개나 필요할까</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아래 다섯 줄은 전부 같은 표적 하나를 가리킵니다</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051560" y="1737360"/>
          <a:ext cx="10058400" cy="914400"/>
        </p:xfrm>
        <a:graphic>
          <a:graphicData uri="http://schemas.openxmlformats.org/drawingml/2006/table">
            <a:tbl>
              <a:tblPr/>
              <a:tblGrid>
                <a:gridCol w="2377440"/>
                <a:gridCol w="7680960"/>
              </a:tblGrid>
              <a:tr h="475488">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말하는 사람</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표적이 어디 있냐고 물으면</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75488">
                <a:tc>
                  <a:txBody>
                    <a:bodyP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안테나</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dirty="0">
                          <a:solidFill>
                            <a:srgbClr val="1A2233"/>
                          </a:solidFill>
                          <a:latin typeface="Malgun Gothic" pitchFamily="34" charset="0"/>
                          <a:ea typeface="Malgun Gothic" pitchFamily="34" charset="-122"/>
                          <a:cs typeface="Malgun Gothic" pitchFamily="34" charset="-120"/>
                        </a:rPr>
                        <a:t>내 정면에서 오른쪽 30°, 20 km</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75488">
                <a:tc>
                  <a:txBody>
                    <a:bodyP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함선</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dirty="0">
                          <a:solidFill>
                            <a:srgbClr val="1A2233"/>
                          </a:solidFill>
                          <a:latin typeface="Malgun Gothic" pitchFamily="34" charset="0"/>
                          <a:ea typeface="Malgun Gothic" pitchFamily="34" charset="-122"/>
                          <a:cs typeface="Malgun Gothic" pitchFamily="34" charset="-120"/>
                        </a:rPr>
                        <a:t>뱃머리에서 오른쪽으로 120° 쯤, 20 km</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75488">
                <a:tc>
                  <a:txBody>
                    <a:bodyP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바다 위 이 지점</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dirty="0">
                          <a:solidFill>
                            <a:srgbClr val="1A2233"/>
                          </a:solidFill>
                          <a:latin typeface="Malgun Gothic" pitchFamily="34" charset="0"/>
                          <a:ea typeface="Malgun Gothic" pitchFamily="34" charset="-122"/>
                          <a:cs typeface="Malgun Gothic" pitchFamily="34" charset="-120"/>
                        </a:rPr>
                        <a:t>남쪽으로 19 km 쯤, 동쪽으로 5 km 쯤</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75488">
                <a:tc>
                  <a:txBody>
                    <a:bodyP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지구</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dirty="0">
                          <a:solidFill>
                            <a:srgbClr val="1A2233"/>
                          </a:solidFill>
                          <a:latin typeface="Malgun Gothic" pitchFamily="34" charset="0"/>
                          <a:ea typeface="Malgun Gothic" pitchFamily="34" charset="-122"/>
                          <a:cs typeface="Malgun Gothic" pitchFamily="34" charset="-120"/>
                        </a:rPr>
                        <a:t>지구 중심에서 잰 X, Y, Z 세 숫자 (수천 km 단위)</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75488">
                <a:tc>
                  <a:txBody>
                    <a:bodyP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지도</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북위 36.2°, 동경 127.4° 부근</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1051560" y="4882896"/>
            <a:ext cx="10058400" cy="841248"/>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1051560" y="4882896"/>
            <a:ext cx="10058400" cy="841248"/>
          </a:xfrm>
          <a:prstGeom prst="rect">
            <a:avLst/>
          </a:prstGeom>
          <a:noFill/>
          <a:ln/>
        </p:spPr>
        <p:txBody>
          <a:bodyPr wrap="square" lIns="0" tIns="0" rIns="0" bIns="0" rtlCol="0" anchor="ctr"/>
          <a:lstStyle/>
          <a:p>
            <a:pPr algn="ctr" indent="0" marL="0">
              <a:buNone/>
            </a:pPr>
            <a:r>
              <a:rPr lang="en-US" sz="1700" b="1" dirty="0">
                <a:solidFill>
                  <a:srgbClr val="C2521C"/>
                </a:solidFill>
                <a:latin typeface="Malgun Gothic" pitchFamily="34" charset="0"/>
                <a:ea typeface="Malgun Gothic" pitchFamily="34" charset="-122"/>
                <a:cs typeface="Malgun Gothic" pitchFamily="34" charset="-120"/>
              </a:rPr>
              <a:t>다섯 문장 모두 맞습니다.  다른 것은 기준점(원점)과 기준 방향(축)뿐입니다.</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좌표계를 읽는 세 가지 질문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새 좌표계를 만나면 이 셋만 확인하면 됩니다</a:t>
            </a:r>
            <a:endParaRPr lang="en-US" sz="1400" dirty="0"/>
          </a:p>
        </p:txBody>
      </p:sp>
      <p:sp>
        <p:nvSpPr>
          <p:cNvPr id="4" name="Shape 2"/>
          <p:cNvSpPr/>
          <p:nvPr/>
        </p:nvSpPr>
        <p:spPr>
          <a:xfrm>
            <a:off x="566928" y="162763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84708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①</a:t>
            </a:r>
            <a:endParaRPr lang="en-US" sz="3400" dirty="0"/>
          </a:p>
        </p:txBody>
      </p:sp>
      <p:sp>
        <p:nvSpPr>
          <p:cNvPr id="6" name="Text 4"/>
          <p:cNvSpPr txBox="1"/>
          <p:nvPr/>
        </p:nvSpPr>
        <p:spPr>
          <a:xfrm>
            <a:off x="1554480" y="181051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원점이 어디인가?</a:t>
            </a:r>
            <a:endParaRPr lang="en-US" sz="1800" dirty="0"/>
          </a:p>
        </p:txBody>
      </p:sp>
      <p:sp>
        <p:nvSpPr>
          <p:cNvPr id="7" name="Text 5"/>
          <p:cNvSpPr txBox="1"/>
          <p:nvPr/>
        </p:nvSpPr>
        <p:spPr>
          <a:xfrm>
            <a:off x="5303520" y="179222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"0, 0, 0" 이 물리적으로 어느 지점인가.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평행이동 계산의 기준이 된다.</a:t>
            </a:r>
            <a:endParaRPr lang="en-US" sz="1300" dirty="0"/>
          </a:p>
        </p:txBody>
      </p:sp>
      <p:sp>
        <p:nvSpPr>
          <p:cNvPr id="8" name="Shape 6"/>
          <p:cNvSpPr/>
          <p:nvPr/>
        </p:nvSpPr>
        <p:spPr>
          <a:xfrm>
            <a:off x="566928" y="304495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26440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②</a:t>
            </a:r>
            <a:endParaRPr lang="en-US" sz="3400" dirty="0"/>
          </a:p>
        </p:txBody>
      </p:sp>
      <p:sp>
        <p:nvSpPr>
          <p:cNvPr id="10" name="Text 8"/>
          <p:cNvSpPr txBox="1"/>
          <p:nvPr/>
        </p:nvSpPr>
        <p:spPr>
          <a:xfrm>
            <a:off x="1554480" y="322783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축이 어디를 향하는가?</a:t>
            </a:r>
            <a:endParaRPr lang="en-US" sz="1800" dirty="0"/>
          </a:p>
        </p:txBody>
      </p:sp>
      <p:sp>
        <p:nvSpPr>
          <p:cNvPr id="11" name="Text 9"/>
          <p:cNvSpPr txBox="1"/>
          <p:nvPr/>
        </p:nvSpPr>
        <p:spPr>
          <a:xfrm>
            <a:off x="5303520" y="320954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특히 z 가 위인지 아래인지.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항법 분야는 z 를 아래로 두는 관습이 있어</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처음엔 거의 반드시 헷갈린다.</a:t>
            </a:r>
            <a:endParaRPr lang="en-US" sz="1300" dirty="0"/>
          </a:p>
        </p:txBody>
      </p:sp>
      <p:sp>
        <p:nvSpPr>
          <p:cNvPr id="12" name="Shape 10"/>
          <p:cNvSpPr/>
          <p:nvPr/>
        </p:nvSpPr>
        <p:spPr>
          <a:xfrm>
            <a:off x="566928" y="446227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68172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③</a:t>
            </a:r>
            <a:endParaRPr lang="en-US" sz="3400" dirty="0"/>
          </a:p>
        </p:txBody>
      </p:sp>
      <p:sp>
        <p:nvSpPr>
          <p:cNvPr id="14" name="Text 12"/>
          <p:cNvSpPr txBox="1"/>
          <p:nvPr/>
        </p:nvSpPr>
        <p:spPr>
          <a:xfrm>
            <a:off x="1554480" y="464515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무엇에 붙어 있는가?</a:t>
            </a:r>
            <a:endParaRPr lang="en-US" sz="1800" dirty="0"/>
          </a:p>
        </p:txBody>
      </p:sp>
      <p:sp>
        <p:nvSpPr>
          <p:cNvPr id="15" name="Text 13"/>
          <p:cNvSpPr txBox="1"/>
          <p:nvPr/>
        </p:nvSpPr>
        <p:spPr>
          <a:xfrm>
            <a:off x="5303520" y="462686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배에 붙어 있으면 배가 흔들릴 때</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좌표계도 같이 흔들린다.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표적이 가만히 있어도 좌표값이 변한다.</a:t>
            </a:r>
            <a:endParaRPr lang="en-US" sz="1300" dirty="0"/>
          </a:p>
        </p:txBody>
      </p:sp>
      <p:sp>
        <p:nvSpPr>
          <p:cNvPr id="16" name="Shape 14"/>
          <p:cNvSpPr/>
          <p:nvPr/>
        </p:nvSpPr>
        <p:spPr>
          <a:xfrm>
            <a:off x="566928" y="5870448"/>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870448"/>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이 발표의 약속 :  모든 좌표계에서 z 는 아래.  "10 m 위" 는  z = −10 입니다.</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변환은 두 동작뿐</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복잡한 수학처럼 들리지만 실제로 하는 일은 두 가지입니다</a:t>
            </a:r>
            <a:endParaRPr lang="en-US" sz="1400" dirty="0"/>
          </a:p>
        </p:txBody>
      </p:sp>
      <p:sp>
        <p:nvSpPr>
          <p:cNvPr id="4" name="Shape 2"/>
          <p:cNvSpPr/>
          <p:nvPr/>
        </p:nvSpPr>
        <p:spPr>
          <a:xfrm>
            <a:off x="566928" y="1627632"/>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883664"/>
            <a:ext cx="402336" cy="402336"/>
          </a:xfrm>
          <a:prstGeom prst="ellipse">
            <a:avLst/>
          </a:prstGeom>
          <a:solidFill>
            <a:srgbClr val="2B57A6"/>
          </a:solidFill>
          <a:ln/>
        </p:spPr>
        <p:txBody>
          <a:bodyPr/>
          <a:p/>
        </p:txBody>
      </p:sp>
      <p:sp>
        <p:nvSpPr>
          <p:cNvPr id="6" name="Text 4"/>
          <p:cNvSpPr txBox="1"/>
          <p:nvPr/>
        </p:nvSpPr>
        <p:spPr>
          <a:xfrm>
            <a:off x="86868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1444752" y="1883664"/>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Malgun Gothic" pitchFamily="34" charset="0"/>
                <a:ea typeface="Malgun Gothic" pitchFamily="34" charset="-122"/>
                <a:cs typeface="Malgun Gothic" pitchFamily="34" charset="-120"/>
              </a:rPr>
              <a:t>회전 (rotation)</a:t>
            </a:r>
            <a:endParaRPr lang="en-US" sz="2100" dirty="0"/>
          </a:p>
        </p:txBody>
      </p:sp>
      <p:sp>
        <p:nvSpPr>
          <p:cNvPr id="8" name="Text 6"/>
          <p:cNvSpPr txBox="1"/>
          <p:nvPr/>
        </p:nvSpPr>
        <p:spPr>
          <a:xfrm>
            <a:off x="86868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방향이 다를 때</a:t>
            </a:r>
            <a:endParaRPr lang="en-US" sz="1500" dirty="0"/>
          </a:p>
        </p:txBody>
      </p:sp>
      <p:sp>
        <p:nvSpPr>
          <p:cNvPr id="9" name="Text 7"/>
          <p:cNvSpPr txBox="1"/>
          <p:nvPr/>
        </p:nvSpPr>
        <p:spPr>
          <a:xfrm>
            <a:off x="86868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"내 정면"과 "배의 정면"이 다르면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우현 90도를 보고 있으니,</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안테나의 "앞"은 배의 "오른쪽"이다.</a:t>
            </a:r>
            <a:endParaRPr lang="en-US" sz="1350" dirty="0"/>
          </a:p>
        </p:txBody>
      </p:sp>
      <p:sp>
        <p:nvSpPr>
          <p:cNvPr id="10" name="Shape 8"/>
          <p:cNvSpPr/>
          <p:nvPr/>
        </p:nvSpPr>
        <p:spPr>
          <a:xfrm>
            <a:off x="6236208" y="1627632"/>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883664"/>
            <a:ext cx="402336" cy="402336"/>
          </a:xfrm>
          <a:prstGeom prst="ellipse">
            <a:avLst/>
          </a:prstGeom>
          <a:solidFill>
            <a:srgbClr val="C2521C"/>
          </a:solidFill>
          <a:ln/>
        </p:spPr>
        <p:txBody>
          <a:bodyPr/>
          <a:p/>
        </p:txBody>
      </p:sp>
      <p:sp>
        <p:nvSpPr>
          <p:cNvPr id="12" name="Text 10"/>
          <p:cNvSpPr txBox="1"/>
          <p:nvPr/>
        </p:nvSpPr>
        <p:spPr>
          <a:xfrm>
            <a:off x="653796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3" name="Text 11"/>
          <p:cNvSpPr txBox="1"/>
          <p:nvPr/>
        </p:nvSpPr>
        <p:spPr>
          <a:xfrm>
            <a:off x="7114032" y="1883664"/>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Malgun Gothic" pitchFamily="34" charset="0"/>
                <a:ea typeface="Malgun Gothic" pitchFamily="34" charset="-122"/>
                <a:cs typeface="Malgun Gothic" pitchFamily="34" charset="-120"/>
              </a:rPr>
              <a:t>평행이동 (translation)</a:t>
            </a:r>
            <a:endParaRPr lang="en-US" sz="2100" dirty="0"/>
          </a:p>
        </p:txBody>
      </p:sp>
      <p:sp>
        <p:nvSpPr>
          <p:cNvPr id="14" name="Text 12"/>
          <p:cNvSpPr txBox="1"/>
          <p:nvPr/>
        </p:nvSpPr>
        <p:spPr>
          <a:xfrm>
            <a:off x="653796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점이 다를 때</a:t>
            </a:r>
            <a:endParaRPr lang="en-US" sz="1500" dirty="0"/>
          </a:p>
        </p:txBody>
      </p:sp>
      <p:sp>
        <p:nvSpPr>
          <p:cNvPr id="15" name="Text 13"/>
          <p:cNvSpPr txBox="1"/>
          <p:nvPr/>
        </p:nvSpPr>
        <p:spPr>
          <a:xfrm>
            <a:off x="653796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무게중심에서</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30 m 뒤 · 10 m 위에 있으면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이 오프셋을 레버암이라 부른다.</a:t>
            </a:r>
            <a:endParaRPr lang="en-US" sz="1350" dirty="0"/>
          </a:p>
        </p:txBody>
      </p:sp>
      <p:sp>
        <p:nvSpPr>
          <p:cNvPr id="16" name="Text 14"/>
          <p:cNvSpPr txBox="1"/>
          <p:nvPr/>
        </p:nvSpPr>
        <p:spPr>
          <a:xfrm>
            <a:off x="566928" y="4791456"/>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Malgun Gothic" pitchFamily="34" charset="0"/>
                <a:ea typeface="Malgun Gothic" pitchFamily="34" charset="-122"/>
                <a:cs typeface="Malgun Gothic" pitchFamily="34" charset="-120"/>
              </a:rPr>
              <a:t>모든 단계는 이 둘 중 하나거나, 둘 다입니다.  그게 전부입니다.</a:t>
            </a:r>
            <a:endParaRPr lang="en-US" sz="1900" dirty="0"/>
          </a:p>
        </p:txBody>
      </p:sp>
      <p:sp>
        <p:nvSpPr>
          <p:cNvPr id="17" name="Shape 15"/>
          <p:cNvSpPr/>
          <p:nvPr/>
        </p:nvSpPr>
        <p:spPr>
          <a:xfrm>
            <a:off x="566928" y="5413248"/>
            <a:ext cx="11064240" cy="841248"/>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522976"/>
            <a:ext cx="10735056" cy="621792"/>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 — 표적은 가만히 있다, 움직이는 건 자(ruler)다</a:t>
            </a:r>
            <a:endParaRPr lang="en-US" sz="3000" dirty="0"/>
          </a:p>
        </p:txBody>
      </p:sp>
      <p:pic>
        <p:nvPicPr>
          <p:cNvPr id="3" name="Image 0" descr="/home/claude/gitpkg/Part2_CoordFrames/doc/figures/fig05_same_target.png">    </p:cNvPr>
          <p:cNvPicPr>
            <a:picLocks noChangeAspect="1"/>
          </p:cNvPicPr>
          <p:nvPr/>
        </p:nvPicPr>
        <p:blipFill>
          <a:blip r:embed="rId1"/>
          <a:stretch>
            <a:fillRect/>
          </a:stretch>
        </p:blipFill>
        <p:spPr>
          <a:xfrm>
            <a:off x="2336225" y="1389888"/>
            <a:ext cx="7525646" cy="3566160"/>
          </a:xfrm>
          <a:prstGeom prst="rect">
            <a:avLst/>
          </a:prstGeom>
        </p:spPr>
      </p:pic>
      <p:sp>
        <p:nvSpPr>
          <p:cNvPr id="4" name="Shape 1"/>
          <p:cNvSpPr/>
          <p:nvPr/>
        </p:nvSpPr>
        <p:spPr>
          <a:xfrm>
            <a:off x="566928" y="5138928"/>
            <a:ext cx="11064240" cy="1152144"/>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944"/>
            <a:ext cx="10735056" cy="384048"/>
          </a:xfrm>
          <a:prstGeom prst="rect">
            <a:avLst/>
          </a:prstGeom>
          <a:noFill/>
          <a:ln/>
        </p:spPr>
        <p:txBody>
          <a:bodyPr wrap="square" lIns="0" tIns="0" rIns="0" bIns="0" rtlCol="0" anchor="ctr"/>
          <a:lstStyle/>
          <a:p>
            <a:pPr algn="ctr" indent="0" marL="0">
              <a:buNone/>
            </a:pPr>
            <a:r>
              <a:rPr lang="en-US" sz="1600" b="1" dirty="0">
                <a:solidFill>
                  <a:srgbClr val="C2521C"/>
                </a:solidFill>
                <a:latin typeface="Malgun Gothic" pitchFamily="34" charset="0"/>
                <a:ea typeface="Malgun Gothic" pitchFamily="34" charset="-122"/>
                <a:cs typeface="Malgun Gothic" pitchFamily="34" charset="-120"/>
              </a:rPr>
              <a:t>안테나의 "정면"이 함선의 "우현"이라서,  같은 표적이  (+17 320, +10 000)  →  (−10 000, +17 320)</a:t>
            </a:r>
            <a:endParaRPr lang="en-US" sz="1600" dirty="0"/>
          </a:p>
        </p:txBody>
      </p:sp>
      <p:sp>
        <p:nvSpPr>
          <p:cNvPr id="6" name="Text 3"/>
          <p:cNvSpPr txBox="1"/>
          <p:nvPr/>
        </p:nvSpPr>
        <p:spPr>
          <a:xfrm>
            <a:off x="731520" y="5687568"/>
            <a:ext cx="10735056" cy="384048"/>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두 숫자가 자리를 바꾸고 부호 하나가 뒤집혔다.  이것이 90도 회전의 정체입니다.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회전행렬은 어디서 나오는가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외울 것이 아니라 삼각함수 덧셈정리 한 줄에서 바로 나옵니다</a:t>
            </a:r>
            <a:endParaRPr lang="en-US" sz="1400" dirty="0"/>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566510"/>
            <a:ext cx="6858000" cy="3542100"/>
          </a:xfrm>
          <a:prstGeom prst="rect">
            <a:avLst/>
          </a:prstGeom>
        </p:spPr>
      </p:pic>
      <p:sp>
        <p:nvSpPr>
          <p:cNvPr id="5" name="Shape 2"/>
          <p:cNvSpPr/>
          <p:nvPr/>
        </p:nvSpPr>
        <p:spPr>
          <a:xfrm>
            <a:off x="7699248" y="1481328"/>
            <a:ext cx="3931920" cy="3712464"/>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682496"/>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그래서 Rz(θ) 는 이렇게 생겼다</a:t>
            </a:r>
            <a:endParaRPr lang="en-US" sz="1500" dirty="0"/>
          </a:p>
        </p:txBody>
      </p:sp>
      <p:sp>
        <p:nvSpPr>
          <p:cNvPr id="7" name="Shape 4"/>
          <p:cNvSpPr/>
          <p:nvPr/>
        </p:nvSpPr>
        <p:spPr>
          <a:xfrm>
            <a:off x="7973568" y="2139696"/>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139696"/>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493008"/>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회전행렬이 늘 갖는 세 성질</a:t>
            </a:r>
            <a:endParaRPr lang="en-US" sz="1400" dirty="0"/>
          </a:p>
        </p:txBody>
      </p:sp>
      <p:sp>
        <p:nvSpPr>
          <p:cNvPr id="10" name="Text 7"/>
          <p:cNvSpPr txBox="1"/>
          <p:nvPr/>
        </p:nvSpPr>
        <p:spPr>
          <a:xfrm>
            <a:off x="7973568" y="3877056"/>
            <a:ext cx="3383280" cy="118872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각 행과 열의 길이가 1 이고 서로 직교한다</a:t>
            </a:r>
            <a:endParaRPr lang="en-US" sz="1200" dirty="0"/>
          </a:p>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det = +1  — 늘이거나 뒤집지 않는다</a:t>
            </a:r>
            <a:endParaRPr lang="en-US" sz="1200" dirty="0"/>
          </a:p>
          <a:p>
            <a:pPr marL="342900" indent="-342900">
              <a:lnSpc>
                <a:spcPts val="1700"/>
              </a:lnSpc>
              <a:spcAft>
                <a:spcPts val="600"/>
              </a:spcAft>
              <a:buSzPct val="100000"/>
              <a:buChar char="•"/>
            </a:pPr>
            <a:r>
              <a:rPr lang="en-US" sz="1200" dirty="0">
                <a:solidFill>
                  <a:srgbClr val="C2521C"/>
                </a:solidFill>
                <a:latin typeface="Malgun Gothic" pitchFamily="34" charset="0"/>
                <a:ea typeface="Malgun Gothic" pitchFamily="34" charset="-122"/>
                <a:cs typeface="Malgun Gothic" pitchFamily="34" charset="-120"/>
              </a:rPr>
              <a:t>역행렬 = 전치 (R⁻¹ = R^T) — 되돌리기가 공짜다</a:t>
            </a:r>
            <a:endParaRPr lang="en-US" sz="1200" dirty="0"/>
          </a:p>
        </p:txBody>
      </p:sp>
      <p:sp>
        <p:nvSpPr>
          <p:cNvPr id="11" name="Shape 8"/>
          <p:cNvSpPr/>
          <p:nvPr/>
        </p:nvSpPr>
        <p:spPr>
          <a:xfrm>
            <a:off x="566928" y="5431536"/>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431536"/>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행렬을 쓰는 이유 :  ① 세 축을 한 번에 처리   ② 여러 회전을 곱해서 하나로 합침   ③ 되돌아갈 땐 전치만 하면 됨</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1</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좌표계 여섯 가지</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각각 원점이 어디이고, 축이 어디를 향하고, 무엇에 붙어 있는가</a:t>
            </a:r>
            <a:endParaRPr lang="en-US" sz="1800" dirty="0"/>
          </a:p>
        </p:txBody>
      </p:sp>
      <p:sp>
        <p:nvSpPr>
          <p:cNvPr id="5" name="Shape 3"/>
          <p:cNvSpPr/>
          <p:nvPr/>
        </p:nvSpPr>
        <p:spPr>
          <a:xfrm>
            <a:off x="82296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1248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LLA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①  극좌표 (Polar)</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레이다가 물리적으로 잴 수 있는 것 — 거리 하나와 각도 둘</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359916"/>
            <a:ext cx="7680960" cy="2796535"/>
          </a:xfrm>
          <a:prstGeom prst="rect">
            <a:avLst/>
          </a:prstGeom>
        </p:spPr>
      </p:pic>
      <p:sp>
        <p:nvSpPr>
          <p:cNvPr id="22" name="Shape 19"/>
          <p:cNvSpPr/>
          <p:nvPr/>
        </p:nvSpPr>
        <p:spPr>
          <a:xfrm>
            <a:off x="8485632" y="1810512"/>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48256"/>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세 성분</a:t>
            </a:r>
            <a:endParaRPr lang="en-US" sz="1500" dirty="0"/>
          </a:p>
        </p:txBody>
      </p:sp>
      <p:sp>
        <p:nvSpPr>
          <p:cNvPr id="24" name="Text 21"/>
          <p:cNvSpPr txBox="1"/>
          <p:nvPr/>
        </p:nvSpPr>
        <p:spPr>
          <a:xfrm>
            <a:off x="8741664" y="2468880"/>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R  시선거리</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Az  방위각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El  고각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수평면에서 위로</a:t>
            </a:r>
            <a:endParaRPr lang="en-US" sz="1350" dirty="0"/>
          </a:p>
        </p:txBody>
      </p:sp>
      <p:sp>
        <p:nvSpPr>
          <p:cNvPr id="25" name="Shape 22"/>
          <p:cNvSpPr/>
          <p:nvPr/>
        </p:nvSpPr>
        <p:spPr>
          <a:xfrm>
            <a:off x="8741664" y="4974336"/>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74336"/>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보어사이트 = 안테나가 똑바로 바라보는 방향. 손전등으로 치면 빛이 가장 센 한가운데 방향입니다.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②  직교좌표 (Cartesian)</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회전행렬을 곱하려면 x·y·z 세 성분으로 풀어써야 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83664"/>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1993392"/>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02736"/>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예제 값을 넣으면</a:t>
            </a:r>
            <a:endParaRPr lang="en-US" sz="1500" dirty="0"/>
          </a:p>
        </p:txBody>
      </p:sp>
      <p:sp>
        <p:nvSpPr>
          <p:cNvPr id="24" name="Shape 22"/>
          <p:cNvSpPr/>
          <p:nvPr/>
        </p:nvSpPr>
        <p:spPr>
          <a:xfrm>
            <a:off x="566928" y="3986784"/>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096512"/>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+17 320.5081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+10 000.0000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883664"/>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084832"/>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직교좌표로 바꾸나</a:t>
            </a:r>
            <a:endParaRPr lang="en-US" sz="1600" dirty="0"/>
          </a:p>
        </p:txBody>
      </p:sp>
      <p:sp>
        <p:nvSpPr>
          <p:cNvPr id="28" name="Text 26"/>
          <p:cNvSpPr txBox="1"/>
          <p:nvPr/>
        </p:nvSpPr>
        <p:spPr>
          <a:xfrm>
            <a:off x="7973568" y="2542032"/>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극좌표는 사람이 읽기 좋지만,</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각도로 표현된 방향을 세 성분으로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풀어쓰는 준비 단계다.</a:t>
            </a:r>
            <a:endParaRPr lang="en-US" sz="1350" dirty="0"/>
          </a:p>
        </p:txBody>
      </p:sp>
      <p:sp>
        <p:nvSpPr>
          <p:cNvPr id="29" name="Text 27"/>
          <p:cNvSpPr txBox="1"/>
          <p:nvPr/>
        </p:nvSpPr>
        <p:spPr>
          <a:xfrm>
            <a:off x="7973568" y="4224528"/>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역변환에서는 asin 대신</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반올림으로 NaN 이 나거나</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±90° 근처에서 정밀도가</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무너지는 걸 막기 위해서다.</a:t>
            </a:r>
            <a:endParaRPr lang="en-US" sz="1200" dirty="0"/>
          </a:p>
        </p:txBody>
      </p:sp>
      <p:sp>
        <p:nvSpPr>
          <p:cNvPr id="30" name="Text 28"/>
          <p:cNvSpPr txBox="1"/>
          <p:nvPr/>
        </p:nvSpPr>
        <p:spPr>
          <a:xfrm>
            <a:off x="566928" y="5577840"/>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z 축은 아래가 양수입니다. 표적이 위에 있으면 z 가 음수가 됩니다.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③  UV (방향코사인)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 방향을 안테나 면에 드리운 그림자로 표현합니다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3_uv.png">    </p:cNvPr>
          <p:cNvPicPr>
            <a:picLocks noChangeAspect="1"/>
          </p:cNvPicPr>
          <p:nvPr/>
        </p:nvPicPr>
        <p:blipFill>
          <a:blip r:embed="rId1"/>
          <a:stretch>
            <a:fillRect/>
          </a:stretch>
        </p:blipFill>
        <p:spPr>
          <a:xfrm>
            <a:off x="765807" y="1792224"/>
            <a:ext cx="6826003" cy="3931920"/>
          </a:xfrm>
          <a:prstGeom prst="rect">
            <a:avLst/>
          </a:prstGeom>
        </p:spPr>
      </p:pic>
      <p:sp>
        <p:nvSpPr>
          <p:cNvPr id="22" name="Shape 19"/>
          <p:cNvSpPr/>
          <p:nvPr/>
        </p:nvSpPr>
        <p:spPr>
          <a:xfrm>
            <a:off x="7973568" y="1810512"/>
            <a:ext cx="3657600" cy="3895344"/>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66544"/>
            <a:ext cx="320040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UV 를 쓰나</a:t>
            </a:r>
            <a:endParaRPr lang="en-US" sz="1600" dirty="0"/>
          </a:p>
        </p:txBody>
      </p:sp>
      <p:sp>
        <p:nvSpPr>
          <p:cNvPr id="24" name="Text 21"/>
          <p:cNvSpPr txBox="1"/>
          <p:nvPr/>
        </p:nvSpPr>
        <p:spPr>
          <a:xfrm>
            <a:off x="8229600" y="2487168"/>
            <a:ext cx="3200400" cy="91440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현대 레이다는 대부분 위상배열이다.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수백~수천 개 소자에 위상차를 줘서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빔 방향을 전자적으로 바꾼다.</a:t>
            </a:r>
            <a:endParaRPr lang="en-US" sz="1250" dirty="0"/>
          </a:p>
        </p:txBody>
      </p:sp>
      <p:sp>
        <p:nvSpPr>
          <p:cNvPr id="25" name="Shape 22"/>
          <p:cNvSpPr/>
          <p:nvPr/>
        </p:nvSpPr>
        <p:spPr>
          <a:xfrm>
            <a:off x="8229600" y="3749040"/>
            <a:ext cx="3200400" cy="64008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749040"/>
            <a:ext cx="3200400" cy="640080"/>
          </a:xfrm>
          <a:prstGeom prst="rect">
            <a:avLst/>
          </a:prstGeom>
          <a:noFill/>
          <a:ln/>
        </p:spPr>
        <p:txBody>
          <a:bodyPr wrap="square" lIns="0" tIns="0" rIns="0" bIns="0" rtlCol="0" anchor="ctr"/>
          <a:lstStyle/>
          <a:p>
            <a:pPr algn="ctr" indent="0" marL="0">
              <a:buNone/>
            </a:pPr>
            <a:r>
              <a:rPr lang="en-US" sz="12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626864"/>
            <a:ext cx="3200400" cy="73152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소자 번호에 u, v 를 곱하기만 하면 된다.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각도(Az, El)로는 이렇게 단순해지지 않는다.</a:t>
            </a:r>
            <a:endParaRPr lang="en-US" sz="1200" dirty="0"/>
          </a:p>
        </p:txBody>
      </p:sp>
      <p:sp>
        <p:nvSpPr>
          <p:cNvPr id="28" name="Text 25"/>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빔 굵기가 조향각과 무관하게 일정하고, 격자로브 위치도 u₀ ± λ/d 로 단순하게 나옵니다.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동체(Body)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배에 실린 모든 장비의 공통 기준 — 안테나·INS·무장이 여기로 모입니다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1970214" y="1755648"/>
            <a:ext cx="8257669" cy="3529584"/>
          </a:xfrm>
          <a:prstGeom prst="rect">
            <a:avLst/>
          </a:prstGeom>
        </p:spPr>
      </p:pic>
      <p:sp>
        <p:nvSpPr>
          <p:cNvPr id="22" name="Shape 19"/>
          <p:cNvSpPr/>
          <p:nvPr/>
        </p:nvSpPr>
        <p:spPr>
          <a:xfrm>
            <a:off x="566928"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원점</a:t>
            </a:r>
            <a:endParaRPr lang="en-US" sz="1200" dirty="0"/>
          </a:p>
        </p:txBody>
      </p:sp>
      <p:sp>
        <p:nvSpPr>
          <p:cNvPr id="24" name="Text 21"/>
          <p:cNvSpPr txBox="1"/>
          <p:nvPr/>
        </p:nvSpPr>
        <p:spPr>
          <a:xfrm>
            <a:off x="749808"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배의 무게중심</a:t>
            </a:r>
            <a:endParaRPr lang="en-US" sz="1150" dirty="0"/>
          </a:p>
        </p:txBody>
      </p:sp>
      <p:sp>
        <p:nvSpPr>
          <p:cNvPr id="25" name="Shape 22"/>
          <p:cNvSpPr/>
          <p:nvPr/>
        </p:nvSpPr>
        <p:spPr>
          <a:xfrm>
            <a:off x="3364992"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축</a:t>
            </a:r>
            <a:endParaRPr lang="en-US" sz="1200" dirty="0"/>
          </a:p>
        </p:txBody>
      </p:sp>
      <p:sp>
        <p:nvSpPr>
          <p:cNvPr id="27" name="Text 24"/>
          <p:cNvSpPr txBox="1"/>
          <p:nvPr/>
        </p:nvSpPr>
        <p:spPr>
          <a:xfrm>
            <a:off x="3547872"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x 선수(앞) · y 우현(오른쪽) · z 아래  →  FRD</a:t>
            </a:r>
            <a:endParaRPr lang="en-US" sz="1150" dirty="0"/>
          </a:p>
        </p:txBody>
      </p:sp>
      <p:sp>
        <p:nvSpPr>
          <p:cNvPr id="28" name="Shape 25"/>
          <p:cNvSpPr/>
          <p:nvPr/>
        </p:nvSpPr>
        <p:spPr>
          <a:xfrm>
            <a:off x="6163056"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자세각</a:t>
            </a:r>
            <a:endParaRPr lang="en-US" sz="1200" dirty="0"/>
          </a:p>
        </p:txBody>
      </p:sp>
      <p:sp>
        <p:nvSpPr>
          <p:cNvPr id="30" name="Text 27"/>
          <p:cNvSpPr txBox="1"/>
          <p:nvPr/>
        </p:nvSpPr>
        <p:spPr>
          <a:xfrm>
            <a:off x="6345936"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좌우 기울기 · pitch 앞뒤 기울기 · yaw 선수 방위</a:t>
            </a:r>
            <a:endParaRPr lang="en-US" sz="1150" dirty="0"/>
          </a:p>
        </p:txBody>
      </p:sp>
      <p:sp>
        <p:nvSpPr>
          <p:cNvPr id="31" name="Shape 28"/>
          <p:cNvSpPr/>
          <p:nvPr/>
        </p:nvSpPr>
        <p:spPr>
          <a:xfrm>
            <a:off x="8961120"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합치는 순서</a:t>
            </a:r>
            <a:endParaRPr lang="en-US" sz="1200" dirty="0"/>
          </a:p>
        </p:txBody>
      </p:sp>
      <p:sp>
        <p:nvSpPr>
          <p:cNvPr id="33" name="Text 30"/>
          <p:cNvSpPr txBox="1"/>
          <p:nvPr/>
        </p:nvSpPr>
        <p:spPr>
          <a:xfrm>
            <a:off x="9144000"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3-2-1 (yaw → pitch → roll)</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①  INS 는 무엇을 재는가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관성항법장치 — 회전과 이동에 필요한 값을 공급합니다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자이로  × 3</a:t>
            </a:r>
            <a:endParaRPr lang="en-US" sz="1700" dirty="0"/>
          </a:p>
        </p:txBody>
      </p:sp>
      <p:sp>
        <p:nvSpPr>
          <p:cNvPr id="23" name="Text 21"/>
          <p:cNvSpPr txBox="1"/>
          <p:nvPr/>
        </p:nvSpPr>
        <p:spPr>
          <a:xfrm>
            <a:off x="84124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각속도 — 초당 몇 도씩 돌고 있는가</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시간에 대해 적분하면  자세 (roll·pitch·yaw)</a:t>
            </a:r>
            <a:endParaRPr lang="en-US" sz="1350" dirty="0"/>
          </a:p>
        </p:txBody>
      </p:sp>
      <p:sp>
        <p:nvSpPr>
          <p:cNvPr id="24" name="Shape 22"/>
          <p:cNvSpPr/>
          <p:nvPr/>
        </p:nvSpPr>
        <p:spPr>
          <a:xfrm>
            <a:off x="614476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가속도계  × 3</a:t>
            </a:r>
            <a:endParaRPr lang="en-US" sz="1700" dirty="0"/>
          </a:p>
        </p:txBody>
      </p:sp>
      <p:sp>
        <p:nvSpPr>
          <p:cNvPr id="26" name="Text 24"/>
          <p:cNvSpPr txBox="1"/>
          <p:nvPr/>
        </p:nvSpPr>
        <p:spPr>
          <a:xfrm>
            <a:off x="641908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비력 — 중력을 뺀 나머지 가속도</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두 번 적분하면  속도와 위치</a:t>
            </a:r>
            <a:endParaRPr lang="en-US" sz="1350" dirty="0"/>
          </a:p>
        </p:txBody>
      </p:sp>
      <p:sp>
        <p:nvSpPr>
          <p:cNvPr id="27" name="Shape 25"/>
          <p:cNvSpPr/>
          <p:nvPr/>
        </p:nvSpPr>
        <p:spPr>
          <a:xfrm>
            <a:off x="566928" y="3401568"/>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9584"/>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핵심 :  INS 는 바깥 세상을 전혀 보지 않는다</a:t>
            </a:r>
            <a:endParaRPr lang="en-US" sz="1900" dirty="0"/>
          </a:p>
        </p:txBody>
      </p:sp>
      <p:sp>
        <p:nvSpPr>
          <p:cNvPr id="29" name="Text 27"/>
          <p:cNvSpPr txBox="1"/>
          <p:nvPr/>
        </p:nvSpPr>
        <p:spPr>
          <a:xfrm>
            <a:off x="566928" y="3913632"/>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90288"/>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장점</a:t>
            </a:r>
            <a:endParaRPr lang="en-US" sz="1500" dirty="0"/>
          </a:p>
        </p:txBody>
      </p:sp>
      <p:sp>
        <p:nvSpPr>
          <p:cNvPr id="31" name="Text 29"/>
          <p:cNvSpPr txBox="1"/>
          <p:nvPr/>
        </p:nvSpPr>
        <p:spPr>
          <a:xfrm>
            <a:off x="84124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갱신 속도가 매우 빠르다 (보통 100 Hz 이상)</a:t>
            </a:r>
            <a:endParaRPr lang="en-US" sz="1300" dirty="0"/>
          </a:p>
        </p:txBody>
      </p:sp>
      <p:sp>
        <p:nvSpPr>
          <p:cNvPr id="32" name="Text 30"/>
          <p:cNvSpPr txBox="1"/>
          <p:nvPr/>
        </p:nvSpPr>
        <p:spPr>
          <a:xfrm>
            <a:off x="6419088" y="4590288"/>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단점</a:t>
            </a:r>
            <a:endParaRPr lang="en-US" sz="1500" dirty="0"/>
          </a:p>
        </p:txBody>
      </p:sp>
      <p:sp>
        <p:nvSpPr>
          <p:cNvPr id="33" name="Text 31"/>
          <p:cNvSpPr txBox="1"/>
          <p:nvPr/>
        </p:nvSpPr>
        <p:spPr>
          <a:xfrm>
            <a:off x="641908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그래서 GPS 같은 외부 기준과 결합해 잡아준다</a:t>
            </a:r>
            <a:endParaRPr lang="en-US" sz="1300" dirty="0"/>
          </a:p>
        </p:txBody>
      </p:sp>
      <p:sp>
        <p:nvSpPr>
          <p:cNvPr id="34" name="Text 32"/>
          <p:cNvSpPr txBox="1"/>
          <p:nvPr/>
        </p:nvSpPr>
        <p:spPr>
          <a:xfrm>
            <a:off x="566928" y="5943600"/>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출항 전 초기 정렬 — 중력으로 수평을 잡고(leveling), 지구 자전을 감지해 북쪽을 찾는다(gyrocompassing)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②  스트랩다운과 짐벌형</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"플랫폼 좌표계"라는 말의 의미가 여기서 갈립니다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28800"/>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91456"/>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짐벌형 (gimbaled)</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스트랩다운 (strapdown)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구조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짐벌 위에 얹혀 있고 모터가 늘 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동체에 직접 고정, 배와 함께 기운다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기계가 물리적으로 한다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계산이 한다 (DCM / 쿼터니언)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"플랫폼 좌표계"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실제로 존재하는 물리적 프레임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소프트웨어 안의 상태값일 뿐</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특징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정밀하지만 크고 무겁고 비싸다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현대 함정 INS 는 사실상 전부 이쪽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③  이번 설계에서는</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하나가 복잡한 이야기를 통째로 없애줍니다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1463040" y="1792224"/>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792224"/>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"INS 는 플랫폼 무게중심과 축이 일치한 상태로 설치되어 있음"</a:t>
            </a:r>
            <a:endParaRPr lang="en-US" sz="1900" dirty="0"/>
          </a:p>
        </p:txBody>
      </p:sp>
      <p:sp>
        <p:nvSpPr>
          <p:cNvPr id="23" name="Text 21"/>
          <p:cNvSpPr txBox="1"/>
          <p:nvPr/>
        </p:nvSpPr>
        <p:spPr>
          <a:xfrm>
            <a:off x="566928" y="2798064"/>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163824"/>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163824"/>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169664"/>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36592"/>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INS 가 주는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어디에 쓰이는가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roll, pitch, yaw</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3단계 회전행렬  C_ned←body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위도, 경도, 고도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4단계 로컬→ECEF 회전과 평행이동</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표적 추적 필터 · 도플러 보정 — 이 발표 범위 밖</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NED / ENU  국지수평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배가 아무리 흔들려도 북쪽은 계속 북쪽입니다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10512"/>
            <a:ext cx="6353675" cy="2651760"/>
          </a:xfrm>
          <a:prstGeom prst="rect">
            <a:avLst/>
          </a:prstGeom>
        </p:spPr>
      </p:pic>
      <p:sp>
        <p:nvSpPr>
          <p:cNvPr id="22" name="Shape 19"/>
          <p:cNvSpPr/>
          <p:nvPr/>
        </p:nvSpPr>
        <p:spPr>
          <a:xfrm>
            <a:off x="7882128" y="1847088"/>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29968"/>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이 좌표계의 존재 이유</a:t>
            </a:r>
            <a:endParaRPr lang="en-US" sz="1500" dirty="0"/>
          </a:p>
        </p:txBody>
      </p:sp>
      <p:sp>
        <p:nvSpPr>
          <p:cNvPr id="24" name="Text 21"/>
          <p:cNvSpPr txBox="1"/>
          <p:nvPr/>
        </p:nvSpPr>
        <p:spPr>
          <a:xfrm>
            <a:off x="8138160" y="2432304"/>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배와 함께 이동하지만</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그래서 표적이 실제로 움직인 것과</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추적 필터를 여기서 돌리는 이유다.</a:t>
            </a:r>
            <a:endParaRPr lang="en-US" sz="1300" dirty="0"/>
          </a:p>
        </p:txBody>
      </p:sp>
      <p:sp>
        <p:nvSpPr>
          <p:cNvPr id="25" name="Shape 22"/>
          <p:cNvSpPr/>
          <p:nvPr/>
        </p:nvSpPr>
        <p:spPr>
          <a:xfrm>
            <a:off x="566928" y="4626864"/>
            <a:ext cx="5486400" cy="120700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54880"/>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"아래"는 지구 중심 방향이 아니다</a:t>
            </a:r>
            <a:endParaRPr lang="en-US" sz="1400" dirty="0"/>
          </a:p>
        </p:txBody>
      </p:sp>
      <p:sp>
        <p:nvSpPr>
          <p:cNvPr id="27" name="Text 24"/>
          <p:cNvSpPr txBox="1"/>
          <p:nvPr/>
        </p:nvSpPr>
        <p:spPr>
          <a:xfrm>
            <a:off x="78638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타원체 법선의 반대 방향이다. 두 방향의 차이는</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위도 45° 부근에서 최대 약 0.19° — 지표에서 21 km 에 해당</a:t>
            </a:r>
            <a:endParaRPr lang="en-US" sz="1200" dirty="0"/>
          </a:p>
        </p:txBody>
      </p:sp>
      <p:sp>
        <p:nvSpPr>
          <p:cNvPr id="28" name="Shape 25"/>
          <p:cNvSpPr/>
          <p:nvPr/>
        </p:nvSpPr>
        <p:spPr>
          <a:xfrm>
            <a:off x="6144768" y="4626864"/>
            <a:ext cx="5486400" cy="120700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754880"/>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Malgun Gothic" pitchFamily="34" charset="0"/>
                <a:ea typeface="Malgun Gothic" pitchFamily="34" charset="-122"/>
                <a:cs typeface="Malgun Gothic" pitchFamily="34" charset="-120"/>
              </a:rPr>
              <a:t>로컬 평면의 한계 — 지구는 둥글다</a:t>
            </a:r>
            <a:endParaRPr lang="en-US" sz="1400" dirty="0"/>
          </a:p>
        </p:txBody>
      </p:sp>
      <p:sp>
        <p:nvSpPr>
          <p:cNvPr id="30" name="Text 27"/>
          <p:cNvSpPr txBox="1"/>
          <p:nvPr/>
        </p:nvSpPr>
        <p:spPr>
          <a:xfrm>
            <a:off x="636422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5 km 2 m  ·  20 km 31 m  ·  50 km 196 m  ·  100 km 783 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ECEF / ECI  지구 중심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원점은 같고, 축이 도느냐 마느냐만 다릅니다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516373" y="1737360"/>
            <a:ext cx="7165351" cy="3218688"/>
          </a:xfrm>
          <a:prstGeom prst="rect">
            <a:avLst/>
          </a:prstGeom>
        </p:spPr>
      </p:pic>
      <p:sp>
        <p:nvSpPr>
          <p:cNvPr id="22" name="Shape 19"/>
          <p:cNvSpPr/>
          <p:nvPr/>
        </p:nvSpPr>
        <p:spPr>
          <a:xfrm>
            <a:off x="566928" y="5047488"/>
            <a:ext cx="5486400" cy="1335024"/>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157216"/>
            <a:ext cx="502920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ECEF 는 왜 필요한가</a:t>
            </a:r>
            <a:endParaRPr lang="en-US" sz="1500" dirty="0"/>
          </a:p>
        </p:txBody>
      </p:sp>
      <p:sp>
        <p:nvSpPr>
          <p:cNvPr id="24" name="Text 21"/>
          <p:cNvSpPr txBox="1"/>
          <p:nvPr/>
        </p:nvSpPr>
        <p:spPr>
          <a:xfrm>
            <a:off x="82296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좌표계에서 위경도로 곧장 갈 수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원점(배 위치)이 지구 어디인지는</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지구 기준 좌표로만 표현되기 때문이다.  →  다리 역할</a:t>
            </a:r>
            <a:endParaRPr lang="en-US" sz="1250" dirty="0"/>
          </a:p>
        </p:txBody>
      </p:sp>
      <p:sp>
        <p:nvSpPr>
          <p:cNvPr id="25" name="Shape 22"/>
          <p:cNvSpPr/>
          <p:nvPr/>
        </p:nvSpPr>
        <p:spPr>
          <a:xfrm>
            <a:off x="6144768" y="5047488"/>
            <a:ext cx="5486400" cy="1335024"/>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157216"/>
            <a:ext cx="502920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ECI 는 이번 설계에 필요 없다</a:t>
            </a:r>
            <a:endParaRPr lang="en-US" sz="1500" dirty="0"/>
          </a:p>
        </p:txBody>
      </p:sp>
      <p:sp>
        <p:nvSpPr>
          <p:cNvPr id="27" name="Text 24"/>
          <p:cNvSpPr txBox="1"/>
          <p:nvPr/>
        </p:nvSpPr>
        <p:spPr>
          <a:xfrm>
            <a:off x="640080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뉴턴 법칙은 회전하지 않는 좌표계에서만 그대로 성립.</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그래서 중력만 받고 날아가는 물체(위성·탄도탄)는 ECI 에서 계산.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항공기·수상함 표적은 ECEF/NED 로 충분하다.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LLA  측지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우리가 아는 그 지도 좌표 — 다만 지구는 구가 아닙니다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630706" y="1755648"/>
            <a:ext cx="7096204" cy="3675888"/>
          </a:xfrm>
          <a:prstGeom prst="rect">
            <a:avLst/>
          </a:prstGeom>
        </p:spPr>
      </p:pic>
      <p:sp>
        <p:nvSpPr>
          <p:cNvPr id="22" name="Shape 19"/>
          <p:cNvSpPr/>
          <p:nvPr/>
        </p:nvSpPr>
        <p:spPr>
          <a:xfrm>
            <a:off x="7973568" y="1792224"/>
            <a:ext cx="3657600" cy="3657600"/>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29968"/>
            <a:ext cx="32004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WGS-84 타원체</a:t>
            </a:r>
            <a:endParaRPr lang="en-US" sz="1500" dirty="0"/>
          </a:p>
        </p:txBody>
      </p:sp>
      <p:sp>
        <p:nvSpPr>
          <p:cNvPr id="24" name="Text 21"/>
          <p:cNvSpPr txBox="1"/>
          <p:nvPr/>
        </p:nvSpPr>
        <p:spPr>
          <a:xfrm>
            <a:off x="8229600" y="2432304"/>
            <a:ext cx="3200400" cy="82296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a  (장반경)  6 378 137.0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b  (단반경)  6 356 752.3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74720"/>
            <a:ext cx="32004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적도 반지름과 극 반지름의 차이가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약 21 km. 지구 크기에 비하면 0.3 %</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정도지만, 구로 계산하면 위치 오차가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수십 km 까지 벌어진다.</a:t>
            </a:r>
            <a:endParaRPr lang="en-US" sz="1250" dirty="0"/>
          </a:p>
        </p:txBody>
      </p:sp>
      <p:sp>
        <p:nvSpPr>
          <p:cNvPr id="26" name="Text 23"/>
          <p:cNvSpPr txBox="1"/>
          <p:nvPr/>
        </p:nvSpPr>
        <p:spPr>
          <a:xfrm>
            <a:off x="8229600" y="4773168"/>
            <a:ext cx="3200400" cy="329184"/>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GPS 와 해도가 쓰는 것도 이것</a:t>
            </a:r>
            <a:endParaRPr lang="en-US" sz="1200" dirty="0"/>
          </a:p>
        </p:txBody>
      </p:sp>
      <p:sp>
        <p:nvSpPr>
          <p:cNvPr id="27" name="Shape 24"/>
          <p:cNvSpPr/>
          <p:nvPr/>
        </p:nvSpPr>
        <p:spPr>
          <a:xfrm>
            <a:off x="566928" y="5541264"/>
            <a:ext cx="11064240" cy="859536"/>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632704"/>
            <a:ext cx="11064240" cy="347472"/>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고도의 함정 :  LLA 의 고도는 타원체고 (HAE) — 해도·고도계의 "해발" 과 다릅니다</a:t>
            </a:r>
            <a:endParaRPr lang="en-US" sz="1500" dirty="0"/>
          </a:p>
        </p:txBody>
      </p:sp>
      <p:sp>
        <p:nvSpPr>
          <p:cNvPr id="29" name="Text 26"/>
          <p:cNvSpPr txBox="1"/>
          <p:nvPr/>
        </p:nvSpPr>
        <p:spPr>
          <a:xfrm>
            <a:off x="566928" y="5998464"/>
            <a:ext cx="11064240" cy="347472"/>
          </a:xfrm>
          <a:prstGeom prst="rect">
            <a:avLst/>
          </a:prstGeom>
          <a:noFill/>
          <a:ln/>
        </p:spPr>
        <p:txBody>
          <a:bodyPr wrap="square" lIns="0" tIns="0" rIns="0" bIns="0" rtlCol="0" anchor="ctr"/>
          <a:lstStyle/>
          <a:p>
            <a:pPr algn="ctr" indent="0" marL="0">
              <a:buNone/>
            </a:pPr>
            <a:r>
              <a:rPr lang="en-US" sz="1250" dirty="0">
                <a:solidFill>
                  <a:srgbClr val="1A2233"/>
                </a:solidFill>
                <a:latin typeface="Malgun Gothic" pitchFamily="34" charset="0"/>
                <a:ea typeface="Malgun Gothic" pitchFamily="34" charset="-122"/>
                <a:cs typeface="Malgun Gothic" pitchFamily="34" charset="-120"/>
              </a:rPr>
              <a:t>해발고도 = 타원체고 − 지오이드고.   한국 근해 지오이드고는 약 +20 ~ +25 m.   시스템 내부는 하나로 통일할 것.</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여섯 좌표계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좌표계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원점</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붙은 곳</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주 용도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안테나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안테나 면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보어사이트 · y 오른쪽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표적 측정 (R, Az, El) / 빔 조향 (u, v)</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동체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 무게중심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선수 · y 우현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탑재 장비의 공통 기준</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INS</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INS 설치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자이로·가속도계 3축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위치 · 자세 · 속도 공급</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배의 현재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바다 위 지점</a:t>
                      </a:r>
                      <a:endParaRPr lang="en-US" sz="1150" dirty="0">
                        <a:latin typeface="Malgun Gothic" charset="0"/>
                        <a:ea typeface="Malgun Gothic" charset="0"/>
                        <a:cs typeface="Malgun Gothic" charset="0"/>
                      </a:endParaRPr>
                    </a:p>
                    <a:p>
                      <a:pPr indent="0" marL="0">
                        <a:buNone/>
                      </a:pPr>
                      <a:r>
                        <a:rPr lang="en-US" sz="1150" dirty="0">
                          <a:solidFill>
                            <a:srgbClr val="1A2233"/>
                          </a:solidFill>
                          <a:latin typeface="Malgun Gothic" pitchFamily="34" charset="0"/>
                          <a:ea typeface="Malgun Gothic" pitchFamily="34" charset="-122"/>
                          <a:cs typeface="Malgun Gothic" pitchFamily="34" charset="-120"/>
                        </a:rPr>
                        <a:t>(회전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데이터 처리 (추적 · 필터링)</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ECEF</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Z 북극 · X 적도∩그리니치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(자전함)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기준 공통 좌표, 위경도로 가는 다리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ECI</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별자리에 고정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없음 (회전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위성 · 탄도 표적의 운동 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LLA</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(적도면 / 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위도 · 경도 · 고도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지도 표시, 외부 전달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50468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50468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 체인 — 무엇이 회전과 이동을 공급하는가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회전은 설치 도면과 INS 자세가, 이동은 레버암과 INS 위치가 공급합니다. 이 구분이 그대로 오차 예산의 항목이 됩니다.</a:t>
            </a:r>
            <a:endParaRPr lang="en-US" sz="1400" dirty="0"/>
          </a:p>
        </p:txBody>
      </p:sp>
      <p:sp>
        <p:nvSpPr>
          <p:cNvPr id="4" name="Shape 2"/>
          <p:cNvSpPr/>
          <p:nvPr/>
        </p:nvSpPr>
        <p:spPr>
          <a:xfrm>
            <a:off x="566928" y="1371600"/>
            <a:ext cx="4315968" cy="521208"/>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90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신호처리 출력</a:t>
            </a:r>
            <a:endParaRPr lang="en-US" sz="1300" dirty="0"/>
          </a:p>
        </p:txBody>
      </p:sp>
      <p:sp>
        <p:nvSpPr>
          <p:cNvPr id="6" name="Text 4"/>
          <p:cNvSpPr txBox="1"/>
          <p:nvPr/>
        </p:nvSpPr>
        <p:spPr>
          <a:xfrm>
            <a:off x="768096" y="16459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R, Az, El  (안테나 극좌표)</a:t>
            </a:r>
            <a:endParaRPr lang="en-US" sz="1050" dirty="0"/>
          </a:p>
        </p:txBody>
      </p:sp>
      <p:sp>
        <p:nvSpPr>
          <p:cNvPr id="7" name="Text 5"/>
          <p:cNvSpPr txBox="1"/>
          <p:nvPr/>
        </p:nvSpPr>
        <p:spPr>
          <a:xfrm>
            <a:off x="2496312" y="189280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8" name="Shape 6"/>
          <p:cNvSpPr/>
          <p:nvPr/>
        </p:nvSpPr>
        <p:spPr>
          <a:xfrm>
            <a:off x="566928" y="224028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26771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안테나 좌표계</a:t>
            </a:r>
            <a:endParaRPr lang="en-US" sz="1300" dirty="0"/>
          </a:p>
        </p:txBody>
      </p:sp>
      <p:sp>
        <p:nvSpPr>
          <p:cNvPr id="10" name="Text 8"/>
          <p:cNvSpPr txBox="1"/>
          <p:nvPr/>
        </p:nvSpPr>
        <p:spPr>
          <a:xfrm>
            <a:off x="768096" y="251460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Polar → Cartesian → (UV)</a:t>
            </a:r>
            <a:endParaRPr lang="en-US" sz="1050" dirty="0"/>
          </a:p>
        </p:txBody>
      </p:sp>
      <p:sp>
        <p:nvSpPr>
          <p:cNvPr id="11" name="Text 9"/>
          <p:cNvSpPr txBox="1"/>
          <p:nvPr/>
        </p:nvSpPr>
        <p:spPr>
          <a:xfrm>
            <a:off x="2496312" y="276148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2" name="Shape 10"/>
          <p:cNvSpPr/>
          <p:nvPr/>
        </p:nvSpPr>
        <p:spPr>
          <a:xfrm>
            <a:off x="566928" y="310896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313639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동체(Body) 좌표계</a:t>
            </a:r>
            <a:endParaRPr lang="en-US" sz="1300" dirty="0"/>
          </a:p>
        </p:txBody>
      </p:sp>
      <p:sp>
        <p:nvSpPr>
          <p:cNvPr id="14" name="Text 12"/>
          <p:cNvSpPr txBox="1"/>
          <p:nvPr/>
        </p:nvSpPr>
        <p:spPr>
          <a:xfrm>
            <a:off x="768096" y="338328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x=선수  y=우현  z=아래  (FRD)</a:t>
            </a:r>
            <a:endParaRPr lang="en-US" sz="1050" dirty="0"/>
          </a:p>
        </p:txBody>
      </p:sp>
      <p:sp>
        <p:nvSpPr>
          <p:cNvPr id="15" name="Text 13"/>
          <p:cNvSpPr txBox="1"/>
          <p:nvPr/>
        </p:nvSpPr>
        <p:spPr>
          <a:xfrm>
            <a:off x="2496312" y="363016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6" name="Shape 14"/>
          <p:cNvSpPr/>
          <p:nvPr/>
        </p:nvSpPr>
        <p:spPr>
          <a:xfrm>
            <a:off x="566928" y="3977640"/>
            <a:ext cx="4315968" cy="521208"/>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400507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로컬(NED) 좌표계</a:t>
            </a:r>
            <a:endParaRPr lang="en-US" sz="1300" dirty="0"/>
          </a:p>
        </p:txBody>
      </p:sp>
      <p:sp>
        <p:nvSpPr>
          <p:cNvPr id="18" name="Text 16"/>
          <p:cNvSpPr txBox="1"/>
          <p:nvPr/>
        </p:nvSpPr>
        <p:spPr>
          <a:xfrm>
            <a:off x="768096" y="425196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x=북  y=동  z=아래   ★ 데이터 처리</a:t>
            </a:r>
            <a:endParaRPr lang="en-US" sz="1050" dirty="0"/>
          </a:p>
        </p:txBody>
      </p:sp>
      <p:sp>
        <p:nvSpPr>
          <p:cNvPr id="19" name="Text 17"/>
          <p:cNvSpPr txBox="1"/>
          <p:nvPr/>
        </p:nvSpPr>
        <p:spPr>
          <a:xfrm>
            <a:off x="2496312" y="449884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0" name="Shape 18"/>
          <p:cNvSpPr/>
          <p:nvPr/>
        </p:nvSpPr>
        <p:spPr>
          <a:xfrm>
            <a:off x="566928" y="484632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87375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ECEF 좌표계</a:t>
            </a:r>
            <a:endParaRPr lang="en-US" sz="1300" dirty="0"/>
          </a:p>
        </p:txBody>
      </p:sp>
      <p:sp>
        <p:nvSpPr>
          <p:cNvPr id="22" name="Text 20"/>
          <p:cNvSpPr txBox="1"/>
          <p:nvPr/>
        </p:nvSpPr>
        <p:spPr>
          <a:xfrm>
            <a:off x="768096" y="512064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지구중심 지구고정 직교좌표</a:t>
            </a:r>
            <a:endParaRPr lang="en-US" sz="1050" dirty="0"/>
          </a:p>
        </p:txBody>
      </p:sp>
      <p:sp>
        <p:nvSpPr>
          <p:cNvPr id="23" name="Text 21"/>
          <p:cNvSpPr txBox="1"/>
          <p:nvPr/>
        </p:nvSpPr>
        <p:spPr>
          <a:xfrm>
            <a:off x="2496312" y="536752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4" name="Shape 22"/>
          <p:cNvSpPr/>
          <p:nvPr/>
        </p:nvSpPr>
        <p:spPr>
          <a:xfrm>
            <a:off x="566928" y="5715000"/>
            <a:ext cx="4315968" cy="521208"/>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7424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LLA 좌표계</a:t>
            </a:r>
            <a:endParaRPr lang="en-US" sz="1300" dirty="0"/>
          </a:p>
        </p:txBody>
      </p:sp>
      <p:sp>
        <p:nvSpPr>
          <p:cNvPr id="26" name="Text 24"/>
          <p:cNvSpPr txBox="1"/>
          <p:nvPr/>
        </p:nvSpPr>
        <p:spPr>
          <a:xfrm>
            <a:off x="768096" y="59893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위도 · 경도 · 고도  → 전시기</a:t>
            </a:r>
            <a:endParaRPr lang="en-US" sz="1050" dirty="0"/>
          </a:p>
        </p:txBody>
      </p:sp>
      <p:sp>
        <p:nvSpPr>
          <p:cNvPr id="27" name="Text 25"/>
          <p:cNvSpPr txBox="1"/>
          <p:nvPr/>
        </p:nvSpPr>
        <p:spPr>
          <a:xfrm>
            <a:off x="5230368" y="176479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5740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표현만 바꿀 뿐 · 회전도 이동도 없음</a:t>
            </a:r>
            <a:endParaRPr lang="en-US" sz="1150" dirty="0"/>
          </a:p>
        </p:txBody>
      </p:sp>
      <p:sp>
        <p:nvSpPr>
          <p:cNvPr id="29" name="Text 27"/>
          <p:cNvSpPr txBox="1"/>
          <p:nvPr/>
        </p:nvSpPr>
        <p:spPr>
          <a:xfrm>
            <a:off x="5230368" y="263347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92608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설치 도면이 공급 · 고정형이라 상수</a:t>
            </a:r>
            <a:endParaRPr lang="en-US" sz="1150" dirty="0"/>
          </a:p>
        </p:txBody>
      </p:sp>
      <p:sp>
        <p:nvSpPr>
          <p:cNvPr id="31" name="Text 29"/>
          <p:cNvSpPr txBox="1"/>
          <p:nvPr/>
        </p:nvSpPr>
        <p:spPr>
          <a:xfrm>
            <a:off x="5230368" y="350215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794760"/>
            <a:ext cx="6400800" cy="256032"/>
          </a:xfrm>
          <a:prstGeom prst="rect">
            <a:avLst/>
          </a:prstGeom>
          <a:noFill/>
          <a:ln/>
        </p:spPr>
        <p:txBody>
          <a:bodyPr wrap="square" lIns="0" tIns="0" rIns="0" bIns="0" rtlCol="0" anchor="ctr"/>
          <a:lstStyle/>
          <a:p>
            <a:pPr indent="0" marL="0">
              <a:buNone/>
            </a:pPr>
            <a:r>
              <a:rPr lang="en-US" sz="1150" b="1" dirty="0">
                <a:solidFill>
                  <a:srgbClr val="2B57A6"/>
                </a:solidFill>
                <a:latin typeface="Malgun Gothic" pitchFamily="34" charset="0"/>
                <a:ea typeface="Malgun Gothic" pitchFamily="34" charset="-122"/>
                <a:cs typeface="Malgun Gothic" pitchFamily="34" charset="-120"/>
              </a:rPr>
              <a:t>회전  </a:t>
            </a:r>
            <a:pPr indent="0" marL="0">
              <a:buNone/>
            </a:pPr>
            <a:r>
              <a:rPr lang="en-US" sz="1150" dirty="0">
                <a:solidFill>
                  <a:srgbClr val="5A6478"/>
                </a:solidFill>
                <a:latin typeface="Malgun Gothic" pitchFamily="34" charset="0"/>
                <a:ea typeface="Malgun Gothic" pitchFamily="34" charset="-122"/>
                <a:cs typeface="Malgun Gothic" pitchFamily="34" charset="-120"/>
              </a:rPr>
              <a:t>INS 자세가 공급 · 매 순간 변함</a:t>
            </a:r>
            <a:endParaRPr lang="en-US" sz="1150" dirty="0"/>
          </a:p>
        </p:txBody>
      </p:sp>
      <p:sp>
        <p:nvSpPr>
          <p:cNvPr id="33" name="Text 31"/>
          <p:cNvSpPr txBox="1"/>
          <p:nvPr/>
        </p:nvSpPr>
        <p:spPr>
          <a:xfrm>
            <a:off x="5230368" y="437083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66344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INS 위치가 공급</a:t>
            </a:r>
            <a:endParaRPr lang="en-US" sz="1150" dirty="0"/>
          </a:p>
        </p:txBody>
      </p:sp>
      <p:sp>
        <p:nvSpPr>
          <p:cNvPr id="35" name="Text 33"/>
          <p:cNvSpPr txBox="1"/>
          <p:nvPr/>
        </p:nvSpPr>
        <p:spPr>
          <a:xfrm>
            <a:off x="5230368" y="523951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53212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WGS-84 타원체 · 직교좌표 → 위경도</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2</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실전 설계</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함선 고정형 안테나를 놓고 변환 경로를 설계합니다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신호처리  →  데이터 처리 (좌표변환 + 추적)  →  통제제어 전시기</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상황</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주어진 조건 여섯 가지와, 그것이 설계를 어떻게 묶는가</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조건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설계에 미치는 영향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① 플랫폼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해상 함선, 고정형 안테나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안테나가 돌지 않는다 → 회전행렬이 상수.</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대신 배의 흔들림을 전부 계산으로 보상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② 안테나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선수 기준 시계방향 90°,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무게중심에서 30 m 뒤 / 10 m 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설치 방위 90°, 백틸트 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레버암 (−30, 0, −10) 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③ INS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무게중심과 축 일치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INS 좌표계 = 동체 좌표계</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 변환 단계 하나가 통째로 생략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④ 입력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안테나 기준 거리·방위각·고각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출발점이 안테나 극좌표로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⑤ 처리</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로컬 좌표계에서 수행</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중간 목적지가 NED 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⑥ 출력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위/경/고도 + 안테나 극좌표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정변환뿐 아니라 역변환도 필요</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614416"/>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614416"/>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Malgun Gothic" pitchFamily="34" charset="0"/>
                <a:ea typeface="Malgun Gothic" pitchFamily="34" charset="-122"/>
                <a:cs typeface="Malgun Gothic" pitchFamily="34" charset="-120"/>
              </a:rPr>
              <a:t>④·⑤·⑥ 이 체인의 출발점·중간점·도착점을 이미 지정합니다.  설계자가 정할 것은 그 사이를 어떻게 이을 것인가입니다.</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좌표계 선정과 그 이유</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단계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좌표계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왜 이것인가</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0</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극좌표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레이다가 물리적으로 잴 수 있는 것이 거리와 두 각도뿐</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1</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직교좌표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회전행렬은 벡터에만 곱할 수 있다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2</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동체 (Body)</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안테나·INS·무장이 만나는 유일한 공통 기준.</a:t>
                      </a:r>
                      <a:endParaRPr lang="en-US" sz="1250" dirty="0">
                        <a:latin typeface="Malgun Gothic" charset="0"/>
                        <a:ea typeface="Malgun Gothic" charset="0"/>
                        <a:cs typeface="Malgun Gothic" charset="0"/>
                      </a:endParaRPr>
                    </a:p>
                    <a:p>
                      <a:pPr indent="0" marL="0">
                        <a:buNone/>
                      </a:pPr>
                      <a:r>
                        <a:rPr lang="en-US" sz="1250" dirty="0">
                          <a:solidFill>
                            <a:srgbClr val="1A2233"/>
                          </a:solidFill>
                          <a:latin typeface="Malgun Gothic" pitchFamily="34" charset="0"/>
                          <a:ea typeface="Malgun Gothic" pitchFamily="34" charset="-122"/>
                          <a:cs typeface="Malgun Gothic" pitchFamily="34" charset="-120"/>
                        </a:rPr>
                        <a:t>배를 거치지 않고 바깥으로 나갈 방법이 없다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3</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로컬 (NED)</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Malgun Gothic" pitchFamily="34" charset="0"/>
                          <a:ea typeface="Malgun Gothic" pitchFamily="34" charset="-122"/>
                          <a:cs typeface="Malgun Gothic" pitchFamily="34" charset="-120"/>
                        </a:rPr>
                        <a:t>배가 흔들려도 이 좌표계는 흔들리지 않는다.</a:t>
                      </a:r>
                      <a:endParaRPr lang="en-US" sz="1250" dirty="0">
                        <a:latin typeface="Malgun Gothic" charset="0"/>
                        <a:ea typeface="Malgun Gothic" charset="0"/>
                        <a:cs typeface="Malgun Gothic" charset="0"/>
                      </a:endParaRPr>
                    </a:p>
                    <a:p>
                      <a:pPr indent="0" marL="0">
                        <a:buNone/>
                      </a:pPr>
                      <a:r>
                        <a:rPr lang="en-US" sz="1250" dirty="0">
                          <a:solidFill>
                            <a:srgbClr val="C2521C"/>
                          </a:solidFill>
                          <a:latin typeface="Malgun Gothic" pitchFamily="34" charset="0"/>
                          <a:ea typeface="Malgun Gothic" pitchFamily="34" charset="-122"/>
                          <a:cs typeface="Malgun Gothic" pitchFamily="34" charset="-120"/>
                        </a:rPr>
                        <a:t>ENU 가 아닌 NED 인 이유는 동체 FRD 와 축 의미가 맞아서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4</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ECEF</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로컬에서 위경도로 곧장 갈 수 없다 — 다리 역할</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5</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LLA</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전시기·통제제어가 지도 위에 표시하는 형식</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230368"/>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Malgun Gothic" pitchFamily="34" charset="0"/>
                <a:ea typeface="Malgun Gothic" pitchFamily="34" charset="-122"/>
                <a:cs typeface="Malgun Gothic" pitchFamily="34" charset="-120"/>
              </a:rPr>
              <a:t>쓰지 않은 좌표계</a:t>
            </a:r>
            <a:endParaRPr lang="en-US" sz="1400" dirty="0"/>
          </a:p>
        </p:txBody>
      </p:sp>
      <p:sp>
        <p:nvSpPr>
          <p:cNvPr id="5" name="Shape 2"/>
          <p:cNvSpPr/>
          <p:nvPr/>
        </p:nvSpPr>
        <p:spPr>
          <a:xfrm>
            <a:off x="566928"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INS</a:t>
            </a:r>
            <a:endParaRPr lang="en-US" sz="1200" dirty="0"/>
          </a:p>
        </p:txBody>
      </p:sp>
      <p:sp>
        <p:nvSpPr>
          <p:cNvPr id="7" name="Text 4"/>
          <p:cNvSpPr txBox="1"/>
          <p:nvPr/>
        </p:nvSpPr>
        <p:spPr>
          <a:xfrm>
            <a:off x="713232"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③ 에 의해 동체와 일치. 항등행렬을 곱하는 셈</a:t>
            </a:r>
            <a:endParaRPr lang="en-US" sz="1050" dirty="0"/>
          </a:p>
        </p:txBody>
      </p:sp>
      <p:sp>
        <p:nvSpPr>
          <p:cNvPr id="8" name="Shape 5"/>
          <p:cNvSpPr/>
          <p:nvPr/>
        </p:nvSpPr>
        <p:spPr>
          <a:xfrm>
            <a:off x="3364992"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UV</a:t>
            </a:r>
            <a:endParaRPr lang="en-US" sz="1200" dirty="0"/>
          </a:p>
        </p:txBody>
      </p:sp>
      <p:sp>
        <p:nvSpPr>
          <p:cNvPr id="10" name="Text 7"/>
          <p:cNvSpPr txBox="1"/>
          <p:nvPr/>
        </p:nvSpPr>
        <p:spPr>
          <a:xfrm>
            <a:off x="3511296"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빔 조향은 안테나 내부의 일 — 데이터 처리 체인 밖</a:t>
            </a:r>
            <a:endParaRPr lang="en-US" sz="1050" dirty="0"/>
          </a:p>
        </p:txBody>
      </p:sp>
      <p:sp>
        <p:nvSpPr>
          <p:cNvPr id="11" name="Shape 8"/>
          <p:cNvSpPr/>
          <p:nvPr/>
        </p:nvSpPr>
        <p:spPr>
          <a:xfrm>
            <a:off x="6163056"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ECI</a:t>
            </a:r>
            <a:endParaRPr lang="en-US" sz="1200" dirty="0"/>
          </a:p>
        </p:txBody>
      </p:sp>
      <p:sp>
        <p:nvSpPr>
          <p:cNvPr id="13" name="Text 10"/>
          <p:cNvSpPr txBox="1"/>
          <p:nvPr/>
        </p:nvSpPr>
        <p:spPr>
          <a:xfrm>
            <a:off x="6309360"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관성 동역학 전파가 필요할 때만 (위성·탄도탄)</a:t>
            </a:r>
            <a:endParaRPr lang="en-US" sz="1050" dirty="0"/>
          </a:p>
        </p:txBody>
      </p:sp>
      <p:sp>
        <p:nvSpPr>
          <p:cNvPr id="14" name="Shape 11"/>
          <p:cNvSpPr/>
          <p:nvPr/>
        </p:nvSpPr>
        <p:spPr>
          <a:xfrm>
            <a:off x="8961120"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ENU</a:t>
            </a:r>
            <a:endParaRPr lang="en-US" sz="1200" dirty="0"/>
          </a:p>
        </p:txBody>
      </p:sp>
      <p:sp>
        <p:nvSpPr>
          <p:cNvPr id="16" name="Text 13"/>
          <p:cNvSpPr txBox="1"/>
          <p:nvPr/>
        </p:nvSpPr>
        <p:spPr>
          <a:xfrm>
            <a:off x="9107424"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NED 와 정보량이 같다 — 하나로 통일</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배가 기울지 않았다면 — 방위각은 그냥 더해진다</a:t>
            </a:r>
            <a:endParaRPr lang="en-US" sz="3000" dirty="0"/>
          </a:p>
        </p:txBody>
      </p:sp>
      <p:pic>
        <p:nvPicPr>
          <p:cNvPr id="3" name="Image 0" descr="/home/claude/deck/assets/fig10_deck.png">    </p:cNvPr>
          <p:cNvPicPr>
            <a:picLocks noChangeAspect="1"/>
          </p:cNvPicPr>
          <p:nvPr/>
        </p:nvPicPr>
        <p:blipFill>
          <a:blip r:embed="rId1"/>
          <a:stretch>
            <a:fillRect/>
          </a:stretch>
        </p:blipFill>
        <p:spPr>
          <a:xfrm>
            <a:off x="575089" y="1188720"/>
            <a:ext cx="4647118" cy="5120640"/>
          </a:xfrm>
          <a:prstGeom prst="rect">
            <a:avLst/>
          </a:prstGeom>
        </p:spPr>
      </p:pic>
      <p:sp>
        <p:nvSpPr>
          <p:cNvPr id="4" name="Shape 1"/>
          <p:cNvSpPr/>
          <p:nvPr/>
        </p:nvSpPr>
        <p:spPr>
          <a:xfrm>
            <a:off x="5504688" y="1298448"/>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함수</a:t>
            </a:r>
            <a:endParaRPr lang="en-US" sz="1150" dirty="0"/>
          </a:p>
        </p:txBody>
      </p:sp>
      <p:sp>
        <p:nvSpPr>
          <p:cNvPr id="7" name="Text 4"/>
          <p:cNvSpPr txBox="1"/>
          <p:nvPr/>
        </p:nvSpPr>
        <p:spPr>
          <a:xfrm>
            <a:off x="772210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안테나 설치</a:t>
            </a:r>
            <a:endParaRPr lang="en-US" sz="1150" dirty="0"/>
          </a:p>
        </p:txBody>
      </p:sp>
      <p:sp>
        <p:nvSpPr>
          <p:cNvPr id="9" name="Text 6"/>
          <p:cNvSpPr txBox="1"/>
          <p:nvPr/>
        </p:nvSpPr>
        <p:spPr>
          <a:xfrm>
            <a:off x="987094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측정 Az</a:t>
            </a:r>
            <a:endParaRPr lang="en-US" sz="1150" dirty="0"/>
          </a:p>
        </p:txBody>
      </p:sp>
      <p:sp>
        <p:nvSpPr>
          <p:cNvPr id="11" name="Text 8"/>
          <p:cNvSpPr txBox="1"/>
          <p:nvPr/>
        </p:nvSpPr>
        <p:spPr>
          <a:xfrm>
            <a:off x="726490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04288"/>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273552"/>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세 번 연달아 오른쪽으로 돌았을 뿐이니, 직관적으로도 당연합니다.</a:t>
            </a:r>
            <a:endParaRPr lang="en-US" sz="1400" dirty="0"/>
          </a:p>
        </p:txBody>
      </p:sp>
      <p:sp>
        <p:nvSpPr>
          <p:cNvPr id="15" name="Text 12"/>
          <p:cNvSpPr txBox="1"/>
          <p:nvPr/>
        </p:nvSpPr>
        <p:spPr>
          <a:xfrm>
            <a:off x="5504688" y="3639312"/>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실제 계산값 165.074° — 차이 0.074° 는 레버암 30 m 때문</a:t>
            </a:r>
            <a:endParaRPr lang="en-US" sz="1200" dirty="0"/>
          </a:p>
        </p:txBody>
      </p:sp>
      <p:sp>
        <p:nvSpPr>
          <p:cNvPr id="16" name="Shape 13"/>
          <p:cNvSpPr/>
          <p:nvPr/>
        </p:nvSpPr>
        <p:spPr>
          <a:xfrm>
            <a:off x="5504688" y="4224528"/>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389120"/>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그런데 왜 굳이 행렬을 쓸까?</a:t>
            </a:r>
            <a:endParaRPr lang="en-US" sz="1600" dirty="0"/>
          </a:p>
        </p:txBody>
      </p:sp>
      <p:sp>
        <p:nvSpPr>
          <p:cNvPr id="18" name="Text 15"/>
          <p:cNvSpPr txBox="1"/>
          <p:nvPr/>
        </p:nvSpPr>
        <p:spPr>
          <a:xfrm>
            <a:off x="5742432" y="4791456"/>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roll 이나 pitch 가 조금이라도 있으면</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세 축의 회전이 서로 섞이기 때문입니다.</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①~③   안테나 → 동체 → 로컬</a:t>
            </a:r>
            <a:endParaRPr lang="en-US" sz="3000" dirty="0"/>
          </a:p>
        </p:txBody>
      </p:sp>
      <p:sp>
        <p:nvSpPr>
          <p:cNvPr id="3" name="Shape 1"/>
          <p:cNvSpPr/>
          <p:nvPr/>
        </p:nvSpPr>
        <p:spPr>
          <a:xfrm>
            <a:off x="566928" y="133502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17904"/>
            <a:ext cx="402336" cy="402336"/>
          </a:xfrm>
          <a:prstGeom prst="ellipse">
            <a:avLst/>
          </a:prstGeom>
          <a:solidFill>
            <a:srgbClr val="2B57A6"/>
          </a:solidFill>
          <a:ln/>
        </p:spPr>
        <p:txBody>
          <a:bodyPr/>
          <a:p/>
        </p:txBody>
      </p:sp>
      <p:sp>
        <p:nvSpPr>
          <p:cNvPr id="5" name="Text 3"/>
          <p:cNvSpPr txBox="1"/>
          <p:nvPr/>
        </p:nvSpPr>
        <p:spPr>
          <a:xfrm>
            <a:off x="822960" y="1517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6" name="Text 4"/>
          <p:cNvSpPr txBox="1"/>
          <p:nvPr/>
        </p:nvSpPr>
        <p:spPr>
          <a:xfrm>
            <a:off x="1371600" y="149961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극좌표 → 직교좌표</a:t>
            </a:r>
            <a:endParaRPr lang="en-US" sz="1600" dirty="0"/>
          </a:p>
        </p:txBody>
      </p:sp>
      <p:sp>
        <p:nvSpPr>
          <p:cNvPr id="7" name="Text 5"/>
          <p:cNvSpPr txBox="1"/>
          <p:nvPr/>
        </p:nvSpPr>
        <p:spPr>
          <a:xfrm>
            <a:off x="1371600" y="186537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표현 변경 (회전·이동 없음)</a:t>
            </a:r>
            <a:endParaRPr lang="en-US" sz="1200" dirty="0"/>
          </a:p>
        </p:txBody>
      </p:sp>
      <p:sp>
        <p:nvSpPr>
          <p:cNvPr id="8" name="Text 6"/>
          <p:cNvSpPr txBox="1"/>
          <p:nvPr/>
        </p:nvSpPr>
        <p:spPr>
          <a:xfrm>
            <a:off x="5212080" y="151790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+17 320.5081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+10 000.0000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3464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3017520"/>
            <a:ext cx="402336" cy="402336"/>
          </a:xfrm>
          <a:prstGeom prst="ellipse">
            <a:avLst/>
          </a:prstGeom>
          <a:solidFill>
            <a:srgbClr val="2B57A6"/>
          </a:solidFill>
          <a:ln/>
        </p:spPr>
        <p:txBody>
          <a:bodyPr/>
          <a:p/>
        </p:txBody>
      </p:sp>
      <p:sp>
        <p:nvSpPr>
          <p:cNvPr id="11" name="Text 9"/>
          <p:cNvSpPr txBox="1"/>
          <p:nvPr/>
        </p:nvSpPr>
        <p:spPr>
          <a:xfrm>
            <a:off x="822960" y="3017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1371600" y="299923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 동체</a:t>
            </a:r>
            <a:endParaRPr lang="en-US" sz="1600" dirty="0"/>
          </a:p>
        </p:txBody>
      </p:sp>
      <p:sp>
        <p:nvSpPr>
          <p:cNvPr id="13" name="Text 11"/>
          <p:cNvSpPr txBox="1"/>
          <p:nvPr/>
        </p:nvSpPr>
        <p:spPr>
          <a:xfrm>
            <a:off x="1371600" y="336499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14" name="Text 12"/>
          <p:cNvSpPr txBox="1"/>
          <p:nvPr/>
        </p:nvSpPr>
        <p:spPr>
          <a:xfrm>
            <a:off x="5212080" y="301752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(−10 030.0, +17 320.5, −10.0)</a:t>
            </a:r>
            <a:endParaRPr lang="en-US" sz="1150" dirty="0"/>
          </a:p>
        </p:txBody>
      </p:sp>
      <p:sp>
        <p:nvSpPr>
          <p:cNvPr id="15" name="Shape 13"/>
          <p:cNvSpPr/>
          <p:nvPr/>
        </p:nvSpPr>
        <p:spPr>
          <a:xfrm>
            <a:off x="566928" y="4334256"/>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517136"/>
            <a:ext cx="402336" cy="402336"/>
          </a:xfrm>
          <a:prstGeom prst="ellipse">
            <a:avLst/>
          </a:prstGeom>
          <a:solidFill>
            <a:srgbClr val="2B57A6"/>
          </a:solidFill>
          <a:ln/>
        </p:spPr>
        <p:txBody>
          <a:bodyPr/>
          <a:p/>
        </p:txBody>
      </p:sp>
      <p:sp>
        <p:nvSpPr>
          <p:cNvPr id="17" name="Text 15"/>
          <p:cNvSpPr txBox="1"/>
          <p:nvPr/>
        </p:nvSpPr>
        <p:spPr>
          <a:xfrm>
            <a:off x="822960" y="45171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8" name="Text 16"/>
          <p:cNvSpPr txBox="1"/>
          <p:nvPr/>
        </p:nvSpPr>
        <p:spPr>
          <a:xfrm>
            <a:off x="1371600" y="4498848"/>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동체 → 로컬 (NED)</a:t>
            </a:r>
            <a:endParaRPr lang="en-US" sz="1600" dirty="0"/>
          </a:p>
        </p:txBody>
      </p:sp>
      <p:sp>
        <p:nvSpPr>
          <p:cNvPr id="19" name="Text 17"/>
          <p:cNvSpPr txBox="1"/>
          <p:nvPr/>
        </p:nvSpPr>
        <p:spPr>
          <a:xfrm>
            <a:off x="1371600" y="4864608"/>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회전만 (원점이 같음)</a:t>
            </a:r>
            <a:endParaRPr lang="en-US" sz="1200" dirty="0"/>
          </a:p>
        </p:txBody>
      </p:sp>
      <p:sp>
        <p:nvSpPr>
          <p:cNvPr id="20" name="Text 18"/>
          <p:cNvSpPr txBox="1"/>
          <p:nvPr/>
        </p:nvSpPr>
        <p:spPr>
          <a:xfrm>
            <a:off x="5212080" y="4517136"/>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−19 339.73, E +5 155.17,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943600"/>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943600"/>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Malgun Gothic" pitchFamily="34" charset="0"/>
                <a:ea typeface="Malgun Gothic" pitchFamily="34" charset="-122"/>
                <a:cs typeface="Malgun Gothic" pitchFamily="34" charset="-120"/>
              </a:rPr>
              <a:t>여기가 데이터 처리 구간 — 추적·필터링은 로컬 좌표계에서 수행합니다</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④~⑤   로컬 → ECEF → 위경도</a:t>
            </a:r>
            <a:endParaRPr lang="en-US" sz="3000" dirty="0"/>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① 배의 위치를 ECEF 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② 로컬 벡터를 지구 방향으로 회전</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(회전량은 배의 위도·경도가 결정)</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N 을 알아야 위도를 구할 수 있기 때문.</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구로 본 위도에서 출발, 값이 안 변할 때까지 반복</a:t>
            </a:r>
            <a:endParaRPr lang="en-US" sz="1250" dirty="0"/>
          </a:p>
        </p:txBody>
      </p:sp>
      <p:sp>
        <p:nvSpPr>
          <p:cNvPr id="15" name="Shape 13"/>
          <p:cNvSpPr/>
          <p:nvPr/>
        </p:nvSpPr>
        <p:spPr>
          <a:xfrm>
            <a:off x="566928" y="3675888"/>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75888"/>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791456"/>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937760"/>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왜 고도가 10 m 가 아니라 41.5 m 인가?</a:t>
            </a:r>
            <a:endParaRPr lang="en-US" sz="1600" dirty="0"/>
          </a:p>
        </p:txBody>
      </p:sp>
      <p:sp>
        <p:nvSpPr>
          <p:cNvPr id="19" name="Text 17"/>
          <p:cNvSpPr txBox="1"/>
          <p:nvPr/>
        </p:nvSpPr>
        <p:spPr>
          <a:xfrm>
            <a:off x="859536" y="5340096"/>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그런데 빔은 직진하는데 바다 표면은 멀어질수록 아래로 휘어 내려갑니다. 20 km 지점에서 그 차이가 31.5 m,  10 + 31.5 = 41.5 m.</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되돌아오기 — 역변환</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은 결과를 두 가지 형태로 요구합니다</a:t>
            </a:r>
            <a:endParaRPr lang="en-US" sz="1400" dirty="0"/>
          </a:p>
        </p:txBody>
      </p:sp>
      <p:sp>
        <p:nvSpPr>
          <p:cNvPr id="4" name="Shape 2"/>
          <p:cNvSpPr/>
          <p:nvPr/>
        </p:nvSpPr>
        <p:spPr>
          <a:xfrm>
            <a:off x="566928" y="1572768"/>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682496"/>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Malgun Gothic" pitchFamily="34" charset="0"/>
                <a:ea typeface="Malgun Gothic" pitchFamily="34" charset="-122"/>
                <a:cs typeface="Malgun Gothic" pitchFamily="34" charset="-120"/>
              </a:rPr>
              <a:t>역변환은 새로 배울 것이 없습니다</a:t>
            </a:r>
            <a:endParaRPr lang="en-US" sz="1800" dirty="0"/>
          </a:p>
        </p:txBody>
      </p:sp>
      <p:sp>
        <p:nvSpPr>
          <p:cNvPr id="6" name="Text 4"/>
          <p:cNvSpPr txBox="1"/>
          <p:nvPr/>
        </p:nvSpPr>
        <p:spPr>
          <a:xfrm>
            <a:off x="566928" y="2084832"/>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Malgun Gothic" pitchFamily="34" charset="0"/>
                <a:ea typeface="Malgun Gothic" pitchFamily="34" charset="-122"/>
                <a:cs typeface="Malgun Gothic" pitchFamily="34" charset="-120"/>
              </a:rPr>
              <a:t>① 회전은 전치 (transpose)      ② 평행이동은 빼기      ③ 순서는 거꾸로</a:t>
            </a:r>
            <a:endParaRPr lang="en-US" sz="1600" dirty="0"/>
          </a:p>
        </p:txBody>
      </p:sp>
      <p:sp>
        <p:nvSpPr>
          <p:cNvPr id="7" name="Shape 5"/>
          <p:cNvSpPr/>
          <p:nvPr/>
        </p:nvSpPr>
        <p:spPr>
          <a:xfrm>
            <a:off x="566928" y="2798064"/>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907792"/>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791456"/>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791456"/>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20 000.000000 m     Az = 30.000000°     El = 0.000000°</a:t>
            </a:r>
            <a:endParaRPr lang="en-US" sz="1900" dirty="0"/>
          </a:p>
        </p:txBody>
      </p:sp>
      <p:sp>
        <p:nvSpPr>
          <p:cNvPr id="11" name="Text 9"/>
          <p:cNvSpPr txBox="1"/>
          <p:nvPr/>
        </p:nvSpPr>
        <p:spPr>
          <a:xfrm>
            <a:off x="566928" y="5705856"/>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Malgun Gothic" pitchFamily="34" charset="0"/>
                <a:ea typeface="Malgun Gothic" pitchFamily="34" charset="-122"/>
                <a:cs typeface="Malgun Gothic"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6071616"/>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부호 하나, 전치 방향 하나만 틀려도 이 왕복 시험은 즉시 실패합니다 — 그래서 가장 강력한 검증 수단이 됩니다.</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3</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C 로 짜서 확인하기</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좌표변환은 "적당히 그럴듯한 값"이 나오기 때문에 눈으로는 검증되지 않습니다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Visual Studio 2022  ·  C17  ·  경고 0건  ·  왕복 오차 1e−9 m 미만</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구현 — 애초에 실수하기 어렵게 만들기</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좌표변환 버그의 특징은 컴파일도 되고 값도 그럴듯해 보인다는 것입니다</a:t>
            </a:r>
            <a:endParaRPr lang="en-US" sz="1400" dirty="0"/>
          </a:p>
        </p:txBody>
      </p:sp>
      <p:sp>
        <p:nvSpPr>
          <p:cNvPr id="4" name="Shape 2"/>
          <p:cNvSpPr/>
          <p:nvPr/>
        </p:nvSpPr>
        <p:spPr>
          <a:xfrm>
            <a:off x="566928" y="1408176"/>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54480"/>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①</a:t>
            </a:r>
            <a:endParaRPr lang="en-US" sz="2600" dirty="0"/>
          </a:p>
        </p:txBody>
      </p:sp>
      <p:sp>
        <p:nvSpPr>
          <p:cNvPr id="6" name="Text 4"/>
          <p:cNvSpPr txBox="1"/>
          <p:nvPr/>
        </p:nvSpPr>
        <p:spPr>
          <a:xfrm>
            <a:off x="1463040" y="1572768"/>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함수 이름에 방향을 박는다</a:t>
            </a:r>
            <a:endParaRPr lang="en-US" sz="1600" dirty="0"/>
          </a:p>
        </p:txBody>
      </p:sp>
      <p:sp>
        <p:nvSpPr>
          <p:cNvPr id="7" name="Text 5"/>
          <p:cNvSpPr txBox="1"/>
          <p:nvPr/>
        </p:nvSpPr>
        <p:spPr>
          <a:xfrm>
            <a:off x="5577840" y="1554480"/>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56032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70662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②</a:t>
            </a:r>
            <a:endParaRPr lang="en-US" sz="2600" dirty="0"/>
          </a:p>
        </p:txBody>
      </p:sp>
      <p:sp>
        <p:nvSpPr>
          <p:cNvPr id="10" name="Text 8"/>
          <p:cNvSpPr txBox="1"/>
          <p:nvPr/>
        </p:nvSpPr>
        <p:spPr>
          <a:xfrm>
            <a:off x="1463040" y="272491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회전은 Rx·Ry·Rz 곱으로만 만든다</a:t>
            </a:r>
            <a:endParaRPr lang="en-US" sz="1600" dirty="0"/>
          </a:p>
        </p:txBody>
      </p:sp>
      <p:sp>
        <p:nvSpPr>
          <p:cNvPr id="11" name="Text 9"/>
          <p:cNvSpPr txBox="1"/>
          <p:nvPr/>
        </p:nvSpPr>
        <p:spPr>
          <a:xfrm>
            <a:off x="5577840" y="270662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712464"/>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858768"/>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③</a:t>
            </a:r>
            <a:endParaRPr lang="en-US" sz="2600" dirty="0"/>
          </a:p>
        </p:txBody>
      </p:sp>
      <p:sp>
        <p:nvSpPr>
          <p:cNvPr id="14" name="Text 12"/>
          <p:cNvSpPr txBox="1"/>
          <p:nvPr/>
        </p:nvSpPr>
        <p:spPr>
          <a:xfrm>
            <a:off x="1463040" y="3877056"/>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단위는 안에서 하나로 통일한다</a:t>
            </a:r>
            <a:endParaRPr lang="en-US" sz="1600" dirty="0"/>
          </a:p>
        </p:txBody>
      </p:sp>
      <p:sp>
        <p:nvSpPr>
          <p:cNvPr id="15" name="Text 13"/>
          <p:cNvSpPr txBox="1"/>
          <p:nvPr/>
        </p:nvSpPr>
        <p:spPr>
          <a:xfrm>
            <a:off x="5577840" y="3858768"/>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828032"/>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212080"/>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왕복 시험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측정값 → LLA → 측정값. 콘솔과 UI 가 입력과의 차이를 같이 찍음</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부호 · 전치 방향 · 순서 실수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예제값 손계산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동체 좌표는 Rz(90°) 로 돌리고 오프셋을 더하면 손으로 나옴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레버암 부호, 설치 방위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자세 바꿔 가며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UI 슬라이더로 roll · pitch · yaw 를 다르게 놓고 왕복 확인</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대칭 자세에선 안 드러나는 전치 오류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최종 출력값</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이 요구한 두 가지 형태</a:t>
            </a:r>
            <a:endParaRPr lang="en-US" sz="1400" dirty="0"/>
          </a:p>
        </p:txBody>
      </p:sp>
      <p:sp>
        <p:nvSpPr>
          <p:cNvPr id="4" name="Shape 2"/>
          <p:cNvSpPr/>
          <p:nvPr/>
        </p:nvSpPr>
        <p:spPr>
          <a:xfrm>
            <a:off x="566928" y="155448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75564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[1]  위 / 경 / 고도</a:t>
            </a:r>
            <a:endParaRPr lang="en-US" sz="1700" dirty="0"/>
          </a:p>
        </p:txBody>
      </p:sp>
      <p:sp>
        <p:nvSpPr>
          <p:cNvPr id="6" name="Text 4"/>
          <p:cNvSpPr txBox="1"/>
          <p:nvPr/>
        </p:nvSpPr>
        <p:spPr>
          <a:xfrm>
            <a:off x="896112" y="223113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위도</a:t>
            </a:r>
            <a:endParaRPr lang="en-US" sz="1400" dirty="0"/>
          </a:p>
        </p:txBody>
      </p:sp>
      <p:sp>
        <p:nvSpPr>
          <p:cNvPr id="7" name="Text 5"/>
          <p:cNvSpPr txBox="1"/>
          <p:nvPr/>
        </p:nvSpPr>
        <p:spPr>
          <a:xfrm>
            <a:off x="2103120" y="223113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83464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경도</a:t>
            </a:r>
            <a:endParaRPr lang="en-US" sz="1400" dirty="0"/>
          </a:p>
        </p:txBody>
      </p:sp>
      <p:sp>
        <p:nvSpPr>
          <p:cNvPr id="9" name="Text 7"/>
          <p:cNvSpPr txBox="1"/>
          <p:nvPr/>
        </p:nvSpPr>
        <p:spPr>
          <a:xfrm>
            <a:off x="2103120" y="283464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438144"/>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고도</a:t>
            </a:r>
            <a:endParaRPr lang="en-US" sz="1400" dirty="0"/>
          </a:p>
        </p:txBody>
      </p:sp>
      <p:sp>
        <p:nvSpPr>
          <p:cNvPr id="11" name="Text 9"/>
          <p:cNvSpPr txBox="1"/>
          <p:nvPr/>
        </p:nvSpPr>
        <p:spPr>
          <a:xfrm>
            <a:off x="2103120" y="3438144"/>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WGS-84 타원체고</a:t>
            </a:r>
            <a:endParaRPr lang="en-US" sz="1150" dirty="0"/>
          </a:p>
        </p:txBody>
      </p:sp>
      <p:sp>
        <p:nvSpPr>
          <p:cNvPr id="13" name="Shape 11"/>
          <p:cNvSpPr/>
          <p:nvPr/>
        </p:nvSpPr>
        <p:spPr>
          <a:xfrm>
            <a:off x="6144768" y="155448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75564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Malgun Gothic" pitchFamily="34" charset="0"/>
                <a:ea typeface="Malgun Gothic" pitchFamily="34" charset="-122"/>
                <a:cs typeface="Malgun Gothic" pitchFamily="34" charset="-120"/>
              </a:rPr>
              <a:t>[2]  안테나 극좌표</a:t>
            </a:r>
            <a:endParaRPr lang="en-US" sz="1700" dirty="0"/>
          </a:p>
        </p:txBody>
      </p:sp>
      <p:sp>
        <p:nvSpPr>
          <p:cNvPr id="15" name="Text 13"/>
          <p:cNvSpPr txBox="1"/>
          <p:nvPr/>
        </p:nvSpPr>
        <p:spPr>
          <a:xfrm>
            <a:off x="6473952" y="223113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시선거리</a:t>
            </a:r>
            <a:endParaRPr lang="en-US" sz="1400" dirty="0"/>
          </a:p>
        </p:txBody>
      </p:sp>
      <p:sp>
        <p:nvSpPr>
          <p:cNvPr id="16" name="Text 14"/>
          <p:cNvSpPr txBox="1"/>
          <p:nvPr/>
        </p:nvSpPr>
        <p:spPr>
          <a:xfrm>
            <a:off x="7772400" y="223113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20 000.0000 m</a:t>
            </a:r>
            <a:endParaRPr lang="en-US" sz="1700" dirty="0"/>
          </a:p>
        </p:txBody>
      </p:sp>
      <p:sp>
        <p:nvSpPr>
          <p:cNvPr id="17" name="Text 15"/>
          <p:cNvSpPr txBox="1"/>
          <p:nvPr/>
        </p:nvSpPr>
        <p:spPr>
          <a:xfrm>
            <a:off x="10058400" y="223113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83464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방위각</a:t>
            </a:r>
            <a:endParaRPr lang="en-US" sz="1400" dirty="0"/>
          </a:p>
        </p:txBody>
      </p:sp>
      <p:sp>
        <p:nvSpPr>
          <p:cNvPr id="19" name="Text 17"/>
          <p:cNvSpPr txBox="1"/>
          <p:nvPr/>
        </p:nvSpPr>
        <p:spPr>
          <a:xfrm>
            <a:off x="7772400" y="283464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83464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438144"/>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고각</a:t>
            </a:r>
            <a:endParaRPr lang="en-US" sz="1400" dirty="0"/>
          </a:p>
        </p:txBody>
      </p:sp>
      <p:sp>
        <p:nvSpPr>
          <p:cNvPr id="22" name="Text 20"/>
          <p:cNvSpPr txBox="1"/>
          <p:nvPr/>
        </p:nvSpPr>
        <p:spPr>
          <a:xfrm>
            <a:off x="7772400" y="3438144"/>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438144"/>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오른쪽은 입력값과의 차이 (왕복오차)</a:t>
            </a:r>
            <a:endParaRPr lang="en-US" sz="1150" dirty="0"/>
          </a:p>
        </p:txBody>
      </p:sp>
      <p:sp>
        <p:nvSpPr>
          <p:cNvPr id="25" name="Shape 23"/>
          <p:cNvSpPr/>
          <p:nvPr/>
        </p:nvSpPr>
        <p:spPr>
          <a:xfrm>
            <a:off x="566928" y="451713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51713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1e−12 °</a:t>
            </a:r>
            <a:endParaRPr lang="en-US" sz="2200" dirty="0"/>
          </a:p>
        </p:txBody>
      </p:sp>
      <p:sp>
        <p:nvSpPr>
          <p:cNvPr id="29" name="Text 27"/>
          <p:cNvSpPr txBox="1"/>
          <p:nvPr/>
        </p:nvSpPr>
        <p:spPr>
          <a:xfrm>
            <a:off x="749808"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각도 오차</a:t>
            </a:r>
            <a:endParaRPr lang="en-US" sz="1200" dirty="0"/>
          </a:p>
        </p:txBody>
      </p:sp>
      <p:sp>
        <p:nvSpPr>
          <p:cNvPr id="30" name="Shape 28"/>
          <p:cNvSpPr/>
          <p:nvPr/>
        </p:nvSpPr>
        <p:spPr>
          <a:xfrm>
            <a:off x="4343400"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컴파일 경고</a:t>
            </a:r>
            <a:endParaRPr lang="en-US" sz="1200" dirty="0"/>
          </a:p>
        </p:txBody>
      </p:sp>
      <p:sp>
        <p:nvSpPr>
          <p:cNvPr id="33" name="Shape 31"/>
          <p:cNvSpPr/>
          <p:nvPr/>
        </p:nvSpPr>
        <p:spPr>
          <a:xfrm>
            <a:off x="8119872"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거리 오차</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확인 실험 — 설계 판단이 실제로 근거가 있는가</a:t>
            </a:r>
            <a:endParaRPr lang="en-US" sz="3000" dirty="0"/>
          </a:p>
        </p:txBody>
      </p:sp>
      <p:pic>
        <p:nvPicPr>
          <p:cNvPr id="3" name="Image 0" descr="/home/claude/deck/assets/fig12_deck.png">    </p:cNvPr>
          <p:cNvPicPr>
            <a:picLocks noChangeAspect="1"/>
          </p:cNvPicPr>
          <p:nvPr/>
        </p:nvPicPr>
        <p:blipFill>
          <a:blip r:embed="rId1"/>
          <a:stretch>
            <a:fillRect/>
          </a:stretch>
        </p:blipFill>
        <p:spPr>
          <a:xfrm>
            <a:off x="566928" y="1522687"/>
            <a:ext cx="6949440" cy="2587330"/>
          </a:xfrm>
          <a:prstGeom prst="rect">
            <a:avLst/>
          </a:prstGeom>
        </p:spPr>
      </p:pic>
      <p:sp>
        <p:nvSpPr>
          <p:cNvPr id="4" name="Shape 1"/>
          <p:cNvSpPr/>
          <p:nvPr/>
        </p:nvSpPr>
        <p:spPr>
          <a:xfrm>
            <a:off x="7699248" y="1335024"/>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481328"/>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실험 B  배가 기울면</a:t>
            </a:r>
            <a:endParaRPr lang="en-US" sz="1500" dirty="0"/>
          </a:p>
        </p:txBody>
      </p:sp>
      <p:sp>
        <p:nvSpPr>
          <p:cNvPr id="6" name="Text 3"/>
          <p:cNvSpPr txBox="1"/>
          <p:nvPr/>
        </p:nvSpPr>
        <p:spPr>
          <a:xfrm>
            <a:off x="7955280" y="1847088"/>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같은 측정값 (Az 30°, El 0°) 에</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32304"/>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roll</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실제 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−8.61°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−17.19°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675888"/>
            <a:ext cx="3474720" cy="64008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그건 안테나 기준일 뿐입니다.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20 km 거리에서 고도로 약 5.9 km 차이.</a:t>
            </a:r>
            <a:endParaRPr lang="en-US" sz="1150" dirty="0"/>
          </a:p>
        </p:txBody>
      </p:sp>
      <p:sp>
        <p:nvSpPr>
          <p:cNvPr id="9" name="Shape 5"/>
          <p:cNvSpPr/>
          <p:nvPr/>
        </p:nvSpPr>
        <p:spPr>
          <a:xfrm>
            <a:off x="56692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A</a:t>
            </a:r>
            <a:endParaRPr lang="en-US" sz="1200" dirty="0"/>
          </a:p>
        </p:txBody>
      </p:sp>
      <p:sp>
        <p:nvSpPr>
          <p:cNvPr id="11" name="Text 7"/>
          <p:cNvSpPr txBox="1"/>
          <p:nvPr/>
        </p:nvSpPr>
        <p:spPr>
          <a:xfrm>
            <a:off x="193852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레버암을 빼먹으면</a:t>
            </a:r>
            <a:endParaRPr lang="en-US" sz="1300" dirty="0"/>
          </a:p>
        </p:txBody>
      </p:sp>
      <p:sp>
        <p:nvSpPr>
          <p:cNvPr id="12" name="Text 8"/>
          <p:cNvSpPr txBox="1"/>
          <p:nvPr/>
        </p:nvSpPr>
        <p:spPr>
          <a:xfrm>
            <a:off x="78638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거리가 멀어져도 이 오차는 줄지 않는다.</a:t>
            </a:r>
            <a:endParaRPr lang="en-US" sz="1200" dirty="0"/>
          </a:p>
        </p:txBody>
      </p:sp>
      <p:sp>
        <p:nvSpPr>
          <p:cNvPr id="13" name="Shape 9"/>
          <p:cNvSpPr/>
          <p:nvPr/>
        </p:nvSpPr>
        <p:spPr>
          <a:xfrm>
            <a:off x="614476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C</a:t>
            </a:r>
            <a:endParaRPr lang="en-US" sz="1200" dirty="0"/>
          </a:p>
        </p:txBody>
      </p:sp>
      <p:sp>
        <p:nvSpPr>
          <p:cNvPr id="15" name="Text 11"/>
          <p:cNvSpPr txBox="1"/>
          <p:nvPr/>
        </p:nvSpPr>
        <p:spPr>
          <a:xfrm>
            <a:off x="751636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지구 곡률</a:t>
            </a:r>
            <a:endParaRPr lang="en-US" sz="1300" dirty="0"/>
          </a:p>
        </p:txBody>
      </p:sp>
      <p:sp>
        <p:nvSpPr>
          <p:cNvPr id="16" name="Text 12"/>
          <p:cNvSpPr txBox="1"/>
          <p:nvPr/>
        </p:nvSpPr>
        <p:spPr>
          <a:xfrm>
            <a:off x="636422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5 km 2 m · 20 km 31 m · 100 km 786 m.</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거리의 제곱에 비례해 커진다.</a:t>
            </a:r>
            <a:endParaRPr lang="en-US" sz="1200" dirty="0"/>
          </a:p>
        </p:txBody>
      </p:sp>
      <p:sp>
        <p:nvSpPr>
          <p:cNvPr id="17" name="Text 13"/>
          <p:cNvSpPr txBox="1"/>
          <p:nvPr/>
        </p:nvSpPr>
        <p:spPr>
          <a:xfrm>
            <a:off x="566928" y="605332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Malgun Gothic" pitchFamily="34" charset="0"/>
                <a:ea typeface="Malgun Gothic" pitchFamily="34" charset="-122"/>
                <a:cs typeface="Malgun Gothic" pitchFamily="34" charset="-120"/>
              </a:rPr>
              <a:t>각도를 더하는 방식으로는 이 효과를 만들 수 없습니다 — 해상 플랫폼에서 회전행렬은 선택이 아니라 필수입니다.</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11064240" cy="566928"/>
          </a:xfrm>
          <a:prstGeom prst="rect">
            <a:avLst/>
          </a:prstGeom>
          <a:noFill/>
        </p:spPr>
        <p:txBody>
          <a:bodyPr wrap="square">
            <a:spAutoFit/>
          </a:bodyPr>
          <a:lstStyle/>
          <a:p>
            <a:r>
              <a:rPr sz="3000" b="1">
                <a:solidFill>
                  <a:srgbClr val="1A2233"/>
                </a:solidFill>
                <a:latin typeface="Malgun Gothic"/>
              </a:rPr>
              <a:t>UI 로 확인 — CoordUI</a:t>
            </a:r>
          </a:p>
        </p:txBody>
      </p:sp>
      <p:sp>
        <p:nvSpPr>
          <p:cNvPr id="3" name="TextBox 2"/>
          <p:cNvSpPr txBox="1"/>
          <p:nvPr/>
        </p:nvSpPr>
        <p:spPr>
          <a:xfrm>
            <a:off x="566928" y="905256"/>
            <a:ext cx="11064240" cy="329184"/>
          </a:xfrm>
          <a:prstGeom prst="rect">
            <a:avLst/>
          </a:prstGeom>
          <a:noFill/>
        </p:spPr>
        <p:txBody>
          <a:bodyPr wrap="square">
            <a:spAutoFit/>
          </a:bodyPr>
          <a:lstStyle/>
          <a:p>
            <a:r>
              <a:rPr sz="1400" b="0">
                <a:solidFill>
                  <a:srgbClr val="5A6478"/>
                </a:solidFill>
                <a:latin typeface="Malgun Gothic"/>
              </a:rPr>
              <a:t>같은 CoordCore 를 물고, 입력을 바꾸면 바로 다시 계산해서 단계별 값을 보여줍니다</a:t>
            </a:r>
          </a:p>
        </p:txBody>
      </p:sp>
      <p:sp>
        <p:nvSpPr>
          <p:cNvPr id="4" name="Rounded Rectangle 3"/>
          <p:cNvSpPr/>
          <p:nvPr/>
        </p:nvSpPr>
        <p:spPr>
          <a:xfrm>
            <a:off x="566928" y="1408176"/>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35000"/>
            <a:ext cx="3566160" cy="329184"/>
          </a:xfrm>
          <a:prstGeom prst="rect">
            <a:avLst/>
          </a:prstGeom>
          <a:noFill/>
        </p:spPr>
        <p:txBody>
          <a:bodyPr wrap="square">
            <a:spAutoFit/>
          </a:bodyPr>
          <a:lstStyle/>
          <a:p>
            <a:r>
              <a:rPr sz="1500" b="1">
                <a:solidFill>
                  <a:srgbClr val="2B57A6"/>
                </a:solidFill>
                <a:latin typeface="Malgun Gothic"/>
              </a:rPr>
              <a:t>프로그램 구성</a:t>
            </a:r>
          </a:p>
        </p:txBody>
      </p:sp>
      <p:sp>
        <p:nvSpPr>
          <p:cNvPr id="6" name="TextBox 5"/>
          <p:cNvSpPr txBox="1"/>
          <p:nvPr/>
        </p:nvSpPr>
        <p:spPr>
          <a:xfrm>
            <a:off x="749808" y="1980000"/>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80000"/>
            <a:ext cx="3566160" cy="560000"/>
          </a:xfrm>
          <a:prstGeom prst="rect">
            <a:avLst/>
          </a:prstGeom>
          <a:noFill/>
        </p:spPr>
        <p:txBody>
          <a:bodyPr wrap="square">
            <a:spAutoFit/>
          </a:bodyPr>
          <a:lstStyle/>
          <a:p>
            <a:r>
              <a:rPr sz="1150" b="0">
                <a:solidFill>
                  <a:srgbClr val="5A6478"/>
                </a:solidFill>
                <a:latin typeface="Malgun Gothic"/>
              </a:rPr>
              <a:t>좌표변환 정적 라이브러리 (C)</a:t>
            </a:r>
          </a:p>
          <a:p>
            <a:r>
              <a:rPr sz="1150" b="0">
                <a:solidFill>
                  <a:srgbClr val="5A6478"/>
                </a:solidFill>
                <a:latin typeface="Malgun Gothic"/>
              </a:rPr>
              <a:t>coord_frames + 참고 소스 matrixCalcLib</a:t>
            </a:r>
          </a:p>
        </p:txBody>
      </p:sp>
      <p:sp>
        <p:nvSpPr>
          <p:cNvPr id="8" name="TextBox 7"/>
          <p:cNvSpPr txBox="1"/>
          <p:nvPr/>
        </p:nvSpPr>
        <p:spPr>
          <a:xfrm>
            <a:off x="749808" y="3060000"/>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60000"/>
            <a:ext cx="3566160" cy="560000"/>
          </a:xfrm>
          <a:prstGeom prst="rect">
            <a:avLst/>
          </a:prstGeom>
          <a:noFill/>
        </p:spPr>
        <p:txBody>
          <a:bodyPr wrap="square">
            <a:spAutoFit/>
          </a:bodyPr>
          <a:lstStyle/>
          <a:p>
            <a:r>
              <a:rPr sz="1150" b="0">
                <a:solidFill>
                  <a:srgbClr val="5A6478"/>
                </a:solidFill>
                <a:latin typeface="Malgun Gothic"/>
              </a:rPr>
              <a:t>콘솔. 과제 3.1 입력값으로 단계별 값 출력</a:t>
            </a:r>
          </a:p>
          <a:p>
            <a:r>
              <a:rPr sz="1150" b="0">
                <a:solidFill>
                  <a:srgbClr val="5A6478"/>
                </a:solidFill>
                <a:latin typeface="Malgun Gothic"/>
              </a:rPr>
              <a:t>왕복오차까지 같이 찍음</a:t>
            </a:r>
          </a:p>
        </p:txBody>
      </p:sp>
      <p:sp>
        <p:nvSpPr>
          <p:cNvPr id="10" name="TextBox 9"/>
          <p:cNvSpPr txBox="1"/>
          <p:nvPr/>
        </p:nvSpPr>
        <p:spPr>
          <a:xfrm>
            <a:off x="749808" y="4140000"/>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40000"/>
            <a:ext cx="3566160" cy="560000"/>
          </a:xfrm>
          <a:prstGeom prst="rect">
            <a:avLst/>
          </a:prstGeom>
          <a:noFill/>
        </p:spPr>
        <p:txBody>
          <a:bodyPr wrap="square">
            <a:spAutoFit/>
          </a:bodyPr>
          <a:lstStyle/>
          <a:p>
            <a:r>
              <a:rPr sz="1150" b="0">
                <a:solidFill>
                  <a:srgbClr val="5A6478"/>
                </a:solidFill>
                <a:latin typeface="Malgun Gothic"/>
              </a:rPr>
              <a:t>MFC 다이얼로그. 오른쪽 화면</a:t>
            </a:r>
          </a:p>
          <a:p>
            <a:r>
              <a:rPr sz="1150" b="0">
                <a:solidFill>
                  <a:srgbClr val="5A6478"/>
                </a:solidFill>
                <a:latin typeface="Malgun Gothic"/>
              </a:rPr>
              <a:t>변환 로직 없이 f_* 함수만 부름</a:t>
            </a:r>
          </a:p>
        </p:txBody>
      </p:sp>
      <p:sp>
        <p:nvSpPr>
          <p:cNvPr id="12" name="TextBox 11"/>
          <p:cNvSpPr txBox="1"/>
          <p:nvPr/>
        </p:nvSpPr>
        <p:spPr>
          <a:xfrm>
            <a:off x="749808" y="5330000"/>
            <a:ext cx="3566160" cy="420000"/>
          </a:xfrm>
          <a:prstGeom prst="rect">
            <a:avLst/>
          </a:prstGeom>
          <a:noFill/>
        </p:spPr>
        <p:txBody>
          <a:bodyPr wrap="square">
            <a:spAutoFit/>
          </a:bodyPr>
          <a:lstStyle/>
          <a:p>
            <a:r>
              <a:rPr sz="1100" b="0">
                <a:solidFill>
                  <a:srgbClr val="5A6478"/>
                </a:solidFill>
                <a:latin typeface="Malgun Gothic"/>
              </a:rPr>
              <a:t>실행 프로젝트 둘 다 CoordCore 를</a:t>
            </a:r>
          </a:p>
          <a:p>
            <a:r>
              <a:rPr sz="1100" b="0">
                <a:solidFill>
                  <a:srgbClr val="5A6478"/>
                </a:solidFill>
                <a:latin typeface="Malgun Gothic"/>
              </a:rPr>
              <a:t>ProjectReference 로 물고 있음</a:t>
            </a:r>
          </a:p>
        </p:txBody>
      </p:sp>
      <p:sp>
        <p:nvSpPr>
          <p:cNvPr id="13" name="Rounded Rectangle 12"/>
          <p:cNvSpPr/>
          <p:nvPr/>
        </p:nvSpPr>
        <p:spPr>
          <a:xfrm>
            <a:off x="4754880" y="1408176"/>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58176"/>
            <a:ext cx="3000000" cy="280000"/>
          </a:xfrm>
          <a:prstGeom prst="rect">
            <a:avLst/>
          </a:prstGeom>
          <a:noFill/>
        </p:spPr>
        <p:txBody>
          <a:bodyPr wrap="square">
            <a:spAutoFit/>
          </a:bodyPr>
          <a:lstStyle/>
          <a:p>
            <a:r>
              <a:rPr sz="1100" b="1">
                <a:solidFill>
                  <a:srgbClr val="1A2233"/>
                </a:solidFill>
                <a:latin typeface="Malgun Gothic"/>
              </a:rPr>
              <a:t>CoordFrames</a:t>
            </a:r>
          </a:p>
        </p:txBody>
      </p:sp>
      <p:sp>
        <p:nvSpPr>
          <p:cNvPr id="15" name="Rounded Rectangle 14"/>
          <p:cNvSpPr/>
          <p:nvPr/>
        </p:nvSpPr>
        <p:spPr>
          <a:xfrm>
            <a:off x="4904880" y="18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828176"/>
            <a:ext cx="2530000" cy="240000"/>
          </a:xfrm>
          <a:prstGeom prst="rect">
            <a:avLst/>
          </a:prstGeom>
          <a:noFill/>
        </p:spPr>
        <p:txBody>
          <a:bodyPr wrap="square">
            <a:spAutoFit/>
          </a:bodyPr>
          <a:lstStyle/>
          <a:p>
            <a:r>
              <a:rPr sz="900" b="1">
                <a:solidFill>
                  <a:srgbClr val="1A2233"/>
                </a:solidFill>
                <a:latin typeface="Malgun Gothic"/>
              </a:rPr>
              <a:t>측정값  R [m] / Az / El [deg]</a:t>
            </a:r>
          </a:p>
        </p:txBody>
      </p:sp>
      <p:sp>
        <p:nvSpPr>
          <p:cNvPr id="17" name="Rectangle 16"/>
          <p:cNvSpPr/>
          <p:nvPr/>
        </p:nvSpPr>
        <p:spPr>
          <a:xfrm>
            <a:off x="4984880"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76176"/>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76176"/>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76176"/>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42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48176"/>
            <a:ext cx="2530000" cy="240000"/>
          </a:xfrm>
          <a:prstGeom prst="rect">
            <a:avLst/>
          </a:prstGeom>
          <a:noFill/>
        </p:spPr>
        <p:txBody>
          <a:bodyPr wrap="square">
            <a:spAutoFit/>
          </a:bodyPr>
          <a:lstStyle/>
          <a:p>
            <a:r>
              <a:rPr sz="900" b="1">
                <a:solidFill>
                  <a:srgbClr val="1A2233"/>
                </a:solidFill>
                <a:latin typeface="Malgun Gothic"/>
              </a:rPr>
              <a:t>플랫폼 위치  lat / lon [deg] / alt [m]</a:t>
            </a:r>
          </a:p>
        </p:txBody>
      </p:sp>
      <p:sp>
        <p:nvSpPr>
          <p:cNvPr id="25" name="Rectangle 24"/>
          <p:cNvSpPr/>
          <p:nvPr/>
        </p:nvSpPr>
        <p:spPr>
          <a:xfrm>
            <a:off x="4984880"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96176"/>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96176"/>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96176"/>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48176"/>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68176"/>
            <a:ext cx="2530000" cy="240000"/>
          </a:xfrm>
          <a:prstGeom prst="rect">
            <a:avLst/>
          </a:prstGeom>
          <a:noFill/>
        </p:spPr>
        <p:txBody>
          <a:bodyPr wrap="square">
            <a:spAutoFit/>
          </a:bodyPr>
          <a:lstStyle/>
          <a:p>
            <a:r>
              <a:rPr sz="900" b="1">
                <a:solidFill>
                  <a:srgbClr val="1A2233"/>
                </a:solidFill>
                <a:latin typeface="Malgun Gothic"/>
              </a:rPr>
              <a:t>플랫폼 자세 [deg]  roll / pitch / yaw</a:t>
            </a:r>
          </a:p>
        </p:txBody>
      </p:sp>
      <p:sp>
        <p:nvSpPr>
          <p:cNvPr id="33" name="TextBox 32"/>
          <p:cNvSpPr txBox="1"/>
          <p:nvPr/>
        </p:nvSpPr>
        <p:spPr>
          <a:xfrm>
            <a:off x="4964880" y="3318176"/>
            <a:ext cx="480000" cy="220000"/>
          </a:xfrm>
          <a:prstGeom prst="rect">
            <a:avLst/>
          </a:prstGeom>
          <a:noFill/>
        </p:spPr>
        <p:txBody>
          <a:bodyPr wrap="square" lIns="20000" rIns="20000">
            <a:spAutoFit/>
          </a:bodyPr>
          <a:lstStyle/>
          <a:p>
            <a:r>
              <a:rPr sz="800" b="0">
                <a:solidFill>
                  <a:srgbClr val="5A6478"/>
                </a:solidFill>
                <a:latin typeface="Malgun Gothic"/>
              </a:rPr>
              <a:t>roll</a:t>
            </a:r>
          </a:p>
        </p:txBody>
      </p:sp>
      <p:sp>
        <p:nvSpPr>
          <p:cNvPr id="34" name="Rectangle 33"/>
          <p:cNvSpPr/>
          <p:nvPr/>
        </p:nvSpPr>
        <p:spPr>
          <a:xfrm>
            <a:off x="5444880" y="334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31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41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5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508176"/>
            <a:ext cx="480000" cy="220000"/>
          </a:xfrm>
          <a:prstGeom prst="rect">
            <a:avLst/>
          </a:prstGeom>
          <a:noFill/>
        </p:spPr>
        <p:txBody>
          <a:bodyPr wrap="square" lIns="20000" rIns="20000">
            <a:spAutoFit/>
          </a:bodyPr>
          <a:lstStyle/>
          <a:p>
            <a:r>
              <a:rPr sz="800" b="0">
                <a:solidFill>
                  <a:srgbClr val="5A6478"/>
                </a:solidFill>
                <a:latin typeface="Malgun Gothic"/>
              </a:rPr>
              <a:t>pitch</a:t>
            </a:r>
          </a:p>
        </p:txBody>
      </p:sp>
      <p:sp>
        <p:nvSpPr>
          <p:cNvPr id="39" name="Rectangle 38"/>
          <p:cNvSpPr/>
          <p:nvPr/>
        </p:nvSpPr>
        <p:spPr>
          <a:xfrm>
            <a:off x="5444880" y="353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50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60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4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98176"/>
            <a:ext cx="480000" cy="220000"/>
          </a:xfrm>
          <a:prstGeom prst="rect">
            <a:avLst/>
          </a:prstGeom>
          <a:noFill/>
        </p:spPr>
        <p:txBody>
          <a:bodyPr wrap="square" lIns="20000" rIns="20000">
            <a:spAutoFit/>
          </a:bodyPr>
          <a:lstStyle/>
          <a:p>
            <a:r>
              <a:rPr sz="800" b="0">
                <a:solidFill>
                  <a:srgbClr val="5A6478"/>
                </a:solidFill>
                <a:latin typeface="Malgun Gothic"/>
              </a:rPr>
              <a:t>yaw</a:t>
            </a:r>
          </a:p>
        </p:txBody>
      </p:sp>
      <p:sp>
        <p:nvSpPr>
          <p:cNvPr id="44" name="Rectangle 43"/>
          <p:cNvSpPr/>
          <p:nvPr/>
        </p:nvSpPr>
        <p:spPr>
          <a:xfrm>
            <a:off x="5444880" y="372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98176"/>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9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3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40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4028176"/>
            <a:ext cx="2530000" cy="240000"/>
          </a:xfrm>
          <a:prstGeom prst="rect">
            <a:avLst/>
          </a:prstGeom>
          <a:noFill/>
        </p:spPr>
        <p:txBody>
          <a:bodyPr wrap="square">
            <a:spAutoFit/>
          </a:bodyPr>
          <a:lstStyle/>
          <a:p>
            <a:r>
              <a:rPr sz="900" b="1">
                <a:solidFill>
                  <a:srgbClr val="1A2233"/>
                </a:solidFill>
                <a:latin typeface="Malgun Gothic"/>
              </a:rPr>
              <a:t>안테나 설치  az / tilt [deg] / offset [m]</a:t>
            </a:r>
          </a:p>
        </p:txBody>
      </p:sp>
      <p:sp>
        <p:nvSpPr>
          <p:cNvPr id="50" name="Rectangle 49"/>
          <p:cNvSpPr/>
          <p:nvPr/>
        </p:nvSpPr>
        <p:spPr>
          <a:xfrm>
            <a:off x="4984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76176"/>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76176"/>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98176"/>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76176"/>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68176"/>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43176"/>
            <a:ext cx="900000" cy="280000"/>
          </a:xfrm>
          <a:prstGeom prst="rect">
            <a:avLst/>
          </a:prstGeom>
          <a:noFill/>
        </p:spPr>
        <p:txBody>
          <a:bodyPr wrap="square">
            <a:spAutoFit/>
          </a:bodyPr>
          <a:lstStyle/>
          <a:p>
            <a:pPr algn="ctr"/>
            <a:r>
              <a:rPr sz="850" b="0">
                <a:solidFill>
                  <a:srgbClr val="1A2233"/>
                </a:solidFill>
                <a:latin typeface="Malgun Gothic"/>
              </a:rPr>
              <a:t>예제값 복원</a:t>
            </a:r>
          </a:p>
        </p:txBody>
      </p:sp>
      <p:sp>
        <p:nvSpPr>
          <p:cNvPr id="58" name="TextBox 57"/>
          <p:cNvSpPr txBox="1"/>
          <p:nvPr/>
        </p:nvSpPr>
        <p:spPr>
          <a:xfrm>
            <a:off x="4904880" y="4968176"/>
            <a:ext cx="2650000" cy="240000"/>
          </a:xfrm>
          <a:prstGeom prst="rect">
            <a:avLst/>
          </a:prstGeom>
          <a:noFill/>
        </p:spPr>
        <p:txBody>
          <a:bodyPr wrap="square">
            <a:spAutoFit/>
          </a:bodyPr>
          <a:lstStyle/>
          <a:p>
            <a:r>
              <a:rPr sz="800" b="0">
                <a:solidFill>
                  <a:srgbClr val="5A6478"/>
                </a:solidFill>
                <a:latin typeface="Malgun Gothic"/>
              </a:rPr>
              <a:t>입력 각도: 도 / 변환 계산: 라디안, m</a:t>
            </a:r>
          </a:p>
        </p:txBody>
      </p:sp>
      <p:sp>
        <p:nvSpPr>
          <p:cNvPr id="59" name="TextBox 58"/>
          <p:cNvSpPr txBox="1"/>
          <p:nvPr/>
        </p:nvSpPr>
        <p:spPr>
          <a:xfrm>
            <a:off x="7704880" y="1808176"/>
            <a:ext cx="3776288" cy="240000"/>
          </a:xfrm>
          <a:prstGeom prst="rect">
            <a:avLst/>
          </a:prstGeom>
          <a:noFill/>
        </p:spPr>
        <p:txBody>
          <a:bodyPr wrap="square">
            <a:spAutoFit/>
          </a:bodyPr>
          <a:lstStyle/>
          <a:p>
            <a:r>
              <a:rPr sz="900" b="1">
                <a:solidFill>
                  <a:srgbClr val="1A2233"/>
                </a:solidFill>
                <a:latin typeface="Malgun Gothic"/>
              </a:rPr>
              <a:t>단계별 결과</a:t>
            </a:r>
          </a:p>
        </p:txBody>
      </p:sp>
      <p:graphicFrame>
        <p:nvGraphicFramePr>
          <p:cNvPr id="60" name="Table 59"/>
          <p:cNvGraphicFramePr>
            <a:graphicFrameLocks noGrp="1"/>
          </p:cNvGraphicFramePr>
          <p:nvPr/>
        </p:nvGraphicFramePr>
        <p:xfrm>
          <a:off x="7704880" y="2068176"/>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Malgun Gothic"/>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Malgun Gothic"/>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Malgun Gothic"/>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Malgun Gothic"/>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208176"/>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48176"/>
            <a:ext cx="3576288" cy="260000"/>
          </a:xfrm>
          <a:prstGeom prst="rect">
            <a:avLst/>
          </a:prstGeom>
          <a:noFill/>
        </p:spPr>
        <p:txBody>
          <a:bodyPr wrap="square">
            <a:spAutoFit/>
          </a:bodyPr>
          <a:lstStyle/>
          <a:p>
            <a:r>
              <a:rPr sz="900" b="1">
                <a:solidFill>
                  <a:srgbClr val="C2521C"/>
                </a:solidFill>
                <a:latin typeface="Malgun Gothic"/>
              </a:rPr>
              <a:t>최종 출력</a:t>
            </a:r>
          </a:p>
        </p:txBody>
      </p:sp>
      <p:sp>
        <p:nvSpPr>
          <p:cNvPr id="63" name="TextBox 62"/>
          <p:cNvSpPr txBox="1"/>
          <p:nvPr/>
        </p:nvSpPr>
        <p:spPr>
          <a:xfrm>
            <a:off x="7804880" y="4528176"/>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6053328"/>
            <a:ext cx="11064240" cy="365760"/>
          </a:xfrm>
          <a:prstGeom prst="rect">
            <a:avLst/>
          </a:prstGeom>
          <a:noFill/>
        </p:spPr>
        <p:txBody>
          <a:bodyPr wrap="square">
            <a:spAutoFit/>
          </a:bodyPr>
          <a:lstStyle/>
          <a:p>
            <a:r>
              <a:rPr sz="1300" b="1">
                <a:solidFill>
                  <a:srgbClr val="C2521C"/>
                </a:solidFill>
                <a:latin typeface="Malgun Gothic"/>
              </a:rPr>
              <a:t>roll 슬라이더를 돌리면 앞 장 실험 B 의 고각 변화가 그 자리에서 보입니다. 발표 중에 직접 돌려 봅니다.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03504"/>
            <a:ext cx="10515600" cy="640080"/>
          </a:xfrm>
          <a:prstGeom prst="rect">
            <a:avLst/>
          </a:prstGeom>
          <a:noFill/>
          <a:ln/>
        </p:spPr>
        <p:txBody>
          <a:bodyPr wrap="square" lIns="0" tIns="0" rIns="0" bIns="0" rtlCol="0" anchor="ctr"/>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정리</a:t>
            </a:r>
            <a:endParaRPr lang="en-US" sz="3600" dirty="0"/>
          </a:p>
        </p:txBody>
      </p:sp>
      <p:sp>
        <p:nvSpPr>
          <p:cNvPr id="3" name="Shape 1"/>
          <p:cNvSpPr/>
          <p:nvPr/>
        </p:nvSpPr>
        <p:spPr>
          <a:xfrm>
            <a:off x="822960" y="1517904"/>
            <a:ext cx="347472" cy="347472"/>
          </a:xfrm>
          <a:prstGeom prst="ellipse">
            <a:avLst/>
          </a:prstGeom>
          <a:solidFill>
            <a:srgbClr val="1E3357"/>
          </a:solidFill>
          <a:ln w="12700">
            <a:solidFill>
              <a:srgbClr val="34507F"/>
            </a:solidFill>
            <a:prstDash val="solid"/>
          </a:ln>
        </p:spPr>
      </p:sp>
      <p:sp>
        <p:nvSpPr>
          <p:cNvPr id="4" name="Text 2"/>
          <p:cNvSpPr txBox="1"/>
          <p:nvPr/>
        </p:nvSpPr>
        <p:spPr>
          <a:xfrm>
            <a:off x="822960" y="151790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1</a:t>
            </a:r>
            <a:endParaRPr lang="en-US" sz="1300" dirty="0"/>
          </a:p>
        </p:txBody>
      </p:sp>
      <p:sp>
        <p:nvSpPr>
          <p:cNvPr id="5" name="Text 3"/>
          <p:cNvSpPr txBox="1"/>
          <p:nvPr/>
        </p:nvSpPr>
        <p:spPr>
          <a:xfrm>
            <a:off x="1353312" y="148132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좌표계는 "누구 입장에서 말하는가" 이고, 좌표변환은 그 통역이다</a:t>
            </a:r>
            <a:endParaRPr lang="en-US" sz="1600" dirty="0"/>
          </a:p>
        </p:txBody>
      </p:sp>
      <p:sp>
        <p:nvSpPr>
          <p:cNvPr id="6" name="Shape 4"/>
          <p:cNvSpPr/>
          <p:nvPr/>
        </p:nvSpPr>
        <p:spPr>
          <a:xfrm>
            <a:off x="822960" y="2185416"/>
            <a:ext cx="347472" cy="347472"/>
          </a:xfrm>
          <a:prstGeom prst="ellipse">
            <a:avLst/>
          </a:prstGeom>
          <a:solidFill>
            <a:srgbClr val="1E3357"/>
          </a:solidFill>
          <a:ln w="12700">
            <a:solidFill>
              <a:srgbClr val="34507F"/>
            </a:solidFill>
            <a:prstDash val="solid"/>
          </a:ln>
        </p:spPr>
      </p:sp>
      <p:sp>
        <p:nvSpPr>
          <p:cNvPr id="7" name="Text 5"/>
          <p:cNvSpPr txBox="1"/>
          <p:nvPr/>
        </p:nvSpPr>
        <p:spPr>
          <a:xfrm>
            <a:off x="822960" y="2185416"/>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2</a:t>
            </a:r>
            <a:endParaRPr lang="en-US" sz="1300" dirty="0"/>
          </a:p>
        </p:txBody>
      </p:sp>
      <p:sp>
        <p:nvSpPr>
          <p:cNvPr id="8" name="Text 6"/>
          <p:cNvSpPr txBox="1"/>
          <p:nvPr/>
        </p:nvSpPr>
        <p:spPr>
          <a:xfrm>
            <a:off x="1353312" y="2148840"/>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변환의 재료는 회전과 평행이동 둘뿐이다</a:t>
            </a:r>
            <a:endParaRPr lang="en-US" sz="1600" dirty="0"/>
          </a:p>
        </p:txBody>
      </p:sp>
      <p:sp>
        <p:nvSpPr>
          <p:cNvPr id="9" name="Shape 7"/>
          <p:cNvSpPr/>
          <p:nvPr/>
        </p:nvSpPr>
        <p:spPr>
          <a:xfrm>
            <a:off x="822960" y="2852928"/>
            <a:ext cx="347472" cy="347472"/>
          </a:xfrm>
          <a:prstGeom prst="ellipse">
            <a:avLst/>
          </a:prstGeom>
          <a:solidFill>
            <a:srgbClr val="1E3357"/>
          </a:solidFill>
          <a:ln w="12700">
            <a:solidFill>
              <a:srgbClr val="34507F"/>
            </a:solidFill>
            <a:prstDash val="solid"/>
          </a:ln>
        </p:spPr>
      </p:sp>
      <p:sp>
        <p:nvSpPr>
          <p:cNvPr id="10" name="Text 8"/>
          <p:cNvSpPr txBox="1"/>
          <p:nvPr/>
        </p:nvSpPr>
        <p:spPr>
          <a:xfrm>
            <a:off x="822960" y="28529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3</a:t>
            </a:r>
            <a:endParaRPr lang="en-US" sz="1300" dirty="0"/>
          </a:p>
        </p:txBody>
      </p:sp>
      <p:sp>
        <p:nvSpPr>
          <p:cNvPr id="11" name="Text 9"/>
          <p:cNvSpPr txBox="1"/>
          <p:nvPr/>
        </p:nvSpPr>
        <p:spPr>
          <a:xfrm>
            <a:off x="1353312" y="28163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순서는 안테나 → 동체 → 로컬 → ECEF → 위경도. 건너뛸 수 없다</a:t>
            </a:r>
            <a:endParaRPr lang="en-US" sz="1600" dirty="0"/>
          </a:p>
        </p:txBody>
      </p:sp>
      <p:sp>
        <p:nvSpPr>
          <p:cNvPr id="12" name="Shape 10"/>
          <p:cNvSpPr/>
          <p:nvPr/>
        </p:nvSpPr>
        <p:spPr>
          <a:xfrm>
            <a:off x="822960" y="3520440"/>
            <a:ext cx="347472" cy="347472"/>
          </a:xfrm>
          <a:prstGeom prst="ellipse">
            <a:avLst/>
          </a:prstGeom>
          <a:solidFill>
            <a:srgbClr val="1E3357"/>
          </a:solidFill>
          <a:ln w="12700">
            <a:solidFill>
              <a:srgbClr val="34507F"/>
            </a:solidFill>
            <a:prstDash val="solid"/>
          </a:ln>
        </p:spPr>
      </p:sp>
      <p:sp>
        <p:nvSpPr>
          <p:cNvPr id="13" name="Text 11"/>
          <p:cNvSpPr txBox="1"/>
          <p:nvPr/>
        </p:nvSpPr>
        <p:spPr>
          <a:xfrm>
            <a:off x="822960" y="35204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4</a:t>
            </a:r>
            <a:endParaRPr lang="en-US" sz="1300" dirty="0"/>
          </a:p>
        </p:txBody>
      </p:sp>
      <p:sp>
        <p:nvSpPr>
          <p:cNvPr id="14" name="Text 12"/>
          <p:cNvSpPr txBox="1"/>
          <p:nvPr/>
        </p:nvSpPr>
        <p:spPr>
          <a:xfrm>
            <a:off x="1353312" y="34838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회전은 INS 의 자세와 위치가, 평행이동은 설치 도면과 배의 위치가 공급한다</a:t>
            </a:r>
            <a:endParaRPr lang="en-US" sz="1600" dirty="0"/>
          </a:p>
        </p:txBody>
      </p:sp>
      <p:sp>
        <p:nvSpPr>
          <p:cNvPr id="15" name="Shape 13"/>
          <p:cNvSpPr/>
          <p:nvPr/>
        </p:nvSpPr>
        <p:spPr>
          <a:xfrm>
            <a:off x="822960" y="4187952"/>
            <a:ext cx="347472" cy="347472"/>
          </a:xfrm>
          <a:prstGeom prst="ellipse">
            <a:avLst/>
          </a:prstGeom>
          <a:solidFill>
            <a:srgbClr val="1E3357"/>
          </a:solidFill>
          <a:ln w="12700">
            <a:solidFill>
              <a:srgbClr val="34507F"/>
            </a:solidFill>
            <a:prstDash val="solid"/>
          </a:ln>
        </p:spPr>
      </p:sp>
      <p:sp>
        <p:nvSpPr>
          <p:cNvPr id="16" name="Text 14"/>
          <p:cNvSpPr txBox="1"/>
          <p:nvPr/>
        </p:nvSpPr>
        <p:spPr>
          <a:xfrm>
            <a:off x="822960" y="418795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5</a:t>
            </a:r>
            <a:endParaRPr lang="en-US" sz="1300" dirty="0"/>
          </a:p>
        </p:txBody>
      </p:sp>
      <p:sp>
        <p:nvSpPr>
          <p:cNvPr id="17" name="Text 15"/>
          <p:cNvSpPr txBox="1"/>
          <p:nvPr/>
        </p:nvSpPr>
        <p:spPr>
          <a:xfrm>
            <a:off x="1353312" y="415137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55464"/>
            <a:ext cx="347472" cy="347472"/>
          </a:xfrm>
          <a:prstGeom prst="ellipse">
            <a:avLst/>
          </a:prstGeom>
          <a:solidFill>
            <a:srgbClr val="C2521C"/>
          </a:solidFill>
          <a:ln w="12700">
            <a:solidFill>
              <a:srgbClr val="C2521C"/>
            </a:solidFill>
            <a:prstDash val="solid"/>
          </a:ln>
        </p:spPr>
      </p:sp>
      <p:sp>
        <p:nvSpPr>
          <p:cNvPr id="19" name="Text 17"/>
          <p:cNvSpPr txBox="1"/>
          <p:nvPr/>
        </p:nvSpPr>
        <p:spPr>
          <a:xfrm>
            <a:off x="822960" y="485546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6</a:t>
            </a:r>
            <a:endParaRPr lang="en-US" sz="1300" dirty="0"/>
          </a:p>
        </p:txBody>
      </p:sp>
      <p:sp>
        <p:nvSpPr>
          <p:cNvPr id="20" name="Text 18"/>
          <p:cNvSpPr txBox="1"/>
          <p:nvPr/>
        </p:nvSpPr>
        <p:spPr>
          <a:xfrm>
            <a:off x="1353312" y="4818888"/>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배가 기울면 각도 덧셈은 깨진다 — 회전행렬은 필수다</a:t>
            </a:r>
            <a:endParaRPr lang="en-US" sz="1600" dirty="0"/>
          </a:p>
        </p:txBody>
      </p:sp>
      <p:sp>
        <p:nvSpPr>
          <p:cNvPr id="21" name="Shape 19"/>
          <p:cNvSpPr/>
          <p:nvPr/>
        </p:nvSpPr>
        <p:spPr>
          <a:xfrm>
            <a:off x="822960" y="5522976"/>
            <a:ext cx="347472" cy="347472"/>
          </a:xfrm>
          <a:prstGeom prst="ellipse">
            <a:avLst/>
          </a:prstGeom>
          <a:solidFill>
            <a:srgbClr val="C2521C"/>
          </a:solidFill>
          <a:ln w="12700">
            <a:solidFill>
              <a:srgbClr val="C2521C"/>
            </a:solidFill>
            <a:prstDash val="solid"/>
          </a:ln>
        </p:spPr>
      </p:sp>
      <p:sp>
        <p:nvSpPr>
          <p:cNvPr id="22" name="Text 20"/>
          <p:cNvSpPr txBox="1"/>
          <p:nvPr/>
        </p:nvSpPr>
        <p:spPr>
          <a:xfrm>
            <a:off x="822960" y="55229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7</a:t>
            </a:r>
            <a:endParaRPr lang="en-US" sz="1300" dirty="0"/>
          </a:p>
        </p:txBody>
      </p:sp>
      <p:sp>
        <p:nvSpPr>
          <p:cNvPr id="23" name="Text 21"/>
          <p:cNvSpPr txBox="1"/>
          <p:nvPr/>
        </p:nvSpPr>
        <p:spPr>
          <a:xfrm>
            <a:off x="1353312" y="54864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로컬 평면 좌표를 고도로 그대로 쓰면 안 된다. 지구는 둥글다</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Malgun Gothic" pitchFamily="34" charset="0"/>
                <a:ea typeface="Malgun Gothic" pitchFamily="34" charset="-122"/>
                <a:cs typeface="Malgun Gothic" pitchFamily="34" charset="-120"/>
              </a:rPr>
              <a:t>감사합니다</a:t>
            </a:r>
            <a:endParaRPr lang="en-US" sz="4600" dirty="0"/>
          </a:p>
        </p:txBody>
      </p:sp>
      <p:sp>
        <p:nvSpPr>
          <p:cNvPr id="3" name="Text 1"/>
          <p:cNvSpPr txBox="1"/>
          <p:nvPr/>
        </p:nvSpPr>
        <p:spPr>
          <a:xfrm>
            <a:off x="822960" y="3291840"/>
            <a:ext cx="10515600" cy="457200"/>
          </a:xfrm>
          <a:prstGeom prst="rect">
            <a:avLst/>
          </a:prstGeom>
          <a:noFill/>
          <a:ln/>
        </p:spPr>
        <p:txBody>
          <a:bodyPr wrap="square" lIns="0" tIns="0" rIns="0" bIns="0" rtlCol="0" anchor="ctr"/>
          <a:lstStyle/>
          <a:p>
            <a:pPr algn="ctr" indent="0" marL="0">
              <a:buNone/>
            </a:pPr>
            <a:r>
              <a:rPr lang="en-US" sz="1900" dirty="0">
                <a:solidFill>
                  <a:srgbClr val="C9D6EC"/>
                </a:solidFill>
                <a:latin typeface="Malgun Gothic" pitchFamily="34" charset="0"/>
                <a:ea typeface="Malgun Gothic" pitchFamily="34" charset="-122"/>
                <a:cs typeface="Malgun Gothic" pitchFamily="34" charset="-120"/>
              </a:rPr>
              <a:t>질문 환영합니다</a:t>
            </a:r>
            <a:endParaRPr lang="en-US" sz="1900" dirty="0"/>
          </a:p>
        </p:txBody>
      </p:sp>
      <p:sp>
        <p:nvSpPr>
          <p:cNvPr id="4" name="Shape 2"/>
          <p:cNvSpPr/>
          <p:nvPr/>
        </p:nvSpPr>
        <p:spPr>
          <a:xfrm>
            <a:off x="1636776" y="438912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1636776"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6" name="Text 4"/>
          <p:cNvSpPr txBox="1"/>
          <p:nvPr/>
        </p:nvSpPr>
        <p:spPr>
          <a:xfrm>
            <a:off x="2935224"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3154680" y="438912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3154680"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9" name="Text 7"/>
          <p:cNvSpPr txBox="1"/>
          <p:nvPr/>
        </p:nvSpPr>
        <p:spPr>
          <a:xfrm>
            <a:off x="4453128"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4672584" y="438912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4672584"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2" name="Text 10"/>
          <p:cNvSpPr txBox="1"/>
          <p:nvPr/>
        </p:nvSpPr>
        <p:spPr>
          <a:xfrm>
            <a:off x="5971032"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6190488" y="438912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6190488"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5" name="Text 13"/>
          <p:cNvSpPr txBox="1"/>
          <p:nvPr/>
        </p:nvSpPr>
        <p:spPr>
          <a:xfrm>
            <a:off x="7488936"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7708392" y="438912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7708392"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8" name="Text 16"/>
          <p:cNvSpPr txBox="1"/>
          <p:nvPr/>
        </p:nvSpPr>
        <p:spPr>
          <a:xfrm>
            <a:off x="9006840"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9226296" y="438912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9226296" y="438912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1" name="Text 19"/>
          <p:cNvSpPr txBox="1"/>
          <p:nvPr/>
        </p:nvSpPr>
        <p:spPr>
          <a:xfrm>
            <a:off x="822960" y="5760720"/>
            <a:ext cx="10515600" cy="365760"/>
          </a:xfrm>
          <a:prstGeom prst="rect">
            <a:avLst/>
          </a:prstGeom>
          <a:noFill/>
          <a:ln/>
        </p:spPr>
        <p:txBody>
          <a:bodyPr wrap="square" lIns="0" tIns="0" rIns="0" bIns="0" rtlCol="0" anchor="ctr"/>
          <a:lstStyle/>
          <a:p>
            <a:pPr algn="ctr" indent="0" marL="0">
              <a:buNone/>
            </a:pPr>
            <a:r>
              <a:rPr lang="en-US" sz="1300" dirty="0">
                <a:solidFill>
                  <a:srgbClr val="7189B5"/>
                </a:solidFill>
                <a:latin typeface="Consolas" pitchFamily="34" charset="0"/>
                <a:ea typeface="Consolas" pitchFamily="34" charset="-122"/>
                <a:cs typeface="Consolas" pitchFamily="34" charset="-120"/>
              </a:rPr>
              <a:t>코드 · 문서 :  radar-sw-study / Part2_CoordFrames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